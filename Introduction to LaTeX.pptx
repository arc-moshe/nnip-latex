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0"/>
  </p:notesMasterIdLst>
  <p:sldIdLst>
    <p:sldId id="256" r:id="rId2"/>
    <p:sldId id="332" r:id="rId3"/>
    <p:sldId id="257" r:id="rId4"/>
    <p:sldId id="258" r:id="rId5"/>
    <p:sldId id="322" r:id="rId6"/>
    <p:sldId id="260" r:id="rId7"/>
    <p:sldId id="336" r:id="rId8"/>
    <p:sldId id="390" r:id="rId9"/>
    <p:sldId id="366" r:id="rId10"/>
    <p:sldId id="264" r:id="rId11"/>
    <p:sldId id="265" r:id="rId12"/>
    <p:sldId id="266" r:id="rId13"/>
    <p:sldId id="267" r:id="rId14"/>
    <p:sldId id="323" r:id="rId15"/>
    <p:sldId id="269" r:id="rId16"/>
    <p:sldId id="324" r:id="rId17"/>
    <p:sldId id="271" r:id="rId18"/>
    <p:sldId id="325" r:id="rId19"/>
    <p:sldId id="273" r:id="rId20"/>
    <p:sldId id="326" r:id="rId21"/>
    <p:sldId id="275" r:id="rId22"/>
    <p:sldId id="327" r:id="rId23"/>
    <p:sldId id="277" r:id="rId24"/>
    <p:sldId id="328" r:id="rId25"/>
    <p:sldId id="279" r:id="rId26"/>
    <p:sldId id="280" r:id="rId27"/>
    <p:sldId id="281" r:id="rId28"/>
    <p:sldId id="282" r:id="rId29"/>
    <p:sldId id="283" r:id="rId30"/>
    <p:sldId id="284" r:id="rId31"/>
    <p:sldId id="285" r:id="rId32"/>
    <p:sldId id="367" r:id="rId33"/>
    <p:sldId id="288" r:id="rId34"/>
    <p:sldId id="289" r:id="rId35"/>
    <p:sldId id="290" r:id="rId36"/>
    <p:sldId id="291" r:id="rId37"/>
    <p:sldId id="292" r:id="rId38"/>
    <p:sldId id="293" r:id="rId39"/>
    <p:sldId id="294" r:id="rId40"/>
    <p:sldId id="295" r:id="rId41"/>
    <p:sldId id="296" r:id="rId42"/>
    <p:sldId id="297" r:id="rId43"/>
    <p:sldId id="368" r:id="rId44"/>
    <p:sldId id="298" r:id="rId45"/>
    <p:sldId id="329" r:id="rId46"/>
    <p:sldId id="370" r:id="rId47"/>
    <p:sldId id="373" r:id="rId48"/>
    <p:sldId id="369" r:id="rId49"/>
    <p:sldId id="371" r:id="rId50"/>
    <p:sldId id="372" r:id="rId51"/>
    <p:sldId id="374" r:id="rId52"/>
    <p:sldId id="375" r:id="rId53"/>
    <p:sldId id="376" r:id="rId54"/>
    <p:sldId id="377" r:id="rId55"/>
    <p:sldId id="378" r:id="rId56"/>
    <p:sldId id="379" r:id="rId57"/>
    <p:sldId id="380" r:id="rId58"/>
    <p:sldId id="381" r:id="rId59"/>
    <p:sldId id="382" r:id="rId60"/>
    <p:sldId id="383" r:id="rId61"/>
    <p:sldId id="384" r:id="rId62"/>
    <p:sldId id="385" r:id="rId63"/>
    <p:sldId id="386" r:id="rId64"/>
    <p:sldId id="387" r:id="rId65"/>
    <p:sldId id="388" r:id="rId66"/>
    <p:sldId id="389" r:id="rId67"/>
    <p:sldId id="337" r:id="rId68"/>
    <p:sldId id="338" r:id="rId69"/>
    <p:sldId id="339" r:id="rId70"/>
    <p:sldId id="343" r:id="rId71"/>
    <p:sldId id="341" r:id="rId72"/>
    <p:sldId id="344" r:id="rId73"/>
    <p:sldId id="345" r:id="rId74"/>
    <p:sldId id="346" r:id="rId75"/>
    <p:sldId id="347" r:id="rId76"/>
    <p:sldId id="348" r:id="rId77"/>
    <p:sldId id="335" r:id="rId78"/>
    <p:sldId id="349" r:id="rId79"/>
    <p:sldId id="350" r:id="rId80"/>
    <p:sldId id="351" r:id="rId81"/>
    <p:sldId id="352" r:id="rId82"/>
    <p:sldId id="353" r:id="rId83"/>
    <p:sldId id="354" r:id="rId84"/>
    <p:sldId id="355" r:id="rId85"/>
    <p:sldId id="356" r:id="rId86"/>
    <p:sldId id="357" r:id="rId87"/>
    <p:sldId id="358" r:id="rId88"/>
    <p:sldId id="359" r:id="rId89"/>
    <p:sldId id="360" r:id="rId90"/>
    <p:sldId id="361" r:id="rId91"/>
    <p:sldId id="362" r:id="rId92"/>
    <p:sldId id="363" r:id="rId93"/>
    <p:sldId id="364" r:id="rId94"/>
    <p:sldId id="365" r:id="rId95"/>
    <p:sldId id="392" r:id="rId96"/>
    <p:sldId id="403" r:id="rId97"/>
    <p:sldId id="391" r:id="rId98"/>
    <p:sldId id="393" r:id="rId99"/>
    <p:sldId id="394" r:id="rId100"/>
    <p:sldId id="395" r:id="rId101"/>
    <p:sldId id="396" r:id="rId102"/>
    <p:sldId id="397" r:id="rId103"/>
    <p:sldId id="398" r:id="rId104"/>
    <p:sldId id="399" r:id="rId105"/>
    <p:sldId id="400" r:id="rId106"/>
    <p:sldId id="401" r:id="rId107"/>
    <p:sldId id="404" r:id="rId108"/>
    <p:sldId id="405" r:id="rId109"/>
    <p:sldId id="408" r:id="rId110"/>
    <p:sldId id="407" r:id="rId111"/>
    <p:sldId id="406" r:id="rId112"/>
    <p:sldId id="409" r:id="rId113"/>
    <p:sldId id="410" r:id="rId114"/>
    <p:sldId id="411" r:id="rId115"/>
    <p:sldId id="412" r:id="rId116"/>
    <p:sldId id="413" r:id="rId117"/>
    <p:sldId id="416" r:id="rId118"/>
    <p:sldId id="321" r:id="rId1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84" autoAdjust="0"/>
    <p:restoredTop sz="86987" autoAdjust="0"/>
  </p:normalViewPr>
  <p:slideViewPr>
    <p:cSldViewPr snapToGrid="0">
      <p:cViewPr varScale="1">
        <p:scale>
          <a:sx n="131" d="100"/>
          <a:sy n="131" d="100"/>
        </p:scale>
        <p:origin x="138" y="13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FDAC44-3BDA-4FB5-B1C8-D5282614098B}" type="datetimeFigureOut">
              <a:rPr lang="en-US" smtClean="0"/>
              <a:t>5/21/2026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CD9771-9090-4167-B37B-7CC6BD0F462C}" type="slidenum">
              <a:rPr lang="en-US" smtClean="0"/>
              <a:t>‹#›</a:t>
            </a:fld>
            <a:endParaRPr lang="en-US"/>
          </a:p>
        </p:txBody>
      </p:sp>
    </p:spTree>
    <p:extLst>
      <p:ext uri="{BB962C8B-B14F-4D97-AF65-F5344CB8AC3E}">
        <p14:creationId xmlns:p14="http://schemas.microsoft.com/office/powerpoint/2010/main" val="2486881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1</a:t>
            </a:fld>
            <a:endParaRPr lang="en-US"/>
          </a:p>
        </p:txBody>
      </p:sp>
    </p:spTree>
    <p:extLst>
      <p:ext uri="{BB962C8B-B14F-4D97-AF65-F5344CB8AC3E}">
        <p14:creationId xmlns:p14="http://schemas.microsoft.com/office/powerpoint/2010/main" val="829163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unit is actually going to run more than 30 minutes, but the second and third units will be less than 30, so it should all come out in the wash.</a:t>
            </a:r>
          </a:p>
        </p:txBody>
      </p:sp>
      <p:sp>
        <p:nvSpPr>
          <p:cNvPr id="4" name="Slide Number Placeholder 3"/>
          <p:cNvSpPr>
            <a:spLocks noGrp="1"/>
          </p:cNvSpPr>
          <p:nvPr>
            <p:ph type="sldNum" sz="quarter" idx="5"/>
          </p:nvPr>
        </p:nvSpPr>
        <p:spPr/>
        <p:txBody>
          <a:bodyPr/>
          <a:lstStyle/>
          <a:p>
            <a:fld id="{99CD9771-9090-4167-B37B-7CC6BD0F462C}" type="slidenum">
              <a:rPr lang="en-US" smtClean="0"/>
              <a:t>2</a:t>
            </a:fld>
            <a:endParaRPr lang="en-US"/>
          </a:p>
        </p:txBody>
      </p:sp>
    </p:spTree>
    <p:extLst>
      <p:ext uri="{BB962C8B-B14F-4D97-AF65-F5344CB8AC3E}">
        <p14:creationId xmlns:p14="http://schemas.microsoft.com/office/powerpoint/2010/main" val="1639766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 Quiz!</a:t>
            </a:r>
          </a:p>
        </p:txBody>
      </p:sp>
      <p:sp>
        <p:nvSpPr>
          <p:cNvPr id="4" name="Slide Number Placeholder 3"/>
          <p:cNvSpPr>
            <a:spLocks noGrp="1"/>
          </p:cNvSpPr>
          <p:nvPr>
            <p:ph type="sldNum" sz="quarter" idx="5"/>
          </p:nvPr>
        </p:nvSpPr>
        <p:spPr/>
        <p:txBody>
          <a:bodyPr/>
          <a:lstStyle/>
          <a:p>
            <a:fld id="{99CD9771-9090-4167-B37B-7CC6BD0F462C}" type="slidenum">
              <a:rPr lang="en-US" smtClean="0"/>
              <a:t>3</a:t>
            </a:fld>
            <a:endParaRPr lang="en-US"/>
          </a:p>
        </p:txBody>
      </p:sp>
    </p:spTree>
    <p:extLst>
      <p:ext uri="{BB962C8B-B14F-4D97-AF65-F5344CB8AC3E}">
        <p14:creationId xmlns:p14="http://schemas.microsoft.com/office/powerpoint/2010/main" val="19809738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answered C, then you must be Donald Knuth. Knuth won the Turing award– effectively the Nobel Prize of Computer Science-- for his work on algorithms. He has been writing a multivolume book on this topic called </a:t>
            </a:r>
            <a:r>
              <a:rPr lang="en-US" i="1" dirty="0"/>
              <a:t>The Art of Computer Programming</a:t>
            </a:r>
            <a:r>
              <a:rPr lang="en-US" dirty="0"/>
              <a:t> for the last several decades. The first edition of one of his volumes was reprinted using phototypesetting (which was commonplace in the 1970s) and he was not happy with the result. As the son of a printshop owner, he had an appreciation for good typesetting. </a:t>
            </a:r>
          </a:p>
          <a:p>
            <a:r>
              <a:rPr lang="en-US" dirty="0"/>
              <a:t>So Professor Knuth embarked on a side quest and developed three things: </a:t>
            </a:r>
            <a:r>
              <a:rPr lang="en-US" dirty="0" err="1"/>
              <a:t>TeX</a:t>
            </a:r>
            <a:r>
              <a:rPr lang="en-US" dirty="0"/>
              <a:t>, which was the markup system itself. </a:t>
            </a:r>
          </a:p>
          <a:p>
            <a:r>
              <a:rPr lang="en-US" dirty="0"/>
              <a:t>Per Dr. Knuth, it is pronounced </a:t>
            </a:r>
            <a:r>
              <a:rPr lang="en-US" dirty="0" err="1"/>
              <a:t>TeK</a:t>
            </a:r>
            <a:r>
              <a:rPr lang="en-US" dirty="0"/>
              <a:t> (or tech) and not Tex -- those letters are not t-e-x, but rather tau epsilon kappa, and are an abbreviation of the Greek word techne, the root of English words like technology and technique.</a:t>
            </a:r>
          </a:p>
          <a:p>
            <a:r>
              <a:rPr lang="en-US" dirty="0"/>
              <a:t>He also wrote </a:t>
            </a:r>
            <a:r>
              <a:rPr lang="en-US" dirty="0" err="1"/>
              <a:t>Metafont</a:t>
            </a:r>
            <a:r>
              <a:rPr lang="en-US" dirty="0"/>
              <a:t>, a system for specifying fonts to be used in </a:t>
            </a:r>
            <a:r>
              <a:rPr lang="en-US" dirty="0" err="1"/>
              <a:t>TeX</a:t>
            </a:r>
            <a:endParaRPr lang="en-US" dirty="0"/>
          </a:p>
          <a:p>
            <a:r>
              <a:rPr lang="en-US" dirty="0"/>
              <a:t>And he designed a typeface called Computer Modern. It is the default base font for </a:t>
            </a:r>
            <a:r>
              <a:rPr lang="en-US" dirty="0" err="1"/>
              <a:t>TeX</a:t>
            </a:r>
            <a:r>
              <a:rPr lang="en-US" dirty="0"/>
              <a:t>, so we'll see some samples in a few minutes. </a:t>
            </a:r>
          </a:p>
          <a:p>
            <a:r>
              <a:rPr lang="en-US" dirty="0"/>
              <a:t>The NYT calls Knuth the Yoda of Silicon Valley.</a:t>
            </a:r>
          </a:p>
        </p:txBody>
      </p:sp>
      <p:sp>
        <p:nvSpPr>
          <p:cNvPr id="4" name="Slide Number Placeholder 3"/>
          <p:cNvSpPr>
            <a:spLocks noGrp="1"/>
          </p:cNvSpPr>
          <p:nvPr>
            <p:ph type="sldNum" sz="quarter" idx="5"/>
          </p:nvPr>
        </p:nvSpPr>
        <p:spPr/>
        <p:txBody>
          <a:bodyPr/>
          <a:lstStyle/>
          <a:p>
            <a:fld id="{99CD9771-9090-4167-B37B-7CC6BD0F462C}" type="slidenum">
              <a:rPr lang="en-US" smtClean="0"/>
              <a:t>4</a:t>
            </a:fld>
            <a:endParaRPr lang="en-US"/>
          </a:p>
        </p:txBody>
      </p:sp>
    </p:spTree>
    <p:extLst>
      <p:ext uri="{BB962C8B-B14F-4D97-AF65-F5344CB8AC3E}">
        <p14:creationId xmlns:p14="http://schemas.microsoft.com/office/powerpoint/2010/main" val="1868795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Knuth did a real deep dive into typography. Paid a lot of attention to issues like kerning -- the spacing and even overlap between individual characters-- and ligatures-- when two letters are joined to a single glyph. His obsession with getting such details right is why the output looks so aesthetically pleasing. Look at And the ligatures in the word “fluffernutter” and also the </a:t>
            </a:r>
            <a:r>
              <a:rPr lang="en-US" dirty="0" err="1"/>
              <a:t>kening</a:t>
            </a:r>
            <a:r>
              <a:rPr lang="en-US" dirty="0"/>
              <a:t> between the n, u, and t in that same word.</a:t>
            </a:r>
          </a:p>
        </p:txBody>
      </p:sp>
      <p:sp>
        <p:nvSpPr>
          <p:cNvPr id="4" name="Slide Number Placeholder 3"/>
          <p:cNvSpPr>
            <a:spLocks noGrp="1"/>
          </p:cNvSpPr>
          <p:nvPr>
            <p:ph type="sldNum" sz="quarter" idx="5"/>
          </p:nvPr>
        </p:nvSpPr>
        <p:spPr/>
        <p:txBody>
          <a:bodyPr/>
          <a:lstStyle/>
          <a:p>
            <a:fld id="{99CD9771-9090-4167-B37B-7CC6BD0F462C}" type="slidenum">
              <a:rPr lang="en-US" smtClean="0"/>
              <a:t>5</a:t>
            </a:fld>
            <a:endParaRPr lang="en-US"/>
          </a:p>
        </p:txBody>
      </p:sp>
    </p:spTree>
    <p:extLst>
      <p:ext uri="{BB962C8B-B14F-4D97-AF65-F5344CB8AC3E}">
        <p14:creationId xmlns:p14="http://schemas.microsoft.com/office/powerpoint/2010/main" val="3994455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problem: </a:t>
            </a:r>
            <a:r>
              <a:rPr lang="en-US" dirty="0" err="1"/>
              <a:t>TeX</a:t>
            </a:r>
            <a:r>
              <a:rPr lang="en-US" dirty="0"/>
              <a:t> was not particularly user friendly. It was written by a guy who programmed in machine language and whose specialty was writing compilers.</a:t>
            </a:r>
          </a:p>
          <a:p>
            <a:endParaRPr lang="en-US" dirty="0"/>
          </a:p>
          <a:p>
            <a:r>
              <a:rPr lang="en-US" dirty="0"/>
              <a:t>It took another computer scientist named Leslie Lamport-- a Turing award winner in his own right-- to make the system we enjoy today. He was typesetting a book he had authored using </a:t>
            </a:r>
            <a:r>
              <a:rPr lang="en-US" dirty="0" err="1"/>
              <a:t>TeX</a:t>
            </a:r>
            <a:r>
              <a:rPr lang="en-US" dirty="0"/>
              <a:t> and realized that the macros he was writing for himself could make a more accessible typesetting system for everyone. And that's how LaTeX was born; the name is a portmanteau of Lamport and </a:t>
            </a:r>
            <a:r>
              <a:rPr lang="en-US" dirty="0" err="1"/>
              <a:t>TeX.</a:t>
            </a:r>
            <a:endParaRPr lang="en-US" dirty="0"/>
          </a:p>
          <a:p>
            <a:endParaRPr lang="en-US" dirty="0"/>
          </a:p>
          <a:p>
            <a:r>
              <a:rPr lang="en-US" dirty="0"/>
              <a:t>Lamport also published the first LaTeX user manual, which was crucial to making the system a success. Lamport thought the book might sell a few hundred copies. To his shock, the book sold hundreds of thousands.</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6</a:t>
            </a:fld>
            <a:endParaRPr lang="en-US"/>
          </a:p>
        </p:txBody>
      </p:sp>
    </p:spTree>
    <p:extLst>
      <p:ext uri="{BB962C8B-B14F-4D97-AF65-F5344CB8AC3E}">
        <p14:creationId xmlns:p14="http://schemas.microsoft.com/office/powerpoint/2010/main" val="4128756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LaTeX? [read list]</a:t>
            </a:r>
          </a:p>
          <a:p>
            <a:r>
              <a:rPr lang="en-US" dirty="0"/>
              <a:t>This last point is really important: it means that you can get meaningful (and usually right) help from Copilot, Gemeni, or Claude when you get stuck. </a:t>
            </a:r>
          </a:p>
          <a:p>
            <a:endParaRPr lang="en-US" dirty="0"/>
          </a:p>
          <a:p>
            <a:r>
              <a:rPr lang="en-US" dirty="0"/>
              <a:t>LaTeX is also a shibboleth to identify fellow nerds (a CV or resume set in LaTeX stands out from ones generate in, say, Word)</a:t>
            </a:r>
          </a:p>
          <a:p>
            <a:endParaRPr lang="en-US" dirty="0"/>
          </a:p>
          <a:p>
            <a:r>
              <a:rPr lang="en-US" dirty="0"/>
              <a:t>And my favorite thing about LaTeX: you can use scripting to automate the creation of many documents– what we’ll be looking at very soon. </a:t>
            </a:r>
          </a:p>
          <a:p>
            <a:endParaRPr lang="en-US" dirty="0"/>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7</a:t>
            </a:fld>
            <a:endParaRPr lang="en-US"/>
          </a:p>
        </p:txBody>
      </p:sp>
    </p:spTree>
    <p:extLst>
      <p:ext uri="{BB962C8B-B14F-4D97-AF65-F5344CB8AC3E}">
        <p14:creationId xmlns:p14="http://schemas.microsoft.com/office/powerpoint/2010/main" val="3094121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DB10C-7DCF-E948-FA11-E47042B3A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94881-D6E1-AE07-8A30-D5D520A39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1102A-F330-7023-780C-B7D483D8033E}"/>
              </a:ext>
            </a:extLst>
          </p:cNvPr>
          <p:cNvSpPr>
            <a:spLocks noGrp="1"/>
          </p:cNvSpPr>
          <p:nvPr>
            <p:ph type="body" idx="1"/>
          </p:nvPr>
        </p:nvSpPr>
        <p:spPr/>
        <p:txBody>
          <a:bodyPr/>
          <a:lstStyle/>
          <a:p>
            <a:r>
              <a:rPr lang="en-US" dirty="0"/>
              <a:t>It’s worth noting that LaTeX is not the only game in town… So look into these alternatives before investing your time in learning LaTeX. The automation piece I’ll demonstrate later in this unit could be adapted to any of these systems as well. </a:t>
            </a:r>
          </a:p>
        </p:txBody>
      </p:sp>
      <p:sp>
        <p:nvSpPr>
          <p:cNvPr id="4" name="Slide Number Placeholder 3">
            <a:extLst>
              <a:ext uri="{FF2B5EF4-FFF2-40B4-BE49-F238E27FC236}">
                <a16:creationId xmlns:a16="http://schemas.microsoft.com/office/drawing/2014/main" id="{0406F8DB-0318-86AF-8DEB-3D79580219B5}"/>
              </a:ext>
            </a:extLst>
          </p:cNvPr>
          <p:cNvSpPr>
            <a:spLocks noGrp="1"/>
          </p:cNvSpPr>
          <p:nvPr>
            <p:ph type="sldNum" sz="quarter" idx="5"/>
          </p:nvPr>
        </p:nvSpPr>
        <p:spPr/>
        <p:txBody>
          <a:bodyPr/>
          <a:lstStyle/>
          <a:p>
            <a:fld id="{99CD9771-9090-4167-B37B-7CC6BD0F462C}" type="slidenum">
              <a:rPr lang="en-US" smtClean="0"/>
              <a:t>8</a:t>
            </a:fld>
            <a:endParaRPr lang="en-US"/>
          </a:p>
        </p:txBody>
      </p:sp>
    </p:spTree>
    <p:extLst>
      <p:ext uri="{BB962C8B-B14F-4D97-AF65-F5344CB8AC3E}">
        <p14:creationId xmlns:p14="http://schemas.microsoft.com/office/powerpoint/2010/main" val="3349845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that you know what LaTeX is, how do you use it?</a:t>
            </a:r>
          </a:p>
        </p:txBody>
      </p:sp>
      <p:sp>
        <p:nvSpPr>
          <p:cNvPr id="4" name="Slide Number Placeholder 3"/>
          <p:cNvSpPr>
            <a:spLocks noGrp="1"/>
          </p:cNvSpPr>
          <p:nvPr>
            <p:ph type="sldNum" sz="quarter" idx="5"/>
          </p:nvPr>
        </p:nvSpPr>
        <p:spPr/>
        <p:txBody>
          <a:bodyPr/>
          <a:lstStyle/>
          <a:p>
            <a:fld id="{99CD9771-9090-4167-B37B-7CC6BD0F462C}" type="slidenum">
              <a:rPr lang="en-US" smtClean="0"/>
              <a:t>9</a:t>
            </a:fld>
            <a:endParaRPr lang="en-US"/>
          </a:p>
        </p:txBody>
      </p:sp>
    </p:spTree>
    <p:extLst>
      <p:ext uri="{BB962C8B-B14F-4D97-AF65-F5344CB8AC3E}">
        <p14:creationId xmlns:p14="http://schemas.microsoft.com/office/powerpoint/2010/main" val="3348191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are a few ways to get started with LaTeX. You can sign up for an online service, like Overleaf (basic account is free) or install software on your local computer. I use the cross-platform </a:t>
            </a:r>
            <a:r>
              <a:rPr lang="en-US" sz="1200" kern="1200" dirty="0" err="1">
                <a:solidFill>
                  <a:schemeClr val="tx1"/>
                </a:solidFill>
                <a:effectLst/>
                <a:latin typeface="+mn-lt"/>
                <a:ea typeface="+mn-ea"/>
                <a:cs typeface="+mn-cs"/>
              </a:rPr>
              <a:t>MikTex</a:t>
            </a:r>
            <a:r>
              <a:rPr lang="en-US" sz="1200" kern="1200" dirty="0">
                <a:solidFill>
                  <a:schemeClr val="tx1"/>
                </a:solidFill>
                <a:effectLst/>
                <a:latin typeface="+mn-lt"/>
                <a:ea typeface="+mn-ea"/>
                <a:cs typeface="+mn-cs"/>
              </a:rPr>
              <a:t>, but some mac users prefer </a:t>
            </a:r>
            <a:r>
              <a:rPr lang="en-US" sz="1200" kern="1200" dirty="0" err="1">
                <a:solidFill>
                  <a:schemeClr val="tx1"/>
                </a:solidFill>
                <a:effectLst/>
                <a:latin typeface="+mn-lt"/>
                <a:ea typeface="+mn-ea"/>
                <a:cs typeface="+mn-cs"/>
              </a:rPr>
              <a:t>MacTex</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Any of these setups will provide you with an IDE-like environment: code in one window, messages in a console, output in a third. Because it is a markup language, you can also code LaTeX in any text editor and then run a compiler to yield your final document.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9CD9771-9090-4167-B37B-7CC6BD0F462C}" type="slidenum">
              <a:rPr lang="en-US" smtClean="0"/>
              <a:t>10</a:t>
            </a:fld>
            <a:endParaRPr lang="en-US"/>
          </a:p>
        </p:txBody>
      </p:sp>
    </p:spTree>
    <p:extLst>
      <p:ext uri="{BB962C8B-B14F-4D97-AF65-F5344CB8AC3E}">
        <p14:creationId xmlns:p14="http://schemas.microsoft.com/office/powerpoint/2010/main" val="27243866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LaTeX file consists of two parts: the preamble and the document itself.</a:t>
            </a:r>
          </a:p>
          <a:p>
            <a:r>
              <a:rPr lang="en-US" sz="1200" kern="1200" dirty="0">
                <a:solidFill>
                  <a:schemeClr val="tx1"/>
                </a:solidFill>
                <a:effectLst/>
                <a:latin typeface="+mn-lt"/>
                <a:ea typeface="+mn-ea"/>
                <a:cs typeface="+mn-cs"/>
              </a:rPr>
              <a:t>The preamble is where you initialize the file-- the "class" of document to be created, any packages to load, any custom definitions like macros or colors. The document class is a required element of the preamble. Everything else I mentioned is optional.</a:t>
            </a:r>
          </a:p>
          <a:p>
            <a:r>
              <a:rPr lang="en-US" sz="1200" kern="1200" dirty="0">
                <a:solidFill>
                  <a:schemeClr val="tx1"/>
                </a:solidFill>
                <a:effectLst/>
                <a:latin typeface="+mn-lt"/>
                <a:ea typeface="+mn-ea"/>
                <a:cs typeface="+mn-cs"/>
              </a:rPr>
              <a:t>Then the document content lies between a begin document tag and an end document tag. Everything between those tags is evaluated for typesetting. Anything located after the end document tag is ignored, so you can leave comments there if you like.</a:t>
            </a:r>
          </a:p>
          <a:p>
            <a:r>
              <a:rPr lang="en-US" sz="1200" kern="1200" dirty="0">
                <a:solidFill>
                  <a:schemeClr val="tx1"/>
                </a:solidFill>
                <a:effectLst/>
                <a:latin typeface="+mn-lt"/>
                <a:ea typeface="+mn-ea"/>
                <a:cs typeface="+mn-cs"/>
              </a:rPr>
              <a:t>You can also make comments within the document. Just preface your comments with a percent sign. Anything that falls on a line after a percent sign is ignored by the compiler, unless you escape the percent sign (in order to use it as an actual character). There are other special characters like the backslash, ampersand, dollar sign, curly braces, and pound sign (aka hash) that must also be escaped. </a:t>
            </a:r>
          </a:p>
          <a:p>
            <a:r>
              <a:rPr lang="en-US" sz="1200" kern="1200" dirty="0">
                <a:solidFill>
                  <a:schemeClr val="tx1"/>
                </a:solidFill>
                <a:effectLst/>
                <a:latin typeface="+mn-lt"/>
                <a:ea typeface="+mn-ea"/>
                <a:cs typeface="+mn-cs"/>
              </a:rPr>
              <a:t>Commands typically follow this form: backslash, then the command name, followed by any optional parameters inside a set of square brackets, and finally required parameters within curly brackets.</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11</a:t>
            </a:fld>
            <a:endParaRPr lang="en-US"/>
          </a:p>
        </p:txBody>
      </p:sp>
    </p:spTree>
    <p:extLst>
      <p:ext uri="{BB962C8B-B14F-4D97-AF65-F5344CB8AC3E}">
        <p14:creationId xmlns:p14="http://schemas.microsoft.com/office/powerpoint/2010/main" val="4259827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OK, yawn, enough theory. Let’s put this all into practice with a short demo.</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Here's a screenshot from </a:t>
            </a:r>
            <a:r>
              <a:rPr lang="en-US" sz="1200" kern="1200" dirty="0" err="1">
                <a:solidFill>
                  <a:schemeClr val="tx1"/>
                </a:solidFill>
                <a:effectLst/>
                <a:latin typeface="+mn-lt"/>
                <a:ea typeface="+mn-ea"/>
                <a:cs typeface="+mn-cs"/>
              </a:rPr>
              <a:t>TeXworks</a:t>
            </a:r>
            <a:r>
              <a:rPr lang="en-US" sz="1200" kern="1200" dirty="0">
                <a:solidFill>
                  <a:schemeClr val="tx1"/>
                </a:solidFill>
                <a:effectLst/>
                <a:latin typeface="+mn-lt"/>
                <a:ea typeface="+mn-ea"/>
                <a:cs typeface="+mn-cs"/>
              </a:rPr>
              <a:t>, the console system that comes with </a:t>
            </a:r>
            <a:r>
              <a:rPr lang="en-US" sz="1200" kern="1200" dirty="0" err="1">
                <a:solidFill>
                  <a:schemeClr val="tx1"/>
                </a:solidFill>
                <a:effectLst/>
                <a:latin typeface="+mn-lt"/>
                <a:ea typeface="+mn-ea"/>
                <a:cs typeface="+mn-cs"/>
              </a:rPr>
              <a:t>MikTeX</a:t>
            </a:r>
            <a:r>
              <a:rPr lang="en-US" sz="1200" kern="1200" dirty="0">
                <a:solidFill>
                  <a:schemeClr val="tx1"/>
                </a:solidFill>
                <a:effectLst/>
                <a:latin typeface="+mn-lt"/>
                <a:ea typeface="+mn-ea"/>
                <a:cs typeface="+mn-cs"/>
              </a:rPr>
              <a:t>. Note that it provides syntax highlighting.</a:t>
            </a:r>
          </a:p>
          <a:p>
            <a:r>
              <a:rPr lang="en-US" sz="1200" kern="1200" dirty="0">
                <a:solidFill>
                  <a:schemeClr val="tx1"/>
                </a:solidFill>
                <a:effectLst/>
                <a:latin typeface="+mn-lt"/>
                <a:ea typeface="+mn-ea"/>
                <a:cs typeface="+mn-cs"/>
              </a:rPr>
              <a:t>This is the simplest possible document: one line preamble, and a simple nugget of text between the begin and end tags.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a nod to every programming tutorial out there, we'll just have the document say hello world. </a:t>
            </a:r>
          </a:p>
          <a:p>
            <a:r>
              <a:rPr lang="en-US" sz="1200" kern="1200" dirty="0">
                <a:solidFill>
                  <a:schemeClr val="tx1"/>
                </a:solidFill>
                <a:effectLst/>
                <a:latin typeface="+mn-lt"/>
                <a:ea typeface="+mn-ea"/>
                <a:cs typeface="+mn-cs"/>
              </a:rPr>
              <a:t>You get a choice of compilers. We’ll use </a:t>
            </a:r>
            <a:r>
              <a:rPr lang="en-US" sz="1200" kern="1200" dirty="0" err="1">
                <a:solidFill>
                  <a:schemeClr val="tx1"/>
                </a:solidFill>
                <a:effectLst/>
                <a:latin typeface="+mn-lt"/>
                <a:ea typeface="+mn-ea"/>
                <a:cs typeface="+mn-cs"/>
              </a:rPr>
              <a:t>LuaLaTeX</a:t>
            </a:r>
            <a:r>
              <a:rPr lang="en-US" sz="1200" kern="1200" dirty="0">
                <a:solidFill>
                  <a:schemeClr val="tx1"/>
                </a:solidFill>
                <a:effectLst/>
                <a:latin typeface="+mn-lt"/>
                <a:ea typeface="+mn-ea"/>
                <a:cs typeface="+mn-cs"/>
              </a:rPr>
              <a:t> because it supports TrueType fonts, something we’ll want to use in a few minutes. </a:t>
            </a:r>
          </a:p>
          <a:p>
            <a:r>
              <a:rPr lang="en-US" sz="1200" kern="1200" dirty="0">
                <a:solidFill>
                  <a:schemeClr val="tx1"/>
                </a:solidFill>
                <a:effectLst/>
                <a:latin typeface="+mn-lt"/>
                <a:ea typeface="+mn-ea"/>
                <a:cs typeface="+mn-cs"/>
              </a:rPr>
              <a:t>Compile by hitting the green go button…</a:t>
            </a:r>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12</a:t>
            </a:fld>
            <a:endParaRPr lang="en-US"/>
          </a:p>
        </p:txBody>
      </p:sp>
    </p:spTree>
    <p:extLst>
      <p:ext uri="{BB962C8B-B14F-4D97-AF65-F5344CB8AC3E}">
        <p14:creationId xmlns:p14="http://schemas.microsoft.com/office/powerpoint/2010/main" val="31580665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you get a page with fairly wide margins (like you might find in a journal article) and a page number at the bottom. And our text appears in Computer Modern.</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13</a:t>
            </a:fld>
            <a:endParaRPr lang="en-US"/>
          </a:p>
        </p:txBody>
      </p:sp>
    </p:spTree>
    <p:extLst>
      <p:ext uri="{BB962C8B-B14F-4D97-AF65-F5344CB8AC3E}">
        <p14:creationId xmlns:p14="http://schemas.microsoft.com/office/powerpoint/2010/main" val="5660131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Naturally, the article class isn't the only one available, but it is a good default. And if you don't want page numbers, you can change that by adding another line to the preamble-- a  command setting the page style to empty (no headers or footers). </a:t>
            </a:r>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14</a:t>
            </a:fld>
            <a:endParaRPr lang="en-US"/>
          </a:p>
        </p:txBody>
      </p:sp>
    </p:spTree>
    <p:extLst>
      <p:ext uri="{BB962C8B-B14F-4D97-AF65-F5344CB8AC3E}">
        <p14:creationId xmlns:p14="http://schemas.microsoft.com/office/powerpoint/2010/main" val="30927075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that gives you this output-- identical to before, only no page number-- just as we asked.</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15</a:t>
            </a:fld>
            <a:endParaRPr lang="en-US"/>
          </a:p>
        </p:txBody>
      </p:sp>
    </p:spTree>
    <p:extLst>
      <p:ext uri="{BB962C8B-B14F-4D97-AF65-F5344CB8AC3E}">
        <p14:creationId xmlns:p14="http://schemas.microsoft.com/office/powerpoint/2010/main" val="40505924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Another document class is beamer. It's designed to make slides. So, if we change the class, we’ll get the same content but in a different document setup entirely. </a:t>
            </a:r>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16</a:t>
            </a:fld>
            <a:endParaRPr lang="en-US"/>
          </a:p>
        </p:txBody>
      </p:sp>
    </p:spTree>
    <p:extLst>
      <p:ext uri="{BB962C8B-B14F-4D97-AF65-F5344CB8AC3E}">
        <p14:creationId xmlns:p14="http://schemas.microsoft.com/office/powerpoint/2010/main" val="1996944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Now the page is landscape-- like your typical slide would be; the base font is now sans serif, which makes for easier to read slides.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Beamer has no page numbers by default. AND there are some navigation buttons in the lower right-hand corner to let you move around the deck.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upshot is that different document classes will render identical content differently depending on the specific purpose of the document.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9CD9771-9090-4167-B37B-7CC6BD0F462C}" type="slidenum">
              <a:rPr lang="en-US" smtClean="0"/>
              <a:t>17</a:t>
            </a:fld>
            <a:endParaRPr lang="en-US"/>
          </a:p>
        </p:txBody>
      </p:sp>
    </p:spTree>
    <p:extLst>
      <p:ext uri="{BB962C8B-B14F-4D97-AF65-F5344CB8AC3E}">
        <p14:creationId xmlns:p14="http://schemas.microsoft.com/office/powerpoint/2010/main" val="21862616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Returning to the article class, let’s build out our document a little. </a:t>
            </a:r>
          </a:p>
          <a:p>
            <a:r>
              <a:rPr lang="en-US" sz="1200" kern="1200" dirty="0">
                <a:solidFill>
                  <a:schemeClr val="tx1"/>
                </a:solidFill>
                <a:effectLst/>
                <a:latin typeface="+mn-lt"/>
                <a:ea typeface="+mn-ea"/>
                <a:cs typeface="+mn-cs"/>
              </a:rPr>
              <a:t>First, I added the LaTeX glyph. You can also put other symbols into documents, but most require external packages. I recommend the </a:t>
            </a:r>
            <a:r>
              <a:rPr lang="en-US" sz="1200" kern="1200" dirty="0" err="1">
                <a:solidFill>
                  <a:schemeClr val="tx1"/>
                </a:solidFill>
                <a:effectLst/>
                <a:latin typeface="+mn-lt"/>
                <a:ea typeface="+mn-ea"/>
                <a:cs typeface="+mn-cs"/>
              </a:rPr>
              <a:t>fontawesome</a:t>
            </a:r>
            <a:r>
              <a:rPr lang="en-US" sz="1200" kern="1200" dirty="0">
                <a:solidFill>
                  <a:schemeClr val="tx1"/>
                </a:solidFill>
                <a:effectLst/>
                <a:latin typeface="+mn-lt"/>
                <a:ea typeface="+mn-ea"/>
                <a:cs typeface="+mn-cs"/>
              </a:rPr>
              <a:t> package if you're interested in such things– more about that later.</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Second, you've got those dollar signs showing in red thanks to syntax highlighting. The dollar sign tags put you into and out of math mode which is why dollar signs to appear as actual dollar signs must be escaped.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Math mode comes in two flavors: a single dollar sign will have the math equations print in line with the text. A double dollar sign puts you in display mode-- the equation will appear on its own line, like you'd see in a textbook or journal article.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Let's look at it. Y = alpha + beta sub 1 x sub 1 + beta sub 2 x sub 2 + some dots + beta sub n x sub n + epsilon.</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18</a:t>
            </a:fld>
            <a:endParaRPr lang="en-US"/>
          </a:p>
        </p:txBody>
      </p:sp>
    </p:spTree>
    <p:extLst>
      <p:ext uri="{BB962C8B-B14F-4D97-AF65-F5344CB8AC3E}">
        <p14:creationId xmlns:p14="http://schemas.microsoft.com/office/powerpoint/2010/main" val="13190598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And see how that renders. You get a nice-looking equation with minimal fuss.</a:t>
            </a:r>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19</a:t>
            </a:fld>
            <a:endParaRPr lang="en-US"/>
          </a:p>
        </p:txBody>
      </p:sp>
    </p:spTree>
    <p:extLst>
      <p:ext uri="{BB962C8B-B14F-4D97-AF65-F5344CB8AC3E}">
        <p14:creationId xmlns:p14="http://schemas.microsoft.com/office/powerpoint/2010/main" val="16373530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LaTeX is good with bulletized lists -- you put the list items between itemize tags.</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20</a:t>
            </a:fld>
            <a:endParaRPr lang="en-US"/>
          </a:p>
        </p:txBody>
      </p:sp>
    </p:spTree>
    <p:extLst>
      <p:ext uri="{BB962C8B-B14F-4D97-AF65-F5344CB8AC3E}">
        <p14:creationId xmlns:p14="http://schemas.microsoft.com/office/powerpoint/2010/main" val="17251483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result.</a:t>
            </a:r>
          </a:p>
        </p:txBody>
      </p:sp>
      <p:sp>
        <p:nvSpPr>
          <p:cNvPr id="4" name="Slide Number Placeholder 3"/>
          <p:cNvSpPr>
            <a:spLocks noGrp="1"/>
          </p:cNvSpPr>
          <p:nvPr>
            <p:ph type="sldNum" sz="quarter" idx="5"/>
          </p:nvPr>
        </p:nvSpPr>
        <p:spPr/>
        <p:txBody>
          <a:bodyPr/>
          <a:lstStyle/>
          <a:p>
            <a:fld id="{99CD9771-9090-4167-B37B-7CC6BD0F462C}" type="slidenum">
              <a:rPr lang="en-US" smtClean="0"/>
              <a:t>21</a:t>
            </a:fld>
            <a:endParaRPr lang="en-US"/>
          </a:p>
        </p:txBody>
      </p:sp>
    </p:spTree>
    <p:extLst>
      <p:ext uri="{BB962C8B-B14F-4D97-AF65-F5344CB8AC3E}">
        <p14:creationId xmlns:p14="http://schemas.microsoft.com/office/powerpoint/2010/main" val="27515196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Or if you want the list numbered, change the word “itemize” to “enumerate”.</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22</a:t>
            </a:fld>
            <a:endParaRPr lang="en-US"/>
          </a:p>
        </p:txBody>
      </p:sp>
    </p:spTree>
    <p:extLst>
      <p:ext uri="{BB962C8B-B14F-4D97-AF65-F5344CB8AC3E}">
        <p14:creationId xmlns:p14="http://schemas.microsoft.com/office/powerpoint/2010/main" val="2994534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how that renders.</a:t>
            </a:r>
          </a:p>
        </p:txBody>
      </p:sp>
      <p:sp>
        <p:nvSpPr>
          <p:cNvPr id="4" name="Slide Number Placeholder 3"/>
          <p:cNvSpPr>
            <a:spLocks noGrp="1"/>
          </p:cNvSpPr>
          <p:nvPr>
            <p:ph type="sldNum" sz="quarter" idx="5"/>
          </p:nvPr>
        </p:nvSpPr>
        <p:spPr/>
        <p:txBody>
          <a:bodyPr/>
          <a:lstStyle/>
          <a:p>
            <a:fld id="{99CD9771-9090-4167-B37B-7CC6BD0F462C}" type="slidenum">
              <a:rPr lang="en-US" smtClean="0"/>
              <a:t>23</a:t>
            </a:fld>
            <a:endParaRPr lang="en-US"/>
          </a:p>
        </p:txBody>
      </p:sp>
    </p:spTree>
    <p:extLst>
      <p:ext uri="{BB962C8B-B14F-4D97-AF65-F5344CB8AC3E}">
        <p14:creationId xmlns:p14="http://schemas.microsoft.com/office/powerpoint/2010/main" val="30079877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You can also nest itemize or enumerate tags to yield subitems. Note to our Pythonic friends, this indentation of the nesting structure is NOT required. I just did it to make it more human readable.</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24</a:t>
            </a:fld>
            <a:endParaRPr lang="en-US"/>
          </a:p>
        </p:txBody>
      </p:sp>
    </p:spTree>
    <p:extLst>
      <p:ext uri="{BB962C8B-B14F-4D97-AF65-F5344CB8AC3E}">
        <p14:creationId xmlns:p14="http://schemas.microsoft.com/office/powerpoint/2010/main" val="23874666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here's the result, much like you'd expect.</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25</a:t>
            </a:fld>
            <a:endParaRPr lang="en-US"/>
          </a:p>
        </p:txBody>
      </p:sp>
    </p:spTree>
    <p:extLst>
      <p:ext uri="{BB962C8B-B14F-4D97-AF65-F5344CB8AC3E}">
        <p14:creationId xmlns:p14="http://schemas.microsoft.com/office/powerpoint/2010/main" val="20880432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LaTeX is also really good for long documents like books and dissertations because it helps keep track of the document structure. I've just added some section headings between the various paragraphs: </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26</a:t>
            </a:fld>
            <a:endParaRPr lang="en-US"/>
          </a:p>
        </p:txBody>
      </p:sp>
    </p:spTree>
    <p:extLst>
      <p:ext uri="{BB962C8B-B14F-4D97-AF65-F5344CB8AC3E}">
        <p14:creationId xmlns:p14="http://schemas.microsoft.com/office/powerpoint/2010/main" val="5870201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Those sections get numbered. If you use the book class instead of the article class, then you can identify chapters in addition to sections. </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27</a:t>
            </a:fld>
            <a:endParaRPr lang="en-US"/>
          </a:p>
        </p:txBody>
      </p:sp>
    </p:spTree>
    <p:extLst>
      <p:ext uri="{BB962C8B-B14F-4D97-AF65-F5344CB8AC3E}">
        <p14:creationId xmlns:p14="http://schemas.microsoft.com/office/powerpoint/2010/main" val="1913235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if you ask for one, then LaTeX will generate a table of contents using that section information. Here I've asked for the table of contents, then a page break, and then the main doc. </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28</a:t>
            </a:fld>
            <a:endParaRPr lang="en-US"/>
          </a:p>
        </p:txBody>
      </p:sp>
    </p:spTree>
    <p:extLst>
      <p:ext uri="{BB962C8B-B14F-4D97-AF65-F5344CB8AC3E}">
        <p14:creationId xmlns:p14="http://schemas.microsoft.com/office/powerpoint/2010/main" val="36314500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Because the toc is page 1, the section heads are all on page 2.</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29</a:t>
            </a:fld>
            <a:endParaRPr lang="en-US"/>
          </a:p>
        </p:txBody>
      </p:sp>
    </p:spTree>
    <p:extLst>
      <p:ext uri="{BB962C8B-B14F-4D97-AF65-F5344CB8AC3E}">
        <p14:creationId xmlns:p14="http://schemas.microsoft.com/office/powerpoint/2010/main" val="23169289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 can also define subsections (or even subsubsections).</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30</a:t>
            </a:fld>
            <a:endParaRPr lang="en-US"/>
          </a:p>
        </p:txBody>
      </p:sp>
    </p:spTree>
    <p:extLst>
      <p:ext uri="{BB962C8B-B14F-4D97-AF65-F5344CB8AC3E}">
        <p14:creationId xmlns:p14="http://schemas.microsoft.com/office/powerpoint/2010/main" val="9278963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again, those would automatically number in the document and table of contents much as you'd expect.</a:t>
            </a:r>
          </a:p>
          <a:p>
            <a:endParaRPr lang="en-US" dirty="0"/>
          </a:p>
          <a:p>
            <a:r>
              <a:rPr lang="en-US" sz="1200" kern="1200" dirty="0">
                <a:solidFill>
                  <a:schemeClr val="tx1"/>
                </a:solidFill>
                <a:effectLst/>
                <a:latin typeface="+mn-lt"/>
                <a:ea typeface="+mn-ea"/>
                <a:cs typeface="+mn-cs"/>
              </a:rPr>
              <a:t>I don't have time to demonstrate everything worth knowing, but I also want to note that LaTeX also does a great job with footnotes and endnotes. And there is a program called </a:t>
            </a:r>
            <a:r>
              <a:rPr lang="en-US" sz="1200" kern="1200" dirty="0" err="1">
                <a:solidFill>
                  <a:schemeClr val="tx1"/>
                </a:solidFill>
                <a:effectLst/>
                <a:latin typeface="+mn-lt"/>
                <a:ea typeface="+mn-ea"/>
                <a:cs typeface="+mn-cs"/>
              </a:rPr>
              <a:t>BibTeX</a:t>
            </a:r>
            <a:r>
              <a:rPr lang="en-US" sz="1200" kern="1200" dirty="0">
                <a:solidFill>
                  <a:schemeClr val="tx1"/>
                </a:solidFill>
                <a:effectLst/>
                <a:latin typeface="+mn-lt"/>
                <a:ea typeface="+mn-ea"/>
                <a:cs typeface="+mn-cs"/>
              </a:rPr>
              <a:t> that allows you to manage bibliographies. You define your sources in a database, and then tell LaTeX what reference style to use. If you've ever written a paper in MLA format only to learn that the journal you're submitting to uses Chicago style (or vice versa). I'm sure you would understand how useful that would be. In that sense, </a:t>
            </a:r>
            <a:r>
              <a:rPr lang="en-US" sz="1200" kern="1200" dirty="0" err="1">
                <a:solidFill>
                  <a:schemeClr val="tx1"/>
                </a:solidFill>
                <a:effectLst/>
                <a:latin typeface="+mn-lt"/>
                <a:ea typeface="+mn-ea"/>
                <a:cs typeface="+mn-cs"/>
              </a:rPr>
              <a:t>BibTeX</a:t>
            </a:r>
            <a:r>
              <a:rPr lang="en-US" sz="1200" kern="1200" dirty="0">
                <a:solidFill>
                  <a:schemeClr val="tx1"/>
                </a:solidFill>
                <a:effectLst/>
                <a:latin typeface="+mn-lt"/>
                <a:ea typeface="+mn-ea"/>
                <a:cs typeface="+mn-cs"/>
              </a:rPr>
              <a:t> a free replacement for commercial software like EndNote or Zotero. But you can also use EndNote or Zotero with LaTeX if you’re already working with one of those.</a:t>
            </a:r>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31</a:t>
            </a:fld>
            <a:endParaRPr lang="en-US"/>
          </a:p>
        </p:txBody>
      </p:sp>
    </p:spTree>
    <p:extLst>
      <p:ext uri="{BB962C8B-B14F-4D97-AF65-F5344CB8AC3E}">
        <p14:creationId xmlns:p14="http://schemas.microsoft.com/office/powerpoint/2010/main" val="25745743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that you have a basic understanding of LaTeX, we can talk about how to leverage it to make those dreaded data factsheets.</a:t>
            </a:r>
          </a:p>
        </p:txBody>
      </p:sp>
      <p:sp>
        <p:nvSpPr>
          <p:cNvPr id="4" name="Slide Number Placeholder 3"/>
          <p:cNvSpPr>
            <a:spLocks noGrp="1"/>
          </p:cNvSpPr>
          <p:nvPr>
            <p:ph type="sldNum" sz="quarter" idx="5"/>
          </p:nvPr>
        </p:nvSpPr>
        <p:spPr/>
        <p:txBody>
          <a:bodyPr/>
          <a:lstStyle/>
          <a:p>
            <a:fld id="{99CD9771-9090-4167-B37B-7CC6BD0F462C}" type="slidenum">
              <a:rPr lang="en-US" smtClean="0"/>
              <a:t>32</a:t>
            </a:fld>
            <a:endParaRPr lang="en-US"/>
          </a:p>
        </p:txBody>
      </p:sp>
    </p:spTree>
    <p:extLst>
      <p:ext uri="{BB962C8B-B14F-4D97-AF65-F5344CB8AC3E}">
        <p14:creationId xmlns:p14="http://schemas.microsoft.com/office/powerpoint/2010/main" val="16764631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first step is to design a sample report. </a:t>
            </a:r>
          </a:p>
          <a:p>
            <a:r>
              <a:rPr lang="en-US" sz="1200" kern="1200" dirty="0">
                <a:solidFill>
                  <a:schemeClr val="tx1"/>
                </a:solidFill>
                <a:effectLst/>
                <a:latin typeface="+mn-lt"/>
                <a:ea typeface="+mn-ea"/>
                <a:cs typeface="+mn-cs"/>
              </a:rPr>
              <a:t>We'll start with a basic article class document, </a:t>
            </a:r>
            <a:r>
              <a:rPr lang="en-US" sz="1200" kern="1200" dirty="0" err="1">
                <a:solidFill>
                  <a:schemeClr val="tx1"/>
                </a:solidFill>
                <a:effectLst/>
                <a:latin typeface="+mn-lt"/>
                <a:ea typeface="+mn-ea"/>
                <a:cs typeface="+mn-cs"/>
              </a:rPr>
              <a:t>pagestyle</a:t>
            </a:r>
            <a:r>
              <a:rPr lang="en-US" sz="1200" kern="1200" dirty="0">
                <a:solidFill>
                  <a:schemeClr val="tx1"/>
                </a:solidFill>
                <a:effectLst/>
                <a:latin typeface="+mn-lt"/>
                <a:ea typeface="+mn-ea"/>
                <a:cs typeface="+mn-cs"/>
              </a:rPr>
              <a:t> empty so no page number. And we'll call it Demographic Profile for Fulton County. Once we have the design down, we’ll write code to generate a batch of reports.</a:t>
            </a:r>
          </a:p>
          <a:p>
            <a:r>
              <a:rPr lang="en-US" sz="1200" kern="1200" dirty="0">
                <a:solidFill>
                  <a:schemeClr val="tx1"/>
                </a:solidFill>
                <a:effectLst/>
                <a:latin typeface="+mn-lt"/>
                <a:ea typeface="+mn-ea"/>
                <a:cs typeface="+mn-cs"/>
              </a:rPr>
              <a:t>Also note that for each step, the filename will be Profile01, Profile02, and so on. The code for all of the steps are part of the payload on GitHub.</a:t>
            </a:r>
          </a:p>
        </p:txBody>
      </p:sp>
      <p:sp>
        <p:nvSpPr>
          <p:cNvPr id="4" name="Slide Number Placeholder 3"/>
          <p:cNvSpPr>
            <a:spLocks noGrp="1"/>
          </p:cNvSpPr>
          <p:nvPr>
            <p:ph type="sldNum" sz="quarter" idx="5"/>
          </p:nvPr>
        </p:nvSpPr>
        <p:spPr/>
        <p:txBody>
          <a:bodyPr/>
          <a:lstStyle/>
          <a:p>
            <a:fld id="{99CD9771-9090-4167-B37B-7CC6BD0F462C}" type="slidenum">
              <a:rPr lang="en-US" smtClean="0"/>
              <a:t>33</a:t>
            </a:fld>
            <a:endParaRPr lang="en-US"/>
          </a:p>
        </p:txBody>
      </p:sp>
    </p:spTree>
    <p:extLst>
      <p:ext uri="{BB962C8B-B14F-4D97-AF65-F5344CB8AC3E}">
        <p14:creationId xmlns:p14="http://schemas.microsoft.com/office/powerpoint/2010/main" val="2406445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far, so good. But maybe we'd like that title to be centered and a bit larger. </a:t>
            </a:r>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34</a:t>
            </a:fld>
            <a:endParaRPr lang="en-US"/>
          </a:p>
        </p:txBody>
      </p:sp>
    </p:spTree>
    <p:extLst>
      <p:ext uri="{BB962C8B-B14F-4D97-AF65-F5344CB8AC3E}">
        <p14:creationId xmlns:p14="http://schemas.microsoft.com/office/powerpoint/2010/main" val="3765457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we'll use the center environment to center the text and our text in some nested tags for large and bold face. It's a lot like HTML that way in that you can nest styles, but since the end tag is always a right curly brace, you just have to count the right number (and not worry about the order of the end tags)</a:t>
            </a:r>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35</a:t>
            </a:fld>
            <a:endParaRPr lang="en-US"/>
          </a:p>
        </p:txBody>
      </p:sp>
    </p:spTree>
    <p:extLst>
      <p:ext uri="{BB962C8B-B14F-4D97-AF65-F5344CB8AC3E}">
        <p14:creationId xmlns:p14="http://schemas.microsoft.com/office/powerpoint/2010/main" val="5014168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better.</a:t>
            </a:r>
          </a:p>
        </p:txBody>
      </p:sp>
      <p:sp>
        <p:nvSpPr>
          <p:cNvPr id="4" name="Slide Number Placeholder 3"/>
          <p:cNvSpPr>
            <a:spLocks noGrp="1"/>
          </p:cNvSpPr>
          <p:nvPr>
            <p:ph type="sldNum" sz="quarter" idx="5"/>
          </p:nvPr>
        </p:nvSpPr>
        <p:spPr/>
        <p:txBody>
          <a:bodyPr/>
          <a:lstStyle/>
          <a:p>
            <a:fld id="{99CD9771-9090-4167-B37B-7CC6BD0F462C}" type="slidenum">
              <a:rPr lang="en-US" smtClean="0"/>
              <a:t>36</a:t>
            </a:fld>
            <a:endParaRPr lang="en-US"/>
          </a:p>
        </p:txBody>
      </p:sp>
    </p:spTree>
    <p:extLst>
      <p:ext uri="{BB962C8B-B14F-4D97-AF65-F5344CB8AC3E}">
        <p14:creationId xmlns:p14="http://schemas.microsoft.com/office/powerpoint/2010/main" val="14777917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we'll want to add a table of data. There are a bunch of available table environments, but tabular is the simplest one.</a:t>
            </a:r>
          </a:p>
          <a:p>
            <a:r>
              <a:rPr lang="en-US" sz="1200" kern="1200" dirty="0">
                <a:solidFill>
                  <a:schemeClr val="tx1"/>
                </a:solidFill>
                <a:effectLst/>
                <a:latin typeface="+mn-lt"/>
                <a:ea typeface="+mn-ea"/>
                <a:cs typeface="+mn-cs"/>
              </a:rPr>
              <a:t> Note that there's a “begin tabular” and an “end tabular” just like you have for the begin/end document.</a:t>
            </a:r>
          </a:p>
          <a:p>
            <a:r>
              <a:rPr lang="en-US" sz="1200" kern="1200" dirty="0">
                <a:solidFill>
                  <a:schemeClr val="tx1"/>
                </a:solidFill>
                <a:effectLst/>
                <a:latin typeface="+mn-lt"/>
                <a:ea typeface="+mn-ea"/>
                <a:cs typeface="+mn-cs"/>
              </a:rPr>
              <a:t> Next, we have to tell it how many columns we want and the column formatting. You can use lower case L for left justified, c for center justified, and r for right justified columns. Those columns will automatically size to their contents. </a:t>
            </a:r>
          </a:p>
          <a:p>
            <a:r>
              <a:rPr lang="en-US" sz="1200" kern="1200" dirty="0">
                <a:solidFill>
                  <a:schemeClr val="tx1"/>
                </a:solidFill>
                <a:effectLst/>
                <a:latin typeface="+mn-lt"/>
                <a:ea typeface="+mn-ea"/>
                <a:cs typeface="+mn-cs"/>
              </a:rPr>
              <a:t> But you also may want to set the size of a column, especially if it contains long text, because then it will wrap. In that case you use p for paragraph, which is also left justified. Using the p specification also REQUIRES you to set the width, which I have done here at 4 inches (more about what units you can use later).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So, we'll have three columns in our table: one left justified 4 inches wide, the other two right justified sized to the width of the text-- plus a little padding.</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If you need to set the width of a centered or right justified column, then you have to employ some hacks. But not needed here. Note: the whitespace between the p and among the r’s is optional—I included it to make it easier to read.</a:t>
            </a:r>
          </a:p>
          <a:p>
            <a:r>
              <a:rPr lang="en-US" sz="1200" kern="1200" dirty="0">
                <a:solidFill>
                  <a:schemeClr val="tx1"/>
                </a:solidFill>
                <a:effectLst/>
                <a:latin typeface="+mn-lt"/>
                <a:ea typeface="+mn-ea"/>
                <a:cs typeface="+mn-cs"/>
              </a:rPr>
              <a:t>OK, next line will be my table head, so I put the text in boldface.</a:t>
            </a:r>
          </a:p>
          <a:p>
            <a:r>
              <a:rPr lang="en-US" sz="1200" kern="1200" dirty="0">
                <a:solidFill>
                  <a:schemeClr val="tx1"/>
                </a:solidFill>
                <a:effectLst/>
                <a:latin typeface="+mn-lt"/>
                <a:ea typeface="+mn-ea"/>
                <a:cs typeface="+mn-cs"/>
              </a:rPr>
              <a:t> In LaTeX, the table columns are separated by ampersands. So, the top line has an empty cell, then my headers for the other two columns. </a:t>
            </a:r>
          </a:p>
          <a:p>
            <a:r>
              <a:rPr lang="en-US" sz="1200" kern="1200" dirty="0">
                <a:solidFill>
                  <a:schemeClr val="tx1"/>
                </a:solidFill>
                <a:effectLst/>
                <a:latin typeface="+mn-lt"/>
                <a:ea typeface="+mn-ea"/>
                <a:cs typeface="+mn-cs"/>
              </a:rPr>
              <a:t>The double backslash gets me to the next table row. Finally, note that the percent sign is escaped so that LaTeX knows not to treat it as a comment.</a:t>
            </a:r>
          </a:p>
          <a:p>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99CD9771-9090-4167-B37B-7CC6BD0F462C}" type="slidenum">
              <a:rPr lang="en-US" smtClean="0"/>
              <a:t>37</a:t>
            </a:fld>
            <a:endParaRPr lang="en-US"/>
          </a:p>
        </p:txBody>
      </p:sp>
    </p:spTree>
    <p:extLst>
      <p:ext uri="{BB962C8B-B14F-4D97-AF65-F5344CB8AC3E}">
        <p14:creationId xmlns:p14="http://schemas.microsoft.com/office/powerpoint/2010/main" val="7596370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Which compiles to this table.</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38</a:t>
            </a:fld>
            <a:endParaRPr lang="en-US"/>
          </a:p>
        </p:txBody>
      </p:sp>
    </p:spTree>
    <p:extLst>
      <p:ext uri="{BB962C8B-B14F-4D97-AF65-F5344CB8AC3E}">
        <p14:creationId xmlns:p14="http://schemas.microsoft.com/office/powerpoint/2010/main" val="41282651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Maybe you want gridlines in your table?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We define vertical lines when defining the columns. The Pipe character says where to put the vertical lines (and you can have more than one pipe if you want double or triple lines).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Again, the whitespace here isn't needed-- it's just there to make it easier to see.</a:t>
            </a:r>
          </a:p>
          <a:p>
            <a:r>
              <a:rPr lang="en-US" sz="1200" kern="1200" dirty="0">
                <a:solidFill>
                  <a:schemeClr val="tx1"/>
                </a:solidFill>
                <a:effectLst/>
                <a:latin typeface="+mn-lt"/>
                <a:ea typeface="+mn-ea"/>
                <a:cs typeface="+mn-cs"/>
              </a:rPr>
              <a:t>Then the horizontal lines are added where desired with the \</a:t>
            </a:r>
            <a:r>
              <a:rPr lang="en-US" sz="1200" kern="1200" dirty="0" err="1">
                <a:solidFill>
                  <a:schemeClr val="tx1"/>
                </a:solidFill>
                <a:effectLst/>
                <a:latin typeface="+mn-lt"/>
                <a:ea typeface="+mn-ea"/>
                <a:cs typeface="+mn-cs"/>
              </a:rPr>
              <a:t>hline</a:t>
            </a:r>
            <a:r>
              <a:rPr lang="en-US" sz="1200" kern="1200" dirty="0">
                <a:solidFill>
                  <a:schemeClr val="tx1"/>
                </a:solidFill>
                <a:effectLst/>
                <a:latin typeface="+mn-lt"/>
                <a:ea typeface="+mn-ea"/>
                <a:cs typeface="+mn-cs"/>
              </a:rPr>
              <a:t> command.</a:t>
            </a:r>
          </a:p>
          <a:p>
            <a:r>
              <a:rPr lang="en-US" sz="1200" kern="1200" dirty="0">
                <a:solidFill>
                  <a:schemeClr val="tx1"/>
                </a:solidFill>
                <a:effectLst/>
                <a:latin typeface="+mn-lt"/>
                <a:ea typeface="+mn-ea"/>
                <a:cs typeface="+mn-cs"/>
              </a:rPr>
              <a:t>I asked for a double vertical between the category and the data columns</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39</a:t>
            </a:fld>
            <a:endParaRPr lang="en-US"/>
          </a:p>
        </p:txBody>
      </p:sp>
    </p:spTree>
    <p:extLst>
      <p:ext uri="{BB962C8B-B14F-4D97-AF65-F5344CB8AC3E}">
        <p14:creationId xmlns:p14="http://schemas.microsoft.com/office/powerpoint/2010/main" val="33281558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that's what we got.</a:t>
            </a:r>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40</a:t>
            </a:fld>
            <a:endParaRPr lang="en-US"/>
          </a:p>
        </p:txBody>
      </p:sp>
    </p:spTree>
    <p:extLst>
      <p:ext uri="{BB962C8B-B14F-4D97-AF65-F5344CB8AC3E}">
        <p14:creationId xmlns:p14="http://schemas.microsoft.com/office/powerpoint/2010/main" val="33395864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add more content, so it would be helpful to have section headings before each item, like this Race &amp; Ethnicity heading before the table.</a:t>
            </a:r>
          </a:p>
          <a:p>
            <a:r>
              <a:rPr lang="en-US" dirty="0"/>
              <a:t>I’m using the starred version of the command (the asterisk after the word section), because that version suppresses the section numbering.</a:t>
            </a:r>
          </a:p>
        </p:txBody>
      </p:sp>
      <p:sp>
        <p:nvSpPr>
          <p:cNvPr id="4" name="Slide Number Placeholder 3"/>
          <p:cNvSpPr>
            <a:spLocks noGrp="1"/>
          </p:cNvSpPr>
          <p:nvPr>
            <p:ph type="sldNum" sz="quarter" idx="5"/>
          </p:nvPr>
        </p:nvSpPr>
        <p:spPr/>
        <p:txBody>
          <a:bodyPr/>
          <a:lstStyle/>
          <a:p>
            <a:fld id="{99CD9771-9090-4167-B37B-7CC6BD0F462C}" type="slidenum">
              <a:rPr lang="en-US" smtClean="0"/>
              <a:t>41</a:t>
            </a:fld>
            <a:endParaRPr lang="en-US"/>
          </a:p>
        </p:txBody>
      </p:sp>
    </p:spTree>
    <p:extLst>
      <p:ext uri="{BB962C8B-B14F-4D97-AF65-F5344CB8AC3E}">
        <p14:creationId xmlns:p14="http://schemas.microsoft.com/office/powerpoint/2010/main" val="37198808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may have noticed that things look a little askew. That’s because the article class has VERY generous margins (like you’ll see in many typical journal articles), and the table is poking into the right margin. </a:t>
            </a:r>
          </a:p>
          <a:p>
            <a:r>
              <a:rPr lang="en-US" dirty="0"/>
              <a:t>Let’s change the margins to be 1” all around. </a:t>
            </a:r>
          </a:p>
        </p:txBody>
      </p:sp>
      <p:sp>
        <p:nvSpPr>
          <p:cNvPr id="4" name="Slide Number Placeholder 3"/>
          <p:cNvSpPr>
            <a:spLocks noGrp="1"/>
          </p:cNvSpPr>
          <p:nvPr>
            <p:ph type="sldNum" sz="quarter" idx="5"/>
          </p:nvPr>
        </p:nvSpPr>
        <p:spPr/>
        <p:txBody>
          <a:bodyPr/>
          <a:lstStyle/>
          <a:p>
            <a:fld id="{99CD9771-9090-4167-B37B-7CC6BD0F462C}" type="slidenum">
              <a:rPr lang="en-US" smtClean="0"/>
              <a:t>42</a:t>
            </a:fld>
            <a:endParaRPr lang="en-US"/>
          </a:p>
        </p:txBody>
      </p:sp>
    </p:spTree>
    <p:extLst>
      <p:ext uri="{BB962C8B-B14F-4D97-AF65-F5344CB8AC3E}">
        <p14:creationId xmlns:p14="http://schemas.microsoft.com/office/powerpoint/2010/main" val="11258247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accomplish this, we’ll add our first package to the preamble. The geometry package allows you to have very fine control over margins, binding offsets, and such like. </a:t>
            </a:r>
          </a:p>
        </p:txBody>
      </p:sp>
      <p:sp>
        <p:nvSpPr>
          <p:cNvPr id="4" name="Slide Number Placeholder 3"/>
          <p:cNvSpPr>
            <a:spLocks noGrp="1"/>
          </p:cNvSpPr>
          <p:nvPr>
            <p:ph type="sldNum" sz="quarter" idx="5"/>
          </p:nvPr>
        </p:nvSpPr>
        <p:spPr/>
        <p:txBody>
          <a:bodyPr/>
          <a:lstStyle/>
          <a:p>
            <a:fld id="{99CD9771-9090-4167-B37B-7CC6BD0F462C}" type="slidenum">
              <a:rPr lang="en-US" smtClean="0"/>
              <a:t>43</a:t>
            </a:fld>
            <a:endParaRPr lang="en-US"/>
          </a:p>
        </p:txBody>
      </p:sp>
    </p:spTree>
    <p:extLst>
      <p:ext uri="{BB962C8B-B14F-4D97-AF65-F5344CB8AC3E}">
        <p14:creationId xmlns:p14="http://schemas.microsoft.com/office/powerpoint/2010/main" val="19606672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 better. </a:t>
            </a:r>
          </a:p>
          <a:p>
            <a:r>
              <a:rPr lang="en-US" dirty="0"/>
              <a:t>Let’s add more content. For educational attainment, let’s do a pie chart. To do this, we need to add another package to the preamble.</a:t>
            </a:r>
          </a:p>
        </p:txBody>
      </p:sp>
      <p:sp>
        <p:nvSpPr>
          <p:cNvPr id="4" name="Slide Number Placeholder 3"/>
          <p:cNvSpPr>
            <a:spLocks noGrp="1"/>
          </p:cNvSpPr>
          <p:nvPr>
            <p:ph type="sldNum" sz="quarter" idx="5"/>
          </p:nvPr>
        </p:nvSpPr>
        <p:spPr/>
        <p:txBody>
          <a:bodyPr/>
          <a:lstStyle/>
          <a:p>
            <a:fld id="{99CD9771-9090-4167-B37B-7CC6BD0F462C}" type="slidenum">
              <a:rPr lang="en-US" smtClean="0"/>
              <a:t>44</a:t>
            </a:fld>
            <a:endParaRPr lang="en-US"/>
          </a:p>
        </p:txBody>
      </p:sp>
    </p:spTree>
    <p:extLst>
      <p:ext uri="{BB962C8B-B14F-4D97-AF65-F5344CB8AC3E}">
        <p14:creationId xmlns:p14="http://schemas.microsoft.com/office/powerpoint/2010/main" val="42457463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wheelchart</a:t>
            </a:r>
            <a:r>
              <a:rPr lang="en-US" dirty="0"/>
              <a:t> package supports pie graphs, </a:t>
            </a:r>
            <a:r>
              <a:rPr lang="en-US"/>
              <a:t>donut graph</a:t>
            </a:r>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45</a:t>
            </a:fld>
            <a:endParaRPr lang="en-US"/>
          </a:p>
        </p:txBody>
      </p:sp>
    </p:spTree>
    <p:extLst>
      <p:ext uri="{BB962C8B-B14F-4D97-AF65-F5344CB8AC3E}">
        <p14:creationId xmlns:p14="http://schemas.microsoft.com/office/powerpoint/2010/main" val="42276855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syntax is a bit arcane, unfortunately. But you can see that we define colors for the slices (we’re using built-in colors for now), and we tell it things like where to put labels, and legends, the font size and color to use, and the categories and proportions. </a:t>
            </a:r>
          </a:p>
          <a:p>
            <a:r>
              <a:rPr lang="en-US" dirty="0"/>
              <a:t>The whole thing goes inside a </a:t>
            </a:r>
            <a:r>
              <a:rPr lang="en-US" dirty="0" err="1"/>
              <a:t>tikzpicture</a:t>
            </a:r>
            <a:r>
              <a:rPr lang="en-US" dirty="0"/>
              <a:t> environment because </a:t>
            </a:r>
            <a:r>
              <a:rPr lang="en-US" dirty="0" err="1"/>
              <a:t>wheelchart</a:t>
            </a:r>
            <a:r>
              <a:rPr lang="en-US" dirty="0"/>
              <a:t> is leveraging the </a:t>
            </a:r>
            <a:r>
              <a:rPr lang="en-US" dirty="0" err="1"/>
              <a:t>tikz</a:t>
            </a:r>
            <a:r>
              <a:rPr lang="en-US" dirty="0"/>
              <a:t> vector graphic drawing package. </a:t>
            </a:r>
          </a:p>
        </p:txBody>
      </p:sp>
      <p:sp>
        <p:nvSpPr>
          <p:cNvPr id="4" name="Slide Number Placeholder 3"/>
          <p:cNvSpPr>
            <a:spLocks noGrp="1"/>
          </p:cNvSpPr>
          <p:nvPr>
            <p:ph type="sldNum" sz="quarter" idx="5"/>
          </p:nvPr>
        </p:nvSpPr>
        <p:spPr/>
        <p:txBody>
          <a:bodyPr/>
          <a:lstStyle/>
          <a:p>
            <a:fld id="{99CD9771-9090-4167-B37B-7CC6BD0F462C}" type="slidenum">
              <a:rPr lang="en-US" smtClean="0"/>
              <a:t>46</a:t>
            </a:fld>
            <a:endParaRPr lang="en-US"/>
          </a:p>
        </p:txBody>
      </p:sp>
    </p:spTree>
    <p:extLst>
      <p:ext uri="{BB962C8B-B14F-4D97-AF65-F5344CB8AC3E}">
        <p14:creationId xmlns:p14="http://schemas.microsoft.com/office/powerpoint/2010/main" val="35891615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how the pie renders, given the command I provided.</a:t>
            </a:r>
          </a:p>
          <a:p>
            <a:r>
              <a:rPr lang="en-US" dirty="0"/>
              <a:t>Let’s add another section to our factsheet, maybe a bar graph comparing cost burdened households by tenure (owners vs. renters) for the county vs. the state as a whole.</a:t>
            </a:r>
          </a:p>
        </p:txBody>
      </p:sp>
      <p:sp>
        <p:nvSpPr>
          <p:cNvPr id="4" name="Slide Number Placeholder 3"/>
          <p:cNvSpPr>
            <a:spLocks noGrp="1"/>
          </p:cNvSpPr>
          <p:nvPr>
            <p:ph type="sldNum" sz="quarter" idx="5"/>
          </p:nvPr>
        </p:nvSpPr>
        <p:spPr/>
        <p:txBody>
          <a:bodyPr/>
          <a:lstStyle/>
          <a:p>
            <a:fld id="{99CD9771-9090-4167-B37B-7CC6BD0F462C}" type="slidenum">
              <a:rPr lang="en-US" smtClean="0"/>
              <a:t>47</a:t>
            </a:fld>
            <a:endParaRPr lang="en-US"/>
          </a:p>
        </p:txBody>
      </p:sp>
    </p:spTree>
    <p:extLst>
      <p:ext uri="{BB962C8B-B14F-4D97-AF65-F5344CB8AC3E}">
        <p14:creationId xmlns:p14="http://schemas.microsoft.com/office/powerpoint/2010/main" val="40335209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we’ll need to add another package to facilitate creation of bar graphs, namely </a:t>
            </a:r>
            <a:r>
              <a:rPr lang="en-US" dirty="0" err="1"/>
              <a:t>pgfplots</a:t>
            </a:r>
            <a:r>
              <a:rPr lang="en-US" dirty="0"/>
              <a:t>.</a:t>
            </a:r>
          </a:p>
        </p:txBody>
      </p:sp>
      <p:sp>
        <p:nvSpPr>
          <p:cNvPr id="4" name="Slide Number Placeholder 3"/>
          <p:cNvSpPr>
            <a:spLocks noGrp="1"/>
          </p:cNvSpPr>
          <p:nvPr>
            <p:ph type="sldNum" sz="quarter" idx="5"/>
          </p:nvPr>
        </p:nvSpPr>
        <p:spPr/>
        <p:txBody>
          <a:bodyPr/>
          <a:lstStyle/>
          <a:p>
            <a:fld id="{99CD9771-9090-4167-B37B-7CC6BD0F462C}" type="slidenum">
              <a:rPr lang="en-US" smtClean="0"/>
              <a:t>48</a:t>
            </a:fld>
            <a:endParaRPr lang="en-US"/>
          </a:p>
        </p:txBody>
      </p:sp>
    </p:spTree>
    <p:extLst>
      <p:ext uri="{BB962C8B-B14F-4D97-AF65-F5344CB8AC3E}">
        <p14:creationId xmlns:p14="http://schemas.microsoft.com/office/powerpoint/2010/main" val="29277971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package also builds on </a:t>
            </a:r>
            <a:r>
              <a:rPr lang="en-US" dirty="0" err="1"/>
              <a:t>tikz</a:t>
            </a:r>
            <a:r>
              <a:rPr lang="en-US" dirty="0"/>
              <a:t>. Again, a bit arcane. Most of the code is defining the axes. Then the bars themselves are created via the </a:t>
            </a:r>
            <a:r>
              <a:rPr lang="en-US" dirty="0" err="1"/>
              <a:t>addplot</a:t>
            </a:r>
            <a:r>
              <a:rPr lang="en-US" dirty="0"/>
              <a:t> lines.</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49</a:t>
            </a:fld>
            <a:endParaRPr lang="en-US"/>
          </a:p>
        </p:txBody>
      </p:sp>
    </p:spTree>
    <p:extLst>
      <p:ext uri="{BB962C8B-B14F-4D97-AF65-F5344CB8AC3E}">
        <p14:creationId xmlns:p14="http://schemas.microsoft.com/office/powerpoint/2010/main" val="18744166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how the graph we defined comes out. Again, we’re using built-in colors and the default font. </a:t>
            </a:r>
          </a:p>
        </p:txBody>
      </p:sp>
      <p:sp>
        <p:nvSpPr>
          <p:cNvPr id="4" name="Slide Number Placeholder 3"/>
          <p:cNvSpPr>
            <a:spLocks noGrp="1"/>
          </p:cNvSpPr>
          <p:nvPr>
            <p:ph type="sldNum" sz="quarter" idx="5"/>
          </p:nvPr>
        </p:nvSpPr>
        <p:spPr/>
        <p:txBody>
          <a:bodyPr/>
          <a:lstStyle/>
          <a:p>
            <a:fld id="{99CD9771-9090-4167-B37B-7CC6BD0F462C}" type="slidenum">
              <a:rPr lang="en-US" smtClean="0"/>
              <a:t>50</a:t>
            </a:fld>
            <a:endParaRPr lang="en-US"/>
          </a:p>
        </p:txBody>
      </p:sp>
    </p:spTree>
    <p:extLst>
      <p:ext uri="{BB962C8B-B14F-4D97-AF65-F5344CB8AC3E}">
        <p14:creationId xmlns:p14="http://schemas.microsoft.com/office/powerpoint/2010/main" val="10813071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I’m willing to bet that your organization, like ours, has a style guide that you’re expected to follow. We can instruct the LaTeX compiler to use custom colors and fonts.</a:t>
            </a:r>
          </a:p>
          <a:p>
            <a:r>
              <a:rPr lang="en-US" dirty="0"/>
              <a:t>We just need (you guessed it) more packages.</a:t>
            </a:r>
          </a:p>
        </p:txBody>
      </p:sp>
      <p:sp>
        <p:nvSpPr>
          <p:cNvPr id="4" name="Slide Number Placeholder 3"/>
          <p:cNvSpPr>
            <a:spLocks noGrp="1"/>
          </p:cNvSpPr>
          <p:nvPr>
            <p:ph type="sldNum" sz="quarter" idx="5"/>
          </p:nvPr>
        </p:nvSpPr>
        <p:spPr/>
        <p:txBody>
          <a:bodyPr/>
          <a:lstStyle/>
          <a:p>
            <a:fld id="{99CD9771-9090-4167-B37B-7CC6BD0F462C}" type="slidenum">
              <a:rPr lang="en-US" smtClean="0"/>
              <a:t>51</a:t>
            </a:fld>
            <a:endParaRPr lang="en-US"/>
          </a:p>
        </p:txBody>
      </p:sp>
    </p:spTree>
    <p:extLst>
      <p:ext uri="{BB962C8B-B14F-4D97-AF65-F5344CB8AC3E}">
        <p14:creationId xmlns:p14="http://schemas.microsoft.com/office/powerpoint/2010/main" val="16718276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fontspec</a:t>
            </a:r>
            <a:r>
              <a:rPr lang="en-US" dirty="0"/>
              <a:t> package allows us to use TrueType fonts, such as the Din Pro installed on my computer.</a:t>
            </a:r>
          </a:p>
          <a:p>
            <a:endParaRPr lang="en-US" dirty="0"/>
          </a:p>
          <a:p>
            <a:r>
              <a:rPr lang="en-US" dirty="0"/>
              <a:t>The </a:t>
            </a:r>
            <a:r>
              <a:rPr lang="en-US" dirty="0" err="1"/>
              <a:t>xcolor</a:t>
            </a:r>
            <a:r>
              <a:rPr lang="en-US" dirty="0"/>
              <a:t> package allows me to define special ARC colors, like the official ARC red. I’m using the RGB definition, but I could have put HTML in the curly braces and then used the Hex value instead. </a:t>
            </a:r>
            <a:r>
              <a:rPr lang="en-US" dirty="0" err="1"/>
              <a:t>Xcolor</a:t>
            </a:r>
            <a:r>
              <a:rPr lang="en-US" dirty="0"/>
              <a:t> also supports CMYK and some other color models.</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52</a:t>
            </a:fld>
            <a:endParaRPr lang="en-US"/>
          </a:p>
        </p:txBody>
      </p:sp>
    </p:spTree>
    <p:extLst>
      <p:ext uri="{BB962C8B-B14F-4D97-AF65-F5344CB8AC3E}">
        <p14:creationId xmlns:p14="http://schemas.microsoft.com/office/powerpoint/2010/main" val="34890769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substitute official ARC colors for the default colors I used previously, and now everything is in compliance with agency standards.</a:t>
            </a:r>
          </a:p>
        </p:txBody>
      </p:sp>
      <p:sp>
        <p:nvSpPr>
          <p:cNvPr id="4" name="Slide Number Placeholder 3"/>
          <p:cNvSpPr>
            <a:spLocks noGrp="1"/>
          </p:cNvSpPr>
          <p:nvPr>
            <p:ph type="sldNum" sz="quarter" idx="5"/>
          </p:nvPr>
        </p:nvSpPr>
        <p:spPr/>
        <p:txBody>
          <a:bodyPr/>
          <a:lstStyle/>
          <a:p>
            <a:fld id="{99CD9771-9090-4167-B37B-7CC6BD0F462C}" type="slidenum">
              <a:rPr lang="en-US" smtClean="0"/>
              <a:t>53</a:t>
            </a:fld>
            <a:endParaRPr lang="en-US"/>
          </a:p>
        </p:txBody>
      </p:sp>
    </p:spTree>
    <p:extLst>
      <p:ext uri="{BB962C8B-B14F-4D97-AF65-F5344CB8AC3E}">
        <p14:creationId xmlns:p14="http://schemas.microsoft.com/office/powerpoint/2010/main" val="17373739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our colors defined, I can pretty up the table a bit. </a:t>
            </a:r>
          </a:p>
          <a:p>
            <a:r>
              <a:rPr lang="en-US" dirty="0"/>
              <a:t>I removed all the vertical lines between columns and the rules between the table rows </a:t>
            </a:r>
          </a:p>
          <a:p>
            <a:r>
              <a:rPr lang="en-US" dirty="0"/>
              <a:t>I’m asking instead for the rows to alternate gray and white– and the gray is a 25% saturation of the official ARC gray.</a:t>
            </a:r>
          </a:p>
          <a:p>
            <a:r>
              <a:rPr lang="en-US" dirty="0"/>
              <a:t>I also asked for some extra vertical spacing in the table (25% extra to be precise).</a:t>
            </a:r>
          </a:p>
          <a:p>
            <a:r>
              <a:rPr lang="en-US" dirty="0"/>
              <a:t>And after the \end{tabular} statement, note that I reset the table row shading to the default. Why did I do that? The </a:t>
            </a:r>
            <a:r>
              <a:rPr lang="en-US" dirty="0" err="1"/>
              <a:t>piechart’s</a:t>
            </a:r>
            <a:r>
              <a:rPr lang="en-US" dirty="0"/>
              <a:t> legend is also a table, and I don’t want the alternating shading to propagate to the legend.</a:t>
            </a:r>
          </a:p>
        </p:txBody>
      </p:sp>
      <p:sp>
        <p:nvSpPr>
          <p:cNvPr id="4" name="Slide Number Placeholder 3"/>
          <p:cNvSpPr>
            <a:spLocks noGrp="1"/>
          </p:cNvSpPr>
          <p:nvPr>
            <p:ph type="sldNum" sz="quarter" idx="5"/>
          </p:nvPr>
        </p:nvSpPr>
        <p:spPr/>
        <p:txBody>
          <a:bodyPr/>
          <a:lstStyle/>
          <a:p>
            <a:fld id="{99CD9771-9090-4167-B37B-7CC6BD0F462C}" type="slidenum">
              <a:rPr lang="en-US" smtClean="0"/>
              <a:t>54</a:t>
            </a:fld>
            <a:endParaRPr lang="en-US"/>
          </a:p>
        </p:txBody>
      </p:sp>
    </p:spTree>
    <p:extLst>
      <p:ext uri="{BB962C8B-B14F-4D97-AF65-F5344CB8AC3E}">
        <p14:creationId xmlns:p14="http://schemas.microsoft.com/office/powerpoint/2010/main" val="159606058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shaping up nicely. But maybe we’d like to have the “Demographic Profile” text serve as a header at the top of every page? And what if we could have our agency logo print on the bottom of every page? And maybe the logo could be clickable and open up our agency webpage? And what if the section headings could also serve as bookmarks in the final PDF?</a:t>
            </a:r>
          </a:p>
          <a:p>
            <a:endParaRPr lang="en-US" dirty="0"/>
          </a:p>
          <a:p>
            <a:r>
              <a:rPr lang="en-US" dirty="0"/>
              <a:t>Guess what: four more packages!</a:t>
            </a:r>
          </a:p>
        </p:txBody>
      </p:sp>
      <p:sp>
        <p:nvSpPr>
          <p:cNvPr id="4" name="Slide Number Placeholder 3"/>
          <p:cNvSpPr>
            <a:spLocks noGrp="1"/>
          </p:cNvSpPr>
          <p:nvPr>
            <p:ph type="sldNum" sz="quarter" idx="5"/>
          </p:nvPr>
        </p:nvSpPr>
        <p:spPr/>
        <p:txBody>
          <a:bodyPr/>
          <a:lstStyle/>
          <a:p>
            <a:fld id="{99CD9771-9090-4167-B37B-7CC6BD0F462C}" type="slidenum">
              <a:rPr lang="en-US" smtClean="0"/>
              <a:t>55</a:t>
            </a:fld>
            <a:endParaRPr lang="en-US"/>
          </a:p>
        </p:txBody>
      </p:sp>
    </p:spTree>
    <p:extLst>
      <p:ext uri="{BB962C8B-B14F-4D97-AF65-F5344CB8AC3E}">
        <p14:creationId xmlns:p14="http://schemas.microsoft.com/office/powerpoint/2010/main" val="5467788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fancyheader</a:t>
            </a:r>
            <a:r>
              <a:rPr lang="en-US" dirty="0"/>
              <a:t> package lets us define special headers and footers. The header will have the “Demographic Profile” heading in large indigo colored text. The footer will have our agency logo as a clickable link (courtesy of the </a:t>
            </a:r>
            <a:r>
              <a:rPr lang="en-US" dirty="0" err="1"/>
              <a:t>href</a:t>
            </a:r>
            <a:r>
              <a:rPr lang="en-US" dirty="0"/>
              <a:t>) in the lower right.</a:t>
            </a:r>
          </a:p>
          <a:p>
            <a:r>
              <a:rPr lang="en-US" dirty="0"/>
              <a:t>And to suppress page numbers, which would appear bottom center by default, I defined an empty center footer.</a:t>
            </a:r>
          </a:p>
          <a:p>
            <a:r>
              <a:rPr lang="en-US" dirty="0"/>
              <a:t>The </a:t>
            </a:r>
            <a:r>
              <a:rPr lang="en-US" dirty="0" err="1"/>
              <a:t>hyperref</a:t>
            </a:r>
            <a:r>
              <a:rPr lang="en-US" dirty="0"/>
              <a:t> </a:t>
            </a:r>
            <a:r>
              <a:rPr lang="en-US" dirty="0" err="1"/>
              <a:t>packge</a:t>
            </a:r>
            <a:r>
              <a:rPr lang="en-US" dirty="0"/>
              <a:t> allows the hyperlink; the bookmark packages allows for bookmarks, and the graphic package allows me to insert the ARC logo as an image. Note that I have the ARC logo scale so that it will be ¼” tall.</a:t>
            </a:r>
          </a:p>
        </p:txBody>
      </p:sp>
      <p:sp>
        <p:nvSpPr>
          <p:cNvPr id="4" name="Slide Number Placeholder 3"/>
          <p:cNvSpPr>
            <a:spLocks noGrp="1"/>
          </p:cNvSpPr>
          <p:nvPr>
            <p:ph type="sldNum" sz="quarter" idx="5"/>
          </p:nvPr>
        </p:nvSpPr>
        <p:spPr/>
        <p:txBody>
          <a:bodyPr/>
          <a:lstStyle/>
          <a:p>
            <a:fld id="{99CD9771-9090-4167-B37B-7CC6BD0F462C}" type="slidenum">
              <a:rPr lang="en-US" smtClean="0"/>
              <a:t>56</a:t>
            </a:fld>
            <a:endParaRPr lang="en-US"/>
          </a:p>
        </p:txBody>
      </p:sp>
    </p:spTree>
    <p:extLst>
      <p:ext uri="{BB962C8B-B14F-4D97-AF65-F5344CB8AC3E}">
        <p14:creationId xmlns:p14="http://schemas.microsoft.com/office/powerpoint/2010/main" val="1722424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we have our headers and footers. And were you to click on the ARC logo, you’d have our website open in a browser</a:t>
            </a:r>
          </a:p>
          <a:p>
            <a:r>
              <a:rPr lang="en-US" dirty="0"/>
              <a:t>One last enhancement: I’d like to have the section headings match the header in terms of color.</a:t>
            </a:r>
          </a:p>
        </p:txBody>
      </p:sp>
      <p:sp>
        <p:nvSpPr>
          <p:cNvPr id="4" name="Slide Number Placeholder 3"/>
          <p:cNvSpPr>
            <a:spLocks noGrp="1"/>
          </p:cNvSpPr>
          <p:nvPr>
            <p:ph type="sldNum" sz="quarter" idx="5"/>
          </p:nvPr>
        </p:nvSpPr>
        <p:spPr/>
        <p:txBody>
          <a:bodyPr/>
          <a:lstStyle/>
          <a:p>
            <a:fld id="{99CD9771-9090-4167-B37B-7CC6BD0F462C}" type="slidenum">
              <a:rPr lang="en-US" smtClean="0"/>
              <a:t>57</a:t>
            </a:fld>
            <a:endParaRPr lang="en-US"/>
          </a:p>
        </p:txBody>
      </p:sp>
    </p:spTree>
    <p:extLst>
      <p:ext uri="{BB962C8B-B14F-4D97-AF65-F5344CB8AC3E}">
        <p14:creationId xmlns:p14="http://schemas.microsoft.com/office/powerpoint/2010/main" val="357777396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accomplish this by adding a </a:t>
            </a:r>
            <a:r>
              <a:rPr lang="en-US" dirty="0" err="1"/>
              <a:t>textcolor</a:t>
            </a:r>
            <a:r>
              <a:rPr lang="en-US" dirty="0"/>
              <a:t> command to the section heading.</a:t>
            </a:r>
          </a:p>
          <a:p>
            <a:r>
              <a:rPr lang="en-US" dirty="0"/>
              <a:t>Below that, you see “</a:t>
            </a:r>
            <a:r>
              <a:rPr lang="en-US" dirty="0" err="1"/>
              <a:t>addcontentsline</a:t>
            </a:r>
            <a:r>
              <a:rPr lang="en-US" dirty="0"/>
              <a:t>”. We need that because the starred version of the section headers suppresses not just the numbering, but it also suppresses bookmarks.</a:t>
            </a:r>
          </a:p>
        </p:txBody>
      </p:sp>
      <p:sp>
        <p:nvSpPr>
          <p:cNvPr id="4" name="Slide Number Placeholder 3"/>
          <p:cNvSpPr>
            <a:spLocks noGrp="1"/>
          </p:cNvSpPr>
          <p:nvPr>
            <p:ph type="sldNum" sz="quarter" idx="5"/>
          </p:nvPr>
        </p:nvSpPr>
        <p:spPr/>
        <p:txBody>
          <a:bodyPr/>
          <a:lstStyle/>
          <a:p>
            <a:fld id="{99CD9771-9090-4167-B37B-7CC6BD0F462C}" type="slidenum">
              <a:rPr lang="en-US" smtClean="0"/>
              <a:t>58</a:t>
            </a:fld>
            <a:endParaRPr lang="en-US"/>
          </a:p>
        </p:txBody>
      </p:sp>
    </p:spTree>
    <p:extLst>
      <p:ext uri="{BB962C8B-B14F-4D97-AF65-F5344CB8AC3E}">
        <p14:creationId xmlns:p14="http://schemas.microsoft.com/office/powerpoint/2010/main" val="25280599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there’s our sample factsheet. We could continue to enhance the design, but then I wouldn’t have time to demo the good part– the automation.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promised to show applications using platforms other than Stata, so we’ll do an example in Python.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Again, this will move quickly, but rest assured that the code we’re about to look at is in the repository for you to inspect further.</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59</a:t>
            </a:fld>
            <a:endParaRPr lang="en-US"/>
          </a:p>
        </p:txBody>
      </p:sp>
    </p:spTree>
    <p:extLst>
      <p:ext uri="{BB962C8B-B14F-4D97-AF65-F5344CB8AC3E}">
        <p14:creationId xmlns:p14="http://schemas.microsoft.com/office/powerpoint/2010/main" val="122933458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we want to put geography specific data into each report, the first step is to assemble these data. </a:t>
            </a:r>
          </a:p>
          <a:p>
            <a:r>
              <a:rPr lang="en-US" dirty="0"/>
              <a:t>We’ll get the data from the Census Bureau via a series of API calls. Our data profile needs four tables: B03002 (race x ethnicity); B15002 (educational attainment); and B25070 and B25091 (cost burden for renters and owners)</a:t>
            </a:r>
          </a:p>
          <a:p>
            <a:r>
              <a:rPr lang="en-US" dirty="0"/>
              <a:t>The Census Bureau is now requiring API keys for all API calls, so you’ll need to get your own key to put in on line 7. We request each table (in my example for all counties in Georgia), then sew them up together into one master counties </a:t>
            </a:r>
            <a:r>
              <a:rPr lang="en-US" dirty="0" err="1"/>
              <a:t>dataframe</a:t>
            </a:r>
            <a:r>
              <a:rPr lang="en-US" dirty="0"/>
              <a:t>.</a:t>
            </a:r>
          </a:p>
          <a:p>
            <a:endParaRPr lang="en-US" dirty="0"/>
          </a:p>
          <a:p>
            <a:r>
              <a:rPr lang="en-US" dirty="0"/>
              <a:t>The Census API doesn’t support a group call for more than one table, so we loop through the list of tables that I defined in line 8.</a:t>
            </a:r>
          </a:p>
          <a:p>
            <a:endParaRPr lang="en-US" dirty="0"/>
          </a:p>
          <a:p>
            <a:r>
              <a:rPr lang="en-US" dirty="0"/>
              <a:t>You see down at line 32 I have a shorter list of just two tables; we need the cost burden tables for the state as well in order to make the comparisons. Same basic process.</a:t>
            </a:r>
          </a:p>
        </p:txBody>
      </p:sp>
      <p:sp>
        <p:nvSpPr>
          <p:cNvPr id="4" name="Slide Number Placeholder 3"/>
          <p:cNvSpPr>
            <a:spLocks noGrp="1"/>
          </p:cNvSpPr>
          <p:nvPr>
            <p:ph type="sldNum" sz="quarter" idx="5"/>
          </p:nvPr>
        </p:nvSpPr>
        <p:spPr/>
        <p:txBody>
          <a:bodyPr/>
          <a:lstStyle/>
          <a:p>
            <a:fld id="{99CD9771-9090-4167-B37B-7CC6BD0F462C}" type="slidenum">
              <a:rPr lang="en-US" smtClean="0"/>
              <a:t>60</a:t>
            </a:fld>
            <a:endParaRPr lang="en-US"/>
          </a:p>
        </p:txBody>
      </p:sp>
    </p:spTree>
    <p:extLst>
      <p:ext uri="{BB962C8B-B14F-4D97-AF65-F5344CB8AC3E}">
        <p14:creationId xmlns:p14="http://schemas.microsoft.com/office/powerpoint/2010/main" val="412940336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is to calculate the actual data columns we need within the </a:t>
            </a:r>
            <a:r>
              <a:rPr lang="en-US" dirty="0" err="1"/>
              <a:t>dataframe</a:t>
            </a:r>
            <a:r>
              <a:rPr lang="en-US" dirty="0"/>
              <a:t>: for example, line 72 defines my percent high school column (</a:t>
            </a:r>
            <a:r>
              <a:rPr lang="en-US" dirty="0" err="1"/>
              <a:t>pHS</a:t>
            </a:r>
            <a:r>
              <a:rPr lang="en-US" dirty="0"/>
              <a:t>) as the number of males who graduated high school (and went no further) plus the number of females who did the same, divided by the total population ages 25 and over– the universe for table B15002.</a:t>
            </a:r>
          </a:p>
          <a:p>
            <a:endParaRPr lang="en-US" dirty="0"/>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61</a:t>
            </a:fld>
            <a:endParaRPr lang="en-US"/>
          </a:p>
        </p:txBody>
      </p:sp>
    </p:spTree>
    <p:extLst>
      <p:ext uri="{BB962C8B-B14F-4D97-AF65-F5344CB8AC3E}">
        <p14:creationId xmlns:p14="http://schemas.microsoft.com/office/powerpoint/2010/main" val="20154276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0E186-E2FE-9B3D-6108-A95EEAE1EA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9D8487-4912-F353-2FDA-7F7D34CA8A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BEC193-92BC-5578-3ACE-EBEE2424B359}"/>
              </a:ext>
            </a:extLst>
          </p:cNvPr>
          <p:cNvSpPr>
            <a:spLocks noGrp="1"/>
          </p:cNvSpPr>
          <p:nvPr>
            <p:ph type="body" idx="1"/>
          </p:nvPr>
        </p:nvSpPr>
        <p:spPr/>
        <p:txBody>
          <a:bodyPr/>
          <a:lstStyle/>
          <a:p>
            <a:r>
              <a:rPr lang="en-US" dirty="0"/>
              <a:t>So now we have the data pulled from Census and the required indicators are all calculated.</a:t>
            </a:r>
          </a:p>
          <a:p>
            <a:endParaRPr lang="en-US" dirty="0"/>
          </a:p>
          <a:p>
            <a:r>
              <a:rPr lang="en-US" dirty="0"/>
              <a:t>For the next step, we loop through the rows of our counties </a:t>
            </a:r>
            <a:r>
              <a:rPr lang="en-US" dirty="0" err="1"/>
              <a:t>dataframe</a:t>
            </a:r>
            <a:r>
              <a:rPr lang="en-US" dirty="0"/>
              <a:t> and write the LaTeX code needed to generate each profile. We’re basically just programming a giant </a:t>
            </a:r>
            <a:r>
              <a:rPr lang="en-US" dirty="0" err="1"/>
              <a:t>mailmerge</a:t>
            </a:r>
            <a:r>
              <a:rPr lang="en-US" dirty="0"/>
              <a:t>!</a:t>
            </a:r>
          </a:p>
          <a:p>
            <a:endParaRPr lang="en-US" dirty="0"/>
          </a:p>
          <a:p>
            <a:r>
              <a:rPr lang="en-US" dirty="0"/>
              <a:t>Line 132 opens a file for writing using the file handle </a:t>
            </a:r>
            <a:r>
              <a:rPr lang="en-US" dirty="0" err="1"/>
              <a:t>latex_file</a:t>
            </a:r>
            <a:r>
              <a:rPr lang="en-US" dirty="0"/>
              <a:t>. The subsequent lines just write the contents of the LaTeX file we designed line by line to this new file. </a:t>
            </a:r>
          </a:p>
          <a:p>
            <a:endParaRPr lang="en-US" dirty="0"/>
          </a:p>
          <a:p>
            <a:r>
              <a:rPr lang="en-US" dirty="0"/>
              <a:t>Note that in lines like 143 we take advantage of the magic of f-strings to write the pieces of data unique to that particular county to the file (in this case the name)</a:t>
            </a:r>
          </a:p>
          <a:p>
            <a:endParaRPr lang="en-US" dirty="0"/>
          </a:p>
        </p:txBody>
      </p:sp>
      <p:sp>
        <p:nvSpPr>
          <p:cNvPr id="4" name="Slide Number Placeholder 3">
            <a:extLst>
              <a:ext uri="{FF2B5EF4-FFF2-40B4-BE49-F238E27FC236}">
                <a16:creationId xmlns:a16="http://schemas.microsoft.com/office/drawing/2014/main" id="{E445C6A0-BF4B-D0B5-3536-158080CFCACE}"/>
              </a:ext>
            </a:extLst>
          </p:cNvPr>
          <p:cNvSpPr>
            <a:spLocks noGrp="1"/>
          </p:cNvSpPr>
          <p:nvPr>
            <p:ph type="sldNum" sz="quarter" idx="5"/>
          </p:nvPr>
        </p:nvSpPr>
        <p:spPr/>
        <p:txBody>
          <a:bodyPr/>
          <a:lstStyle/>
          <a:p>
            <a:fld id="{99CD9771-9090-4167-B37B-7CC6BD0F462C}" type="slidenum">
              <a:rPr lang="en-US" smtClean="0"/>
              <a:t>62</a:t>
            </a:fld>
            <a:endParaRPr lang="en-US"/>
          </a:p>
        </p:txBody>
      </p:sp>
    </p:spTree>
    <p:extLst>
      <p:ext uri="{BB962C8B-B14F-4D97-AF65-F5344CB8AC3E}">
        <p14:creationId xmlns:p14="http://schemas.microsoft.com/office/powerpoint/2010/main" val="199419259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AEC58-6166-1727-7AB9-818BC9FE1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529915-9969-B1F7-493A-2637B6ADB4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C1D0EC-C0C6-89DF-8811-6881515BC6A1}"/>
              </a:ext>
            </a:extLst>
          </p:cNvPr>
          <p:cNvSpPr>
            <a:spLocks noGrp="1"/>
          </p:cNvSpPr>
          <p:nvPr>
            <p:ph type="body" idx="1"/>
          </p:nvPr>
        </p:nvSpPr>
        <p:spPr/>
        <p:txBody>
          <a:bodyPr/>
          <a:lstStyle/>
          <a:p>
            <a:r>
              <a:rPr lang="en-US" dirty="0"/>
              <a:t>Same deal here in lines 182-187 where we write the population counts and percent for each racial or ethnic group for the applicable county. </a:t>
            </a:r>
          </a:p>
          <a:p>
            <a:r>
              <a:rPr lang="en-US" dirty="0"/>
              <a:t>The f in f-string stands for formatted so, we can specify how we want numbers to be formatted.</a:t>
            </a:r>
          </a:p>
          <a:p>
            <a:r>
              <a:rPr lang="en-US" dirty="0"/>
              <a:t>I’m asking for the population counts to be formatted with commas separating thousands, and for percents to be rounded to zero decimals. You can change this to taste.</a:t>
            </a:r>
          </a:p>
        </p:txBody>
      </p:sp>
      <p:sp>
        <p:nvSpPr>
          <p:cNvPr id="4" name="Slide Number Placeholder 3">
            <a:extLst>
              <a:ext uri="{FF2B5EF4-FFF2-40B4-BE49-F238E27FC236}">
                <a16:creationId xmlns:a16="http://schemas.microsoft.com/office/drawing/2014/main" id="{25873EAC-D6B8-18FE-E096-87F5624EF07C}"/>
              </a:ext>
            </a:extLst>
          </p:cNvPr>
          <p:cNvSpPr>
            <a:spLocks noGrp="1"/>
          </p:cNvSpPr>
          <p:nvPr>
            <p:ph type="sldNum" sz="quarter" idx="5"/>
          </p:nvPr>
        </p:nvSpPr>
        <p:spPr/>
        <p:txBody>
          <a:bodyPr/>
          <a:lstStyle/>
          <a:p>
            <a:fld id="{99CD9771-9090-4167-B37B-7CC6BD0F462C}" type="slidenum">
              <a:rPr lang="en-US" smtClean="0"/>
              <a:t>63</a:t>
            </a:fld>
            <a:endParaRPr lang="en-US"/>
          </a:p>
        </p:txBody>
      </p:sp>
    </p:spTree>
    <p:extLst>
      <p:ext uri="{BB962C8B-B14F-4D97-AF65-F5344CB8AC3E}">
        <p14:creationId xmlns:p14="http://schemas.microsoft.com/office/powerpoint/2010/main" val="69942290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C65DD-128E-C2CB-9366-005473EB9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059F57-A38B-D3C5-19FE-EE95A3C3F4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5547B-32F6-1B21-5251-CBBF799DBDEB}"/>
              </a:ext>
            </a:extLst>
          </p:cNvPr>
          <p:cNvSpPr>
            <a:spLocks noGrp="1"/>
          </p:cNvSpPr>
          <p:nvPr>
            <p:ph type="body" idx="1"/>
          </p:nvPr>
        </p:nvSpPr>
        <p:spPr/>
        <p:txBody>
          <a:bodyPr/>
          <a:lstStyle/>
          <a:p>
            <a:r>
              <a:rPr lang="en-US" dirty="0"/>
              <a:t>And then when we’re done writing the all of our code, line 273 closes the LaTeX document.</a:t>
            </a:r>
          </a:p>
          <a:p>
            <a:endParaRPr lang="en-US" dirty="0"/>
          </a:p>
          <a:p>
            <a:r>
              <a:rPr lang="en-US" dirty="0"/>
              <a:t>Lines 275 till the end invokes </a:t>
            </a:r>
            <a:r>
              <a:rPr lang="en-US" dirty="0" err="1"/>
              <a:t>LuaLaTeX</a:t>
            </a:r>
            <a:r>
              <a:rPr lang="en-US" dirty="0"/>
              <a:t> to compile the LaTeX code to a PDF, and then do some cleanup by deleting the intermediate files that get created along the process.</a:t>
            </a:r>
          </a:p>
        </p:txBody>
      </p:sp>
      <p:sp>
        <p:nvSpPr>
          <p:cNvPr id="4" name="Slide Number Placeholder 3">
            <a:extLst>
              <a:ext uri="{FF2B5EF4-FFF2-40B4-BE49-F238E27FC236}">
                <a16:creationId xmlns:a16="http://schemas.microsoft.com/office/drawing/2014/main" id="{DF7FB27D-52D8-DFED-73CA-EEA03E684833}"/>
              </a:ext>
            </a:extLst>
          </p:cNvPr>
          <p:cNvSpPr>
            <a:spLocks noGrp="1"/>
          </p:cNvSpPr>
          <p:nvPr>
            <p:ph type="sldNum" sz="quarter" idx="5"/>
          </p:nvPr>
        </p:nvSpPr>
        <p:spPr/>
        <p:txBody>
          <a:bodyPr/>
          <a:lstStyle/>
          <a:p>
            <a:fld id="{99CD9771-9090-4167-B37B-7CC6BD0F462C}" type="slidenum">
              <a:rPr lang="en-US" smtClean="0"/>
              <a:t>64</a:t>
            </a:fld>
            <a:endParaRPr lang="en-US"/>
          </a:p>
        </p:txBody>
      </p:sp>
    </p:spTree>
    <p:extLst>
      <p:ext uri="{BB962C8B-B14F-4D97-AF65-F5344CB8AC3E}">
        <p14:creationId xmlns:p14="http://schemas.microsoft.com/office/powerpoint/2010/main" val="101412554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29E14-B98B-2648-8D23-0F43A0519E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5DA9E-3853-D90F-3520-94F7EBD404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FC4952-F8B1-3A66-F1A5-DB8AFA4E9F1C}"/>
              </a:ext>
            </a:extLst>
          </p:cNvPr>
          <p:cNvSpPr>
            <a:spLocks noGrp="1"/>
          </p:cNvSpPr>
          <p:nvPr>
            <p:ph type="body" idx="1"/>
          </p:nvPr>
        </p:nvSpPr>
        <p:spPr/>
        <p:txBody>
          <a:bodyPr/>
          <a:lstStyle/>
          <a:p>
            <a:r>
              <a:rPr lang="en-US" dirty="0"/>
              <a:t>The end result is 159 PDF documents, one for each of Georgia’s counties that follow the template we designed. And note the bookmarks that we defined.</a:t>
            </a:r>
          </a:p>
        </p:txBody>
      </p:sp>
      <p:sp>
        <p:nvSpPr>
          <p:cNvPr id="4" name="Slide Number Placeholder 3">
            <a:extLst>
              <a:ext uri="{FF2B5EF4-FFF2-40B4-BE49-F238E27FC236}">
                <a16:creationId xmlns:a16="http://schemas.microsoft.com/office/drawing/2014/main" id="{4DB643A6-5697-7058-A6E8-45BA7FD5BAD2}"/>
              </a:ext>
            </a:extLst>
          </p:cNvPr>
          <p:cNvSpPr>
            <a:spLocks noGrp="1"/>
          </p:cNvSpPr>
          <p:nvPr>
            <p:ph type="sldNum" sz="quarter" idx="5"/>
          </p:nvPr>
        </p:nvSpPr>
        <p:spPr/>
        <p:txBody>
          <a:bodyPr/>
          <a:lstStyle/>
          <a:p>
            <a:fld id="{99CD9771-9090-4167-B37B-7CC6BD0F462C}" type="slidenum">
              <a:rPr lang="en-US" smtClean="0"/>
              <a:t>65</a:t>
            </a:fld>
            <a:endParaRPr lang="en-US"/>
          </a:p>
        </p:txBody>
      </p:sp>
    </p:spTree>
    <p:extLst>
      <p:ext uri="{BB962C8B-B14F-4D97-AF65-F5344CB8AC3E}">
        <p14:creationId xmlns:p14="http://schemas.microsoft.com/office/powerpoint/2010/main" val="40268212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the first unit. And this is a great time to drop off if you were curious but aren’t ready to implement what we just went over. </a:t>
            </a:r>
          </a:p>
          <a:p>
            <a:r>
              <a:rPr lang="en-US" dirty="0"/>
              <a:t>The next unit will get a bit more in the weeds of LaTeX to help you build a document as a prelude to understanding how the table generator I wrote can be used.</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66</a:t>
            </a:fld>
            <a:endParaRPr lang="en-US"/>
          </a:p>
        </p:txBody>
      </p:sp>
    </p:spTree>
    <p:extLst>
      <p:ext uri="{BB962C8B-B14F-4D97-AF65-F5344CB8AC3E}">
        <p14:creationId xmlns:p14="http://schemas.microsoft.com/office/powerpoint/2010/main" val="8198663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a quick review before we take a deeper dive:</a:t>
            </a:r>
          </a:p>
        </p:txBody>
      </p:sp>
      <p:sp>
        <p:nvSpPr>
          <p:cNvPr id="4" name="Slide Number Placeholder 3"/>
          <p:cNvSpPr>
            <a:spLocks noGrp="1"/>
          </p:cNvSpPr>
          <p:nvPr>
            <p:ph type="sldNum" sz="quarter" idx="5"/>
          </p:nvPr>
        </p:nvSpPr>
        <p:spPr/>
        <p:txBody>
          <a:bodyPr/>
          <a:lstStyle/>
          <a:p>
            <a:fld id="{99CD9771-9090-4167-B37B-7CC6BD0F462C}" type="slidenum">
              <a:rPr lang="en-US" smtClean="0"/>
              <a:t>67</a:t>
            </a:fld>
            <a:endParaRPr lang="en-US"/>
          </a:p>
        </p:txBody>
      </p:sp>
    </p:spTree>
    <p:extLst>
      <p:ext uri="{BB962C8B-B14F-4D97-AF65-F5344CB8AC3E}">
        <p14:creationId xmlns:p14="http://schemas.microsoft.com/office/powerpoint/2010/main" val="394702619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I mentioned earlier, LaTeX uses certain characters for special purposes. You’ll need to escape these with a backslash if you want the character itself. </a:t>
            </a:r>
          </a:p>
          <a:p>
            <a:r>
              <a:rPr lang="en-US" dirty="0"/>
              <a:t>Special case: the backslash itself can’t be escaped because, as you probably already noticed a double backslash ends paragraphs and table rows.</a:t>
            </a:r>
          </a:p>
          <a:p>
            <a:r>
              <a:rPr lang="en-US" dirty="0"/>
              <a:t>So there’s a special </a:t>
            </a:r>
            <a:r>
              <a:rPr lang="en-US" dirty="0" err="1"/>
              <a:t>textbackslash</a:t>
            </a:r>
            <a:r>
              <a:rPr lang="en-US" dirty="0"/>
              <a:t> command to produce the backslash character.</a:t>
            </a:r>
          </a:p>
        </p:txBody>
      </p:sp>
      <p:sp>
        <p:nvSpPr>
          <p:cNvPr id="4" name="Slide Number Placeholder 3"/>
          <p:cNvSpPr>
            <a:spLocks noGrp="1"/>
          </p:cNvSpPr>
          <p:nvPr>
            <p:ph type="sldNum" sz="quarter" idx="5"/>
          </p:nvPr>
        </p:nvSpPr>
        <p:spPr/>
        <p:txBody>
          <a:bodyPr/>
          <a:lstStyle/>
          <a:p>
            <a:fld id="{B95DC82A-AE96-413A-99A6-E9307E7CEB3B}" type="slidenum">
              <a:rPr lang="en-US" smtClean="0"/>
              <a:t>68</a:t>
            </a:fld>
            <a:endParaRPr lang="en-US"/>
          </a:p>
        </p:txBody>
      </p:sp>
    </p:spTree>
    <p:extLst>
      <p:ext uri="{BB962C8B-B14F-4D97-AF65-F5344CB8AC3E}">
        <p14:creationId xmlns:p14="http://schemas.microsoft.com/office/powerpoint/2010/main" val="423552556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Returning to the preamble, the document class is a required element (and as I mentioned before, the only required element), and determines the base layout of the document: font, base font size, etc.</a:t>
            </a:r>
          </a:p>
          <a:p>
            <a:r>
              <a:rPr lang="en-US" dirty="0"/>
              <a:t>Here are come useful ones:</a:t>
            </a:r>
          </a:p>
        </p:txBody>
      </p:sp>
      <p:sp>
        <p:nvSpPr>
          <p:cNvPr id="4" name="Slide Number Placeholder 3"/>
          <p:cNvSpPr>
            <a:spLocks noGrp="1"/>
          </p:cNvSpPr>
          <p:nvPr>
            <p:ph type="sldNum" sz="quarter" idx="5"/>
          </p:nvPr>
        </p:nvSpPr>
        <p:spPr/>
        <p:txBody>
          <a:bodyPr/>
          <a:lstStyle/>
          <a:p>
            <a:fld id="{B95DC82A-AE96-413A-99A6-E9307E7CEB3B}" type="slidenum">
              <a:rPr lang="en-US" smtClean="0"/>
              <a:t>69</a:t>
            </a:fld>
            <a:endParaRPr lang="en-US"/>
          </a:p>
        </p:txBody>
      </p:sp>
    </p:spTree>
    <p:extLst>
      <p:ext uri="{BB962C8B-B14F-4D97-AF65-F5344CB8AC3E}">
        <p14:creationId xmlns:p14="http://schemas.microsoft.com/office/powerpoint/2010/main" val="123802396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the options that you can set include the base typeface size, paper size, orientation, and so on. </a:t>
            </a:r>
          </a:p>
          <a:p>
            <a:r>
              <a:rPr lang="en-US" dirty="0"/>
              <a:t>The </a:t>
            </a:r>
            <a:r>
              <a:rPr lang="en-US" dirty="0" err="1"/>
              <a:t>dafting</a:t>
            </a:r>
            <a:r>
              <a:rPr lang="en-US" dirty="0"/>
              <a:t> mode helps you spot formatting issues</a:t>
            </a:r>
          </a:p>
          <a:p>
            <a:r>
              <a:rPr lang="en-US" dirty="0" err="1"/>
              <a:t>Oneside</a:t>
            </a:r>
            <a:r>
              <a:rPr lang="en-US" dirty="0"/>
              <a:t> vs. </a:t>
            </a:r>
            <a:r>
              <a:rPr lang="en-US" dirty="0" err="1"/>
              <a:t>twoside</a:t>
            </a:r>
            <a:r>
              <a:rPr lang="en-US" dirty="0"/>
              <a:t> matters if you’re creating a document to be bound.</a:t>
            </a:r>
          </a:p>
        </p:txBody>
      </p:sp>
      <p:sp>
        <p:nvSpPr>
          <p:cNvPr id="4" name="Slide Number Placeholder 3"/>
          <p:cNvSpPr>
            <a:spLocks noGrp="1"/>
          </p:cNvSpPr>
          <p:nvPr>
            <p:ph type="sldNum" sz="quarter" idx="5"/>
          </p:nvPr>
        </p:nvSpPr>
        <p:spPr/>
        <p:txBody>
          <a:bodyPr/>
          <a:lstStyle/>
          <a:p>
            <a:fld id="{B95DC82A-AE96-413A-99A6-E9307E7CEB3B}" type="slidenum">
              <a:rPr lang="en-US" smtClean="0"/>
              <a:t>70</a:t>
            </a:fld>
            <a:endParaRPr lang="en-US"/>
          </a:p>
        </p:txBody>
      </p:sp>
    </p:spTree>
    <p:extLst>
      <p:ext uri="{BB962C8B-B14F-4D97-AF65-F5344CB8AC3E}">
        <p14:creationId xmlns:p14="http://schemas.microsoft.com/office/powerpoint/2010/main" val="71257728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numbering lets you set what type of numbers</a:t>
            </a:r>
          </a:p>
          <a:p>
            <a:r>
              <a:rPr lang="en-US" dirty="0"/>
              <a:t>Page style lets you change headers and footers (but the </a:t>
            </a:r>
            <a:r>
              <a:rPr lang="en-US" dirty="0" err="1"/>
              <a:t>fancyheader</a:t>
            </a:r>
            <a:r>
              <a:rPr lang="en-US" dirty="0"/>
              <a:t> package lets you do still more)</a:t>
            </a:r>
          </a:p>
        </p:txBody>
      </p:sp>
      <p:sp>
        <p:nvSpPr>
          <p:cNvPr id="4" name="Slide Number Placeholder 3"/>
          <p:cNvSpPr>
            <a:spLocks noGrp="1"/>
          </p:cNvSpPr>
          <p:nvPr>
            <p:ph type="sldNum" sz="quarter" idx="5"/>
          </p:nvPr>
        </p:nvSpPr>
        <p:spPr/>
        <p:txBody>
          <a:bodyPr/>
          <a:lstStyle/>
          <a:p>
            <a:fld id="{B95DC82A-AE96-413A-99A6-E9307E7CEB3B}" type="slidenum">
              <a:rPr lang="en-US" smtClean="0"/>
              <a:t>71</a:t>
            </a:fld>
            <a:endParaRPr lang="en-US"/>
          </a:p>
        </p:txBody>
      </p:sp>
    </p:spTree>
    <p:extLst>
      <p:ext uri="{BB962C8B-B14F-4D97-AF65-F5344CB8AC3E}">
        <p14:creationId xmlns:p14="http://schemas.microsoft.com/office/powerpoint/2010/main" val="4123112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embed things like the title and author in the preamble and have those items appear on title pages, etc.</a:t>
            </a:r>
          </a:p>
        </p:txBody>
      </p:sp>
      <p:sp>
        <p:nvSpPr>
          <p:cNvPr id="4" name="Slide Number Placeholder 3"/>
          <p:cNvSpPr>
            <a:spLocks noGrp="1"/>
          </p:cNvSpPr>
          <p:nvPr>
            <p:ph type="sldNum" sz="quarter" idx="5"/>
          </p:nvPr>
        </p:nvSpPr>
        <p:spPr/>
        <p:txBody>
          <a:bodyPr/>
          <a:lstStyle/>
          <a:p>
            <a:fld id="{B95DC82A-AE96-413A-99A6-E9307E7CEB3B}" type="slidenum">
              <a:rPr lang="en-US" smtClean="0"/>
              <a:t>72</a:t>
            </a:fld>
            <a:endParaRPr lang="en-US"/>
          </a:p>
        </p:txBody>
      </p:sp>
    </p:spTree>
    <p:extLst>
      <p:ext uri="{BB962C8B-B14F-4D97-AF65-F5344CB8AC3E}">
        <p14:creationId xmlns:p14="http://schemas.microsoft.com/office/powerpoint/2010/main" val="77593611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then there are the packages. Here’s a list of some useful ones and what each one does. </a:t>
            </a:r>
          </a:p>
        </p:txBody>
      </p:sp>
      <p:sp>
        <p:nvSpPr>
          <p:cNvPr id="4" name="Slide Number Placeholder 3"/>
          <p:cNvSpPr>
            <a:spLocks noGrp="1"/>
          </p:cNvSpPr>
          <p:nvPr>
            <p:ph type="sldNum" sz="quarter" idx="5"/>
          </p:nvPr>
        </p:nvSpPr>
        <p:spPr/>
        <p:txBody>
          <a:bodyPr/>
          <a:lstStyle/>
          <a:p>
            <a:fld id="{B95DC82A-AE96-413A-99A6-E9307E7CEB3B}" type="slidenum">
              <a:rPr lang="en-US" smtClean="0"/>
              <a:t>73</a:t>
            </a:fld>
            <a:endParaRPr lang="en-US"/>
          </a:p>
        </p:txBody>
      </p:sp>
    </p:spTree>
    <p:extLst>
      <p:ext uri="{BB962C8B-B14F-4D97-AF65-F5344CB8AC3E}">
        <p14:creationId xmlns:p14="http://schemas.microsoft.com/office/powerpoint/2010/main" val="275935999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a:t>
            </a:r>
            <a:r>
              <a:rPr lang="en-US" dirty="0" err="1"/>
              <a:t>fontawesome</a:t>
            </a:r>
            <a:r>
              <a:rPr lang="en-US" dirty="0"/>
              <a:t> lets you include special symbols in your doc.</a:t>
            </a:r>
          </a:p>
        </p:txBody>
      </p:sp>
      <p:sp>
        <p:nvSpPr>
          <p:cNvPr id="4" name="Slide Number Placeholder 3"/>
          <p:cNvSpPr>
            <a:spLocks noGrp="1"/>
          </p:cNvSpPr>
          <p:nvPr>
            <p:ph type="sldNum" sz="quarter" idx="5"/>
          </p:nvPr>
        </p:nvSpPr>
        <p:spPr/>
        <p:txBody>
          <a:bodyPr/>
          <a:lstStyle/>
          <a:p>
            <a:fld id="{B95DC82A-AE96-413A-99A6-E9307E7CEB3B}" type="slidenum">
              <a:rPr lang="en-US" smtClean="0"/>
              <a:t>74</a:t>
            </a:fld>
            <a:endParaRPr lang="en-US"/>
          </a:p>
        </p:txBody>
      </p:sp>
    </p:spTree>
    <p:extLst>
      <p:ext uri="{BB962C8B-B14F-4D97-AF65-F5344CB8AC3E}">
        <p14:creationId xmlns:p14="http://schemas.microsoft.com/office/powerpoint/2010/main" val="73887756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of these that are Especially useful include </a:t>
            </a:r>
            <a:r>
              <a:rPr lang="en-US" dirty="0" err="1"/>
              <a:t>tcolorbox</a:t>
            </a:r>
            <a:r>
              <a:rPr lang="en-US" dirty="0"/>
              <a:t>, which is responsible for the green box, the blue box, and then the colored bars marking each section in our data profiles.</a:t>
            </a:r>
          </a:p>
          <a:p>
            <a:endParaRPr lang="en-US" dirty="0"/>
          </a:p>
          <a:p>
            <a:r>
              <a:rPr lang="en-US" dirty="0"/>
              <a:t>The graphic package we saw earlier; it allows me to include the ARC logo and also the locator maps that exist as external files.</a:t>
            </a:r>
          </a:p>
          <a:p>
            <a:endParaRPr lang="en-US" dirty="0"/>
          </a:p>
          <a:p>
            <a:r>
              <a:rPr lang="en-US" dirty="0"/>
              <a:t>And the endnote package allows me to have endnotes with all of my data sources.</a:t>
            </a:r>
          </a:p>
        </p:txBody>
      </p:sp>
      <p:sp>
        <p:nvSpPr>
          <p:cNvPr id="4" name="Slide Number Placeholder 3"/>
          <p:cNvSpPr>
            <a:spLocks noGrp="1"/>
          </p:cNvSpPr>
          <p:nvPr>
            <p:ph type="sldNum" sz="quarter" idx="5"/>
          </p:nvPr>
        </p:nvSpPr>
        <p:spPr/>
        <p:txBody>
          <a:bodyPr/>
          <a:lstStyle/>
          <a:p>
            <a:fld id="{B95DC82A-AE96-413A-99A6-E9307E7CEB3B}" type="slidenum">
              <a:rPr lang="en-US" smtClean="0"/>
              <a:t>75</a:t>
            </a:fld>
            <a:endParaRPr lang="en-US"/>
          </a:p>
        </p:txBody>
      </p:sp>
    </p:spTree>
    <p:extLst>
      <p:ext uri="{BB962C8B-B14F-4D97-AF65-F5344CB8AC3E}">
        <p14:creationId xmlns:p14="http://schemas.microsoft.com/office/powerpoint/2010/main" val="319783038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dirty="0"/>
              <a:t>R users know CRAN --- </a:t>
            </a:r>
            <a:r>
              <a:rPr lang="en-US" b="0" u="none" strike="noStrike" dirty="0">
                <a:solidFill>
                  <a:srgbClr val="4007A2"/>
                </a:solidFill>
                <a:effectLst/>
                <a:latin typeface="Roboto" panose="02000000000000000000" pitchFamily="2" charset="0"/>
              </a:rPr>
              <a:t>The Comprehensive R Archive Network</a:t>
            </a:r>
          </a:p>
          <a:p>
            <a:pPr algn="l"/>
            <a:r>
              <a:rPr lang="en-US" b="0" dirty="0">
                <a:solidFill>
                  <a:srgbClr val="71777D"/>
                </a:solidFill>
                <a:effectLst/>
                <a:latin typeface="Roboto" panose="02000000000000000000" pitchFamily="2" charset="0"/>
              </a:rPr>
              <a:t>Python users use </a:t>
            </a:r>
            <a:r>
              <a:rPr lang="en-US" b="0" dirty="0" err="1">
                <a:solidFill>
                  <a:srgbClr val="71777D"/>
                </a:solidFill>
                <a:effectLst/>
                <a:latin typeface="Roboto" panose="02000000000000000000" pitchFamily="2" charset="0"/>
              </a:rPr>
              <a:t>PyPI</a:t>
            </a:r>
            <a:r>
              <a:rPr lang="en-US" b="0" dirty="0">
                <a:solidFill>
                  <a:srgbClr val="71777D"/>
                </a:solidFill>
                <a:effectLst/>
                <a:latin typeface="Roboto" panose="02000000000000000000" pitchFamily="2" charset="0"/>
              </a:rPr>
              <a:t> (Python Package Index)</a:t>
            </a:r>
          </a:p>
          <a:p>
            <a:pPr algn="l"/>
            <a:r>
              <a:rPr lang="en-US" b="0" dirty="0">
                <a:solidFill>
                  <a:srgbClr val="71777D"/>
                </a:solidFill>
                <a:effectLst/>
                <a:latin typeface="Roboto" panose="02000000000000000000" pitchFamily="2" charset="0"/>
              </a:rPr>
              <a:t>Similarly, </a:t>
            </a:r>
            <a:r>
              <a:rPr lang="en-US" dirty="0"/>
              <a:t>LaTeX has CTAN = Comprehensive </a:t>
            </a:r>
            <a:r>
              <a:rPr lang="en-US" dirty="0" err="1"/>
              <a:t>TeX</a:t>
            </a:r>
            <a:r>
              <a:rPr lang="en-US" dirty="0"/>
              <a:t> Archive Network</a:t>
            </a:r>
          </a:p>
          <a:p>
            <a:r>
              <a:rPr lang="en-US" dirty="0"/>
              <a:t>Over 6,600 packages, all kinds of stuff. Even packages for typesetting chessboards and musical scores</a:t>
            </a:r>
          </a:p>
        </p:txBody>
      </p:sp>
      <p:sp>
        <p:nvSpPr>
          <p:cNvPr id="4" name="Slide Number Placeholder 3"/>
          <p:cNvSpPr>
            <a:spLocks noGrp="1"/>
          </p:cNvSpPr>
          <p:nvPr>
            <p:ph type="sldNum" sz="quarter" idx="5"/>
          </p:nvPr>
        </p:nvSpPr>
        <p:spPr/>
        <p:txBody>
          <a:bodyPr/>
          <a:lstStyle/>
          <a:p>
            <a:fld id="{B95DC82A-AE96-413A-99A6-E9307E7CEB3B}" type="slidenum">
              <a:rPr lang="en-US" smtClean="0"/>
              <a:t>76</a:t>
            </a:fld>
            <a:endParaRPr lang="en-US"/>
          </a:p>
        </p:txBody>
      </p:sp>
    </p:spTree>
    <p:extLst>
      <p:ext uri="{BB962C8B-B14F-4D97-AF65-F5344CB8AC3E}">
        <p14:creationId xmlns:p14="http://schemas.microsoft.com/office/powerpoint/2010/main" val="87699319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special symbols? They’ve got you covered with a comprehensive list.</a:t>
            </a:r>
          </a:p>
        </p:txBody>
      </p:sp>
      <p:sp>
        <p:nvSpPr>
          <p:cNvPr id="4" name="Slide Number Placeholder 3"/>
          <p:cNvSpPr>
            <a:spLocks noGrp="1"/>
          </p:cNvSpPr>
          <p:nvPr>
            <p:ph type="sldNum" sz="quarter" idx="5"/>
          </p:nvPr>
        </p:nvSpPr>
        <p:spPr/>
        <p:txBody>
          <a:bodyPr/>
          <a:lstStyle/>
          <a:p>
            <a:fld id="{B95DC82A-AE96-413A-99A6-E9307E7CEB3B}" type="slidenum">
              <a:rPr lang="en-US" smtClean="0"/>
              <a:t>77</a:t>
            </a:fld>
            <a:endParaRPr lang="en-US"/>
          </a:p>
        </p:txBody>
      </p:sp>
    </p:spTree>
    <p:extLst>
      <p:ext uri="{BB962C8B-B14F-4D97-AF65-F5344CB8AC3E}">
        <p14:creationId xmlns:p14="http://schemas.microsoft.com/office/powerpoint/2010/main" val="107796726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talked a bit about sectioning earlier, but here’s a list of the various levels. Not all levels exist for all document types</a:t>
            </a:r>
          </a:p>
        </p:txBody>
      </p:sp>
      <p:sp>
        <p:nvSpPr>
          <p:cNvPr id="4" name="Slide Number Placeholder 3"/>
          <p:cNvSpPr>
            <a:spLocks noGrp="1"/>
          </p:cNvSpPr>
          <p:nvPr>
            <p:ph type="sldNum" sz="quarter" idx="5"/>
          </p:nvPr>
        </p:nvSpPr>
        <p:spPr/>
        <p:txBody>
          <a:bodyPr/>
          <a:lstStyle/>
          <a:p>
            <a:fld id="{B95DC82A-AE96-413A-99A6-E9307E7CEB3B}" type="slidenum">
              <a:rPr lang="en-US" smtClean="0"/>
              <a:t>78</a:t>
            </a:fld>
            <a:endParaRPr lang="en-US"/>
          </a:p>
        </p:txBody>
      </p:sp>
    </p:spTree>
    <p:extLst>
      <p:ext uri="{BB962C8B-B14F-4D97-AF65-F5344CB8AC3E}">
        <p14:creationId xmlns:p14="http://schemas.microsoft.com/office/powerpoint/2010/main" val="44892847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made some large text during our examples- here is a list of available text size commands. As you can see, it is all relative to the base font size.</a:t>
            </a:r>
          </a:p>
          <a:p>
            <a:r>
              <a:rPr lang="en-US" dirty="0"/>
              <a:t>There are additional packages that provide yet more options for font size.</a:t>
            </a:r>
          </a:p>
        </p:txBody>
      </p:sp>
      <p:sp>
        <p:nvSpPr>
          <p:cNvPr id="4" name="Slide Number Placeholder 3"/>
          <p:cNvSpPr>
            <a:spLocks noGrp="1"/>
          </p:cNvSpPr>
          <p:nvPr>
            <p:ph type="sldNum" sz="quarter" idx="5"/>
          </p:nvPr>
        </p:nvSpPr>
        <p:spPr/>
        <p:txBody>
          <a:bodyPr/>
          <a:lstStyle/>
          <a:p>
            <a:fld id="{B95DC82A-AE96-413A-99A6-E9307E7CEB3B}" type="slidenum">
              <a:rPr lang="en-US" smtClean="0"/>
              <a:t>79</a:t>
            </a:fld>
            <a:endParaRPr lang="en-US"/>
          </a:p>
        </p:txBody>
      </p:sp>
    </p:spTree>
    <p:extLst>
      <p:ext uri="{BB962C8B-B14F-4D97-AF65-F5344CB8AC3E}">
        <p14:creationId xmlns:p14="http://schemas.microsoft.com/office/powerpoint/2010/main" val="406246791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then we have various text styles available</a:t>
            </a:r>
          </a:p>
        </p:txBody>
      </p:sp>
      <p:sp>
        <p:nvSpPr>
          <p:cNvPr id="4" name="Slide Number Placeholder 3"/>
          <p:cNvSpPr>
            <a:spLocks noGrp="1"/>
          </p:cNvSpPr>
          <p:nvPr>
            <p:ph type="sldNum" sz="quarter" idx="5"/>
          </p:nvPr>
        </p:nvSpPr>
        <p:spPr/>
        <p:txBody>
          <a:bodyPr/>
          <a:lstStyle/>
          <a:p>
            <a:fld id="{B95DC82A-AE96-413A-99A6-E9307E7CEB3B}" type="slidenum">
              <a:rPr lang="en-US" smtClean="0"/>
              <a:t>80</a:t>
            </a:fld>
            <a:endParaRPr lang="en-US"/>
          </a:p>
        </p:txBody>
      </p:sp>
    </p:spTree>
    <p:extLst>
      <p:ext uri="{BB962C8B-B14F-4D97-AF65-F5344CB8AC3E}">
        <p14:creationId xmlns:p14="http://schemas.microsoft.com/office/powerpoint/2010/main" val="234450430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mentioned environments before, but here’s a more formal definition:</a:t>
            </a:r>
          </a:p>
          <a:p>
            <a:endParaRPr lang="en-US" dirty="0"/>
          </a:p>
          <a:p>
            <a:r>
              <a:rPr lang="en-US" sz="1200" b="0" i="0" kern="1200" dirty="0">
                <a:solidFill>
                  <a:schemeClr val="tx1"/>
                </a:solidFill>
                <a:effectLst/>
                <a:latin typeface="+mn-lt"/>
                <a:ea typeface="+mn-ea"/>
                <a:cs typeface="+mn-cs"/>
              </a:rPr>
              <a:t>LaTeX environments apply specific typesetting effect(s) to a section of your document based on the type of content.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Here’s a list of some popular environments.</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B95DC82A-AE96-413A-99A6-E9307E7CEB3B}" type="slidenum">
              <a:rPr lang="en-US" smtClean="0"/>
              <a:t>81</a:t>
            </a:fld>
            <a:endParaRPr lang="en-US"/>
          </a:p>
        </p:txBody>
      </p:sp>
    </p:spTree>
    <p:extLst>
      <p:ext uri="{BB962C8B-B14F-4D97-AF65-F5344CB8AC3E}">
        <p14:creationId xmlns:p14="http://schemas.microsoft.com/office/powerpoint/2010/main" val="214704161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a description environment has items and corresponding descriptions</a:t>
            </a:r>
          </a:p>
        </p:txBody>
      </p:sp>
      <p:sp>
        <p:nvSpPr>
          <p:cNvPr id="4" name="Slide Number Placeholder 3"/>
          <p:cNvSpPr>
            <a:spLocks noGrp="1"/>
          </p:cNvSpPr>
          <p:nvPr>
            <p:ph type="sldNum" sz="quarter" idx="5"/>
          </p:nvPr>
        </p:nvSpPr>
        <p:spPr/>
        <p:txBody>
          <a:bodyPr/>
          <a:lstStyle/>
          <a:p>
            <a:fld id="{99CD9771-9090-4167-B37B-7CC6BD0F462C}" type="slidenum">
              <a:rPr lang="en-US" smtClean="0"/>
              <a:t>82</a:t>
            </a:fld>
            <a:endParaRPr lang="en-US"/>
          </a:p>
        </p:txBody>
      </p:sp>
    </p:spTree>
    <p:extLst>
      <p:ext uri="{BB962C8B-B14F-4D97-AF65-F5344CB8AC3E}">
        <p14:creationId xmlns:p14="http://schemas.microsoft.com/office/powerpoint/2010/main" val="328422439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those pairs render.</a:t>
            </a:r>
          </a:p>
        </p:txBody>
      </p:sp>
      <p:sp>
        <p:nvSpPr>
          <p:cNvPr id="4" name="Slide Number Placeholder 3"/>
          <p:cNvSpPr>
            <a:spLocks noGrp="1"/>
          </p:cNvSpPr>
          <p:nvPr>
            <p:ph type="sldNum" sz="quarter" idx="5"/>
          </p:nvPr>
        </p:nvSpPr>
        <p:spPr/>
        <p:txBody>
          <a:bodyPr/>
          <a:lstStyle/>
          <a:p>
            <a:fld id="{99CD9771-9090-4167-B37B-7CC6BD0F462C}" type="slidenum">
              <a:rPr lang="en-US" smtClean="0"/>
              <a:t>83</a:t>
            </a:fld>
            <a:endParaRPr lang="en-US"/>
          </a:p>
        </p:txBody>
      </p:sp>
    </p:spTree>
    <p:extLst>
      <p:ext uri="{BB962C8B-B14F-4D97-AF65-F5344CB8AC3E}">
        <p14:creationId xmlns:p14="http://schemas.microsoft.com/office/powerpoint/2010/main" val="11458199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change the justification of text (left, right, center….) through environments</a:t>
            </a:r>
          </a:p>
        </p:txBody>
      </p:sp>
      <p:sp>
        <p:nvSpPr>
          <p:cNvPr id="4" name="Slide Number Placeholder 3"/>
          <p:cNvSpPr>
            <a:spLocks noGrp="1"/>
          </p:cNvSpPr>
          <p:nvPr>
            <p:ph type="sldNum" sz="quarter" idx="5"/>
          </p:nvPr>
        </p:nvSpPr>
        <p:spPr/>
        <p:txBody>
          <a:bodyPr/>
          <a:lstStyle/>
          <a:p>
            <a:fld id="{99CD9771-9090-4167-B37B-7CC6BD0F462C}" type="slidenum">
              <a:rPr lang="en-US" smtClean="0"/>
              <a:t>84</a:t>
            </a:fld>
            <a:endParaRPr lang="en-US"/>
          </a:p>
        </p:txBody>
      </p:sp>
    </p:spTree>
    <p:extLst>
      <p:ext uri="{BB962C8B-B14F-4D97-AF65-F5344CB8AC3E}">
        <p14:creationId xmlns:p14="http://schemas.microsoft.com/office/powerpoint/2010/main" val="188058176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so.</a:t>
            </a:r>
          </a:p>
        </p:txBody>
      </p:sp>
      <p:sp>
        <p:nvSpPr>
          <p:cNvPr id="4" name="Slide Number Placeholder 3"/>
          <p:cNvSpPr>
            <a:spLocks noGrp="1"/>
          </p:cNvSpPr>
          <p:nvPr>
            <p:ph type="sldNum" sz="quarter" idx="5"/>
          </p:nvPr>
        </p:nvSpPr>
        <p:spPr/>
        <p:txBody>
          <a:bodyPr/>
          <a:lstStyle/>
          <a:p>
            <a:fld id="{99CD9771-9090-4167-B37B-7CC6BD0F462C}" type="slidenum">
              <a:rPr lang="en-US" smtClean="0"/>
              <a:t>85</a:t>
            </a:fld>
            <a:endParaRPr lang="en-US"/>
          </a:p>
        </p:txBody>
      </p:sp>
    </p:spTree>
    <p:extLst>
      <p:ext uri="{BB962C8B-B14F-4D97-AF65-F5344CB8AC3E}">
        <p14:creationId xmlns:p14="http://schemas.microsoft.com/office/powerpoint/2010/main" val="403724125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quotes are handled in the quote environment</a:t>
            </a:r>
          </a:p>
        </p:txBody>
      </p:sp>
      <p:sp>
        <p:nvSpPr>
          <p:cNvPr id="4" name="Slide Number Placeholder 3"/>
          <p:cNvSpPr>
            <a:spLocks noGrp="1"/>
          </p:cNvSpPr>
          <p:nvPr>
            <p:ph type="sldNum" sz="quarter" idx="5"/>
          </p:nvPr>
        </p:nvSpPr>
        <p:spPr/>
        <p:txBody>
          <a:bodyPr/>
          <a:lstStyle/>
          <a:p>
            <a:fld id="{99CD9771-9090-4167-B37B-7CC6BD0F462C}" type="slidenum">
              <a:rPr lang="en-US" smtClean="0"/>
              <a:t>86</a:t>
            </a:fld>
            <a:endParaRPr lang="en-US"/>
          </a:p>
        </p:txBody>
      </p:sp>
    </p:spTree>
    <p:extLst>
      <p:ext uri="{BB962C8B-B14F-4D97-AF65-F5344CB8AC3E}">
        <p14:creationId xmlns:p14="http://schemas.microsoft.com/office/powerpoint/2010/main" val="361240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render like this.</a:t>
            </a:r>
          </a:p>
        </p:txBody>
      </p:sp>
      <p:sp>
        <p:nvSpPr>
          <p:cNvPr id="4" name="Slide Number Placeholder 3"/>
          <p:cNvSpPr>
            <a:spLocks noGrp="1"/>
          </p:cNvSpPr>
          <p:nvPr>
            <p:ph type="sldNum" sz="quarter" idx="5"/>
          </p:nvPr>
        </p:nvSpPr>
        <p:spPr/>
        <p:txBody>
          <a:bodyPr/>
          <a:lstStyle/>
          <a:p>
            <a:fld id="{99CD9771-9090-4167-B37B-7CC6BD0F462C}" type="slidenum">
              <a:rPr lang="en-US" smtClean="0"/>
              <a:t>87</a:t>
            </a:fld>
            <a:endParaRPr lang="en-US"/>
          </a:p>
        </p:txBody>
      </p:sp>
    </p:spTree>
    <p:extLst>
      <p:ext uri="{BB962C8B-B14F-4D97-AF65-F5344CB8AC3E}">
        <p14:creationId xmlns:p14="http://schemas.microsoft.com/office/powerpoint/2010/main" val="391968925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Similarly, the verse environment</a:t>
            </a:r>
          </a:p>
        </p:txBody>
      </p:sp>
      <p:sp>
        <p:nvSpPr>
          <p:cNvPr id="4" name="Slide Number Placeholder 3"/>
          <p:cNvSpPr>
            <a:spLocks noGrp="1"/>
          </p:cNvSpPr>
          <p:nvPr>
            <p:ph type="sldNum" sz="quarter" idx="5"/>
          </p:nvPr>
        </p:nvSpPr>
        <p:spPr/>
        <p:txBody>
          <a:bodyPr/>
          <a:lstStyle/>
          <a:p>
            <a:fld id="{99CD9771-9090-4167-B37B-7CC6BD0F462C}" type="slidenum">
              <a:rPr lang="en-US" smtClean="0"/>
              <a:t>88</a:t>
            </a:fld>
            <a:endParaRPr lang="en-US"/>
          </a:p>
        </p:txBody>
      </p:sp>
    </p:spTree>
    <p:extLst>
      <p:ext uri="{BB962C8B-B14F-4D97-AF65-F5344CB8AC3E}">
        <p14:creationId xmlns:p14="http://schemas.microsoft.com/office/powerpoint/2010/main" val="210036989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good for typesetting poetry.</a:t>
            </a:r>
          </a:p>
        </p:txBody>
      </p:sp>
      <p:sp>
        <p:nvSpPr>
          <p:cNvPr id="4" name="Slide Number Placeholder 3"/>
          <p:cNvSpPr>
            <a:spLocks noGrp="1"/>
          </p:cNvSpPr>
          <p:nvPr>
            <p:ph type="sldNum" sz="quarter" idx="5"/>
          </p:nvPr>
        </p:nvSpPr>
        <p:spPr/>
        <p:txBody>
          <a:bodyPr/>
          <a:lstStyle/>
          <a:p>
            <a:fld id="{99CD9771-9090-4167-B37B-7CC6BD0F462C}" type="slidenum">
              <a:rPr lang="en-US" smtClean="0"/>
              <a:t>89</a:t>
            </a:fld>
            <a:endParaRPr lang="en-US"/>
          </a:p>
        </p:txBody>
      </p:sp>
    </p:spTree>
    <p:extLst>
      <p:ext uri="{BB962C8B-B14F-4D97-AF65-F5344CB8AC3E}">
        <p14:creationId xmlns:p14="http://schemas.microsoft.com/office/powerpoint/2010/main" val="362550886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Lengths are related to spacing. The general format is:</a:t>
            </a:r>
          </a:p>
        </p:txBody>
      </p:sp>
      <p:sp>
        <p:nvSpPr>
          <p:cNvPr id="4" name="Slide Number Placeholder 3"/>
          <p:cNvSpPr>
            <a:spLocks noGrp="1"/>
          </p:cNvSpPr>
          <p:nvPr>
            <p:ph type="sldNum" sz="quarter" idx="5"/>
          </p:nvPr>
        </p:nvSpPr>
        <p:spPr/>
        <p:txBody>
          <a:bodyPr/>
          <a:lstStyle/>
          <a:p>
            <a:fld id="{B95DC82A-AE96-413A-99A6-E9307E7CEB3B}" type="slidenum">
              <a:rPr lang="en-US" smtClean="0"/>
              <a:t>90</a:t>
            </a:fld>
            <a:endParaRPr lang="en-US"/>
          </a:p>
        </p:txBody>
      </p:sp>
    </p:spTree>
    <p:extLst>
      <p:ext uri="{BB962C8B-B14F-4D97-AF65-F5344CB8AC3E}">
        <p14:creationId xmlns:p14="http://schemas.microsoft.com/office/powerpoint/2010/main" val="50303294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Length amounts can be defined in a lot of different ways: points, picas, imperial units, metric units, even typeface dependent units.</a:t>
            </a:r>
          </a:p>
        </p:txBody>
      </p:sp>
      <p:sp>
        <p:nvSpPr>
          <p:cNvPr id="4" name="Slide Number Placeholder 3"/>
          <p:cNvSpPr>
            <a:spLocks noGrp="1"/>
          </p:cNvSpPr>
          <p:nvPr>
            <p:ph type="sldNum" sz="quarter" idx="5"/>
          </p:nvPr>
        </p:nvSpPr>
        <p:spPr/>
        <p:txBody>
          <a:bodyPr/>
          <a:lstStyle/>
          <a:p>
            <a:fld id="{B95DC82A-AE96-413A-99A6-E9307E7CEB3B}" type="slidenum">
              <a:rPr lang="en-US" smtClean="0"/>
              <a:t>91</a:t>
            </a:fld>
            <a:endParaRPr lang="en-US"/>
          </a:p>
        </p:txBody>
      </p:sp>
    </p:spTree>
    <p:extLst>
      <p:ext uri="{BB962C8B-B14F-4D97-AF65-F5344CB8AC3E}">
        <p14:creationId xmlns:p14="http://schemas.microsoft.com/office/powerpoint/2010/main" val="113041887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add vertical or horizontal space with various commands:</a:t>
            </a:r>
          </a:p>
        </p:txBody>
      </p:sp>
      <p:sp>
        <p:nvSpPr>
          <p:cNvPr id="4" name="Slide Number Placeholder 3"/>
          <p:cNvSpPr>
            <a:spLocks noGrp="1"/>
          </p:cNvSpPr>
          <p:nvPr>
            <p:ph type="sldNum" sz="quarter" idx="5"/>
          </p:nvPr>
        </p:nvSpPr>
        <p:spPr/>
        <p:txBody>
          <a:bodyPr/>
          <a:lstStyle/>
          <a:p>
            <a:fld id="{B95DC82A-AE96-413A-99A6-E9307E7CEB3B}" type="slidenum">
              <a:rPr lang="en-US" smtClean="0"/>
              <a:t>92</a:t>
            </a:fld>
            <a:endParaRPr lang="en-US"/>
          </a:p>
        </p:txBody>
      </p:sp>
    </p:spTree>
    <p:extLst>
      <p:ext uri="{BB962C8B-B14F-4D97-AF65-F5344CB8AC3E}">
        <p14:creationId xmlns:p14="http://schemas.microsoft.com/office/powerpoint/2010/main" val="55779585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an illustration between </a:t>
            </a:r>
            <a:r>
              <a:rPr lang="en-US" dirty="0" err="1"/>
              <a:t>hfill</a:t>
            </a:r>
            <a:r>
              <a:rPr lang="en-US" dirty="0"/>
              <a:t>, </a:t>
            </a:r>
            <a:r>
              <a:rPr lang="en-US" dirty="0" err="1"/>
              <a:t>hrulefill</a:t>
            </a:r>
            <a:r>
              <a:rPr lang="en-US" dirty="0"/>
              <a:t>, and </a:t>
            </a:r>
            <a:r>
              <a:rPr lang="en-US" dirty="0" err="1"/>
              <a:t>dotfill</a:t>
            </a:r>
            <a:r>
              <a:rPr lang="en-US" dirty="0"/>
              <a:t>:</a:t>
            </a:r>
          </a:p>
        </p:txBody>
      </p:sp>
      <p:sp>
        <p:nvSpPr>
          <p:cNvPr id="4" name="Slide Number Placeholder 3"/>
          <p:cNvSpPr>
            <a:spLocks noGrp="1"/>
          </p:cNvSpPr>
          <p:nvPr>
            <p:ph type="sldNum" sz="quarter" idx="5"/>
          </p:nvPr>
        </p:nvSpPr>
        <p:spPr/>
        <p:txBody>
          <a:bodyPr/>
          <a:lstStyle/>
          <a:p>
            <a:fld id="{99CD9771-9090-4167-B37B-7CC6BD0F462C}" type="slidenum">
              <a:rPr lang="en-US" smtClean="0"/>
              <a:t>93</a:t>
            </a:fld>
            <a:endParaRPr lang="en-US"/>
          </a:p>
        </p:txBody>
      </p:sp>
    </p:spTree>
    <p:extLst>
      <p:ext uri="{BB962C8B-B14F-4D97-AF65-F5344CB8AC3E}">
        <p14:creationId xmlns:p14="http://schemas.microsoft.com/office/powerpoint/2010/main" val="234248573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how each renders</a:t>
            </a:r>
          </a:p>
        </p:txBody>
      </p:sp>
      <p:sp>
        <p:nvSpPr>
          <p:cNvPr id="4" name="Slide Number Placeholder 3"/>
          <p:cNvSpPr>
            <a:spLocks noGrp="1"/>
          </p:cNvSpPr>
          <p:nvPr>
            <p:ph type="sldNum" sz="quarter" idx="5"/>
          </p:nvPr>
        </p:nvSpPr>
        <p:spPr/>
        <p:txBody>
          <a:bodyPr/>
          <a:lstStyle/>
          <a:p>
            <a:fld id="{99CD9771-9090-4167-B37B-7CC6BD0F462C}" type="slidenum">
              <a:rPr lang="en-US" smtClean="0"/>
              <a:t>94</a:t>
            </a:fld>
            <a:endParaRPr lang="en-US"/>
          </a:p>
        </p:txBody>
      </p:sp>
    </p:spTree>
    <p:extLst>
      <p:ext uri="{BB962C8B-B14F-4D97-AF65-F5344CB8AC3E}">
        <p14:creationId xmlns:p14="http://schemas.microsoft.com/office/powerpoint/2010/main" val="82957355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thing I’ll address is footnotes and endnotes. </a:t>
            </a:r>
          </a:p>
          <a:p>
            <a:r>
              <a:rPr lang="en-US" dirty="0"/>
              <a:t>Footnotes are built in to LaTeX, while endnotes require adding the endnotes package to your preamble. They operate the same, except for where the actual note appears.</a:t>
            </a:r>
          </a:p>
          <a:p>
            <a:r>
              <a:rPr lang="en-US" dirty="0"/>
              <a:t>In both cases, you stick the text inside the footnote or endnote environment at the spot where you want the superscripted number to appear. That seems odd until you realize that this is consistent with how all environments work.</a:t>
            </a:r>
          </a:p>
        </p:txBody>
      </p:sp>
      <p:sp>
        <p:nvSpPr>
          <p:cNvPr id="4" name="Slide Number Placeholder 3"/>
          <p:cNvSpPr>
            <a:spLocks noGrp="1"/>
          </p:cNvSpPr>
          <p:nvPr>
            <p:ph type="sldNum" sz="quarter" idx="5"/>
          </p:nvPr>
        </p:nvSpPr>
        <p:spPr/>
        <p:txBody>
          <a:bodyPr/>
          <a:lstStyle/>
          <a:p>
            <a:fld id="{99CD9771-9090-4167-B37B-7CC6BD0F462C}" type="slidenum">
              <a:rPr lang="en-US" smtClean="0"/>
              <a:t>95</a:t>
            </a:fld>
            <a:endParaRPr lang="en-US"/>
          </a:p>
        </p:txBody>
      </p:sp>
    </p:spTree>
    <p:extLst>
      <p:ext uri="{BB962C8B-B14F-4D97-AF65-F5344CB8AC3E}">
        <p14:creationId xmlns:p14="http://schemas.microsoft.com/office/powerpoint/2010/main" val="413563274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D7D2C-793A-5109-5CF4-C636EAD2A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264188-02D9-1F49-98C7-C50FA491C4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28B5CF-6AE0-7D12-B83A-21EEB931A32D}"/>
              </a:ext>
            </a:extLst>
          </p:cNvPr>
          <p:cNvSpPr>
            <a:spLocks noGrp="1"/>
          </p:cNvSpPr>
          <p:nvPr>
            <p:ph type="body" idx="1"/>
          </p:nvPr>
        </p:nvSpPr>
        <p:spPr/>
        <p:txBody>
          <a:bodyPr/>
          <a:lstStyle/>
          <a:p>
            <a:r>
              <a:rPr lang="en-US" dirty="0"/>
              <a:t>We’re switching over to the 3</a:t>
            </a:r>
            <a:r>
              <a:rPr lang="en-US" baseline="30000" dirty="0"/>
              <a:t>rd</a:t>
            </a:r>
            <a:r>
              <a:rPr lang="en-US" dirty="0"/>
              <a:t> unit, so a good place to drop off if you aren’t interested in the Stata specific tool. I that said, I WILL talk a bit about how it works in case you want to build something similar for a different platform.</a:t>
            </a:r>
          </a:p>
        </p:txBody>
      </p:sp>
      <p:sp>
        <p:nvSpPr>
          <p:cNvPr id="4" name="Slide Number Placeholder 3">
            <a:extLst>
              <a:ext uri="{FF2B5EF4-FFF2-40B4-BE49-F238E27FC236}">
                <a16:creationId xmlns:a16="http://schemas.microsoft.com/office/drawing/2014/main" id="{5C476A1E-58A6-5738-6C16-BE76E9554BA9}"/>
              </a:ext>
            </a:extLst>
          </p:cNvPr>
          <p:cNvSpPr>
            <a:spLocks noGrp="1"/>
          </p:cNvSpPr>
          <p:nvPr>
            <p:ph type="sldNum" sz="quarter" idx="5"/>
          </p:nvPr>
        </p:nvSpPr>
        <p:spPr/>
        <p:txBody>
          <a:bodyPr/>
          <a:lstStyle/>
          <a:p>
            <a:fld id="{99CD9771-9090-4167-B37B-7CC6BD0F462C}" type="slidenum">
              <a:rPr lang="en-US" smtClean="0"/>
              <a:t>97</a:t>
            </a:fld>
            <a:endParaRPr lang="en-US"/>
          </a:p>
        </p:txBody>
      </p:sp>
    </p:spTree>
    <p:extLst>
      <p:ext uri="{BB962C8B-B14F-4D97-AF65-F5344CB8AC3E}">
        <p14:creationId xmlns:p14="http://schemas.microsoft.com/office/powerpoint/2010/main" val="364830681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to have two </a:t>
            </a:r>
            <a:r>
              <a:rPr lang="en-US" dirty="0" err="1"/>
              <a:t>dataframes</a:t>
            </a:r>
            <a:r>
              <a:rPr lang="en-US" dirty="0"/>
              <a:t>: one with the data, the other with a table of tables that defines how the table should be created.</a:t>
            </a:r>
          </a:p>
          <a:p>
            <a:r>
              <a:rPr lang="en-US" dirty="0"/>
              <a:t>The </a:t>
            </a:r>
            <a:r>
              <a:rPr lang="en-US" dirty="0" err="1"/>
              <a:t>LaTable</a:t>
            </a:r>
            <a:r>
              <a:rPr lang="en-US" dirty="0"/>
              <a:t> </a:t>
            </a:r>
            <a:r>
              <a:rPr lang="en-US" dirty="0" err="1"/>
              <a:t>adofile</a:t>
            </a:r>
            <a:r>
              <a:rPr lang="en-US" dirty="0"/>
              <a:t> defined a Stata command that reads the table specs </a:t>
            </a:r>
          </a:p>
          <a:p>
            <a:endParaRPr lang="en-US" dirty="0"/>
          </a:p>
          <a:p>
            <a:r>
              <a:rPr lang="en-US" dirty="0"/>
              <a:t>Because you have to have two </a:t>
            </a:r>
            <a:r>
              <a:rPr lang="en-US" dirty="0" err="1"/>
              <a:t>dataframes</a:t>
            </a:r>
            <a:r>
              <a:rPr lang="en-US" dirty="0"/>
              <a:t> in memory, </a:t>
            </a:r>
            <a:r>
              <a:rPr lang="en-US" dirty="0" err="1"/>
              <a:t>LaTable</a:t>
            </a:r>
            <a:r>
              <a:rPr lang="en-US" dirty="0"/>
              <a:t> requires Stata 16 or higher. Prior versions only allowed one </a:t>
            </a:r>
            <a:r>
              <a:rPr lang="en-US" dirty="0" err="1"/>
              <a:t>dataframe</a:t>
            </a:r>
            <a:r>
              <a:rPr lang="en-US" dirty="0"/>
              <a:t> in memory at a time.</a:t>
            </a:r>
          </a:p>
          <a:p>
            <a:r>
              <a:rPr lang="en-US" dirty="0"/>
              <a:t>Fortunately, we’re now on Stata 19; version 16 came out about seven years ago.</a:t>
            </a:r>
          </a:p>
        </p:txBody>
      </p:sp>
      <p:sp>
        <p:nvSpPr>
          <p:cNvPr id="4" name="Slide Number Placeholder 3"/>
          <p:cNvSpPr>
            <a:spLocks noGrp="1"/>
          </p:cNvSpPr>
          <p:nvPr>
            <p:ph type="sldNum" sz="quarter" idx="5"/>
          </p:nvPr>
        </p:nvSpPr>
        <p:spPr/>
        <p:txBody>
          <a:bodyPr/>
          <a:lstStyle/>
          <a:p>
            <a:fld id="{99CD9771-9090-4167-B37B-7CC6BD0F462C}" type="slidenum">
              <a:rPr lang="en-US" smtClean="0"/>
              <a:t>99</a:t>
            </a:fld>
            <a:endParaRPr lang="en-US"/>
          </a:p>
        </p:txBody>
      </p:sp>
    </p:spTree>
    <p:extLst>
      <p:ext uri="{BB962C8B-B14F-4D97-AF65-F5344CB8AC3E}">
        <p14:creationId xmlns:p14="http://schemas.microsoft.com/office/powerpoint/2010/main" val="203580740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these are the specifications that go into the table definitions</a:t>
            </a:r>
          </a:p>
        </p:txBody>
      </p:sp>
      <p:sp>
        <p:nvSpPr>
          <p:cNvPr id="4" name="Slide Number Placeholder 3"/>
          <p:cNvSpPr>
            <a:spLocks noGrp="1"/>
          </p:cNvSpPr>
          <p:nvPr>
            <p:ph type="sldNum" sz="quarter" idx="5"/>
          </p:nvPr>
        </p:nvSpPr>
        <p:spPr/>
        <p:txBody>
          <a:bodyPr/>
          <a:lstStyle/>
          <a:p>
            <a:fld id="{99CD9771-9090-4167-B37B-7CC6BD0F462C}" type="slidenum">
              <a:rPr lang="en-US" smtClean="0"/>
              <a:t>101</a:t>
            </a:fld>
            <a:endParaRPr lang="en-US"/>
          </a:p>
        </p:txBody>
      </p:sp>
    </p:spTree>
    <p:extLst>
      <p:ext uri="{BB962C8B-B14F-4D97-AF65-F5344CB8AC3E}">
        <p14:creationId xmlns:p14="http://schemas.microsoft.com/office/powerpoint/2010/main" val="55932161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see how this works out in practice: here’s a sample table from the ARC data profiles. Seems simple enough.</a:t>
            </a:r>
          </a:p>
        </p:txBody>
      </p:sp>
      <p:sp>
        <p:nvSpPr>
          <p:cNvPr id="4" name="Slide Number Placeholder 3"/>
          <p:cNvSpPr>
            <a:spLocks noGrp="1"/>
          </p:cNvSpPr>
          <p:nvPr>
            <p:ph type="sldNum" sz="quarter" idx="5"/>
          </p:nvPr>
        </p:nvSpPr>
        <p:spPr/>
        <p:txBody>
          <a:bodyPr/>
          <a:lstStyle/>
          <a:p>
            <a:fld id="{99CD9771-9090-4167-B37B-7CC6BD0F462C}" type="slidenum">
              <a:rPr lang="en-US" smtClean="0"/>
              <a:t>102</a:t>
            </a:fld>
            <a:endParaRPr lang="en-US"/>
          </a:p>
        </p:txBody>
      </p:sp>
    </p:spTree>
    <p:extLst>
      <p:ext uri="{BB962C8B-B14F-4D97-AF65-F5344CB8AC3E}">
        <p14:creationId xmlns:p14="http://schemas.microsoft.com/office/powerpoint/2010/main" val="355136413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there’s actually a fair amount going on here. </a:t>
            </a:r>
          </a:p>
          <a:p>
            <a:r>
              <a:rPr lang="en-US" dirty="0"/>
              <a:t>Every table needs a title. You might want to let the reader know the date or vintage of your data. You probably want a note about the data source. </a:t>
            </a:r>
          </a:p>
          <a:p>
            <a:r>
              <a:rPr lang="en-US" dirty="0"/>
              <a:t>Column headers should be clearly marked; You also want the total row (representing the population) to stand out</a:t>
            </a:r>
            <a:br>
              <a:rPr lang="en-US" dirty="0"/>
            </a:br>
            <a:r>
              <a:rPr lang="en-US" dirty="0"/>
              <a:t>You need to indent some of your categories to show the hierarchy. In this case, Born in the United States is a subset of “Native”, then State of residence and different state are subsets of born in the U.S. </a:t>
            </a:r>
          </a:p>
          <a:p>
            <a:r>
              <a:rPr lang="en-US" dirty="0"/>
              <a:t>And numbers need to be formatted to specific numbers of decimal places; margins of error need the plus/minus; others need a percent sign (or perhaps a dollar sign)</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103</a:t>
            </a:fld>
            <a:endParaRPr lang="en-US"/>
          </a:p>
        </p:txBody>
      </p:sp>
    </p:spTree>
    <p:extLst>
      <p:ext uri="{BB962C8B-B14F-4D97-AF65-F5344CB8AC3E}">
        <p14:creationId xmlns:p14="http://schemas.microsoft.com/office/powerpoint/2010/main" val="43409603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where the table specs come in. So here’s what this table’s specifications look like:</a:t>
            </a:r>
          </a:p>
          <a:p>
            <a:r>
              <a:rPr lang="en-US" dirty="0"/>
              <a:t>First a title row; the content of “notes” will appear in an endnote in the document.</a:t>
            </a:r>
          </a:p>
          <a:p>
            <a:r>
              <a:rPr lang="en-US" dirty="0"/>
              <a:t>Next the Header row has the column headings that will appear in bold</a:t>
            </a:r>
          </a:p>
          <a:p>
            <a:r>
              <a:rPr lang="en-US" dirty="0"/>
              <a:t>The third line has the total, which will render in bold. You can follow any naming convention you like, but I have my estimates and margin of error to have the same names except for the suffixes: _e for the estimate and _m for the margin of error</a:t>
            </a:r>
          </a:p>
          <a:p>
            <a:r>
              <a:rPr lang="en-US" dirty="0"/>
              <a:t>Type 3 (number) tells the routine to report Data3 as an integer with comma separating thousands; Type4 says that Data4 is a margin of error, so add the plus/minus sign.</a:t>
            </a:r>
          </a:p>
          <a:p>
            <a:r>
              <a:rPr lang="en-US" dirty="0"/>
              <a:t>Rows 4-9 are the remaining data. The indent field specifies the hierarchy; now we also have Type3 contain percent (1 decimal and a percent sign) and </a:t>
            </a:r>
            <a:r>
              <a:rPr lang="en-US" dirty="0" err="1"/>
              <a:t>pMOE</a:t>
            </a:r>
            <a:r>
              <a:rPr lang="en-US" dirty="0"/>
              <a:t> (again 1 decimal and a percent sign PLUS a plus/minus).</a:t>
            </a:r>
          </a:p>
        </p:txBody>
      </p:sp>
      <p:sp>
        <p:nvSpPr>
          <p:cNvPr id="4" name="Slide Number Placeholder 3"/>
          <p:cNvSpPr>
            <a:spLocks noGrp="1"/>
          </p:cNvSpPr>
          <p:nvPr>
            <p:ph type="sldNum" sz="quarter" idx="5"/>
          </p:nvPr>
        </p:nvSpPr>
        <p:spPr/>
        <p:txBody>
          <a:bodyPr/>
          <a:lstStyle/>
          <a:p>
            <a:fld id="{99CD9771-9090-4167-B37B-7CC6BD0F462C}" type="slidenum">
              <a:rPr lang="en-US" smtClean="0"/>
              <a:t>104</a:t>
            </a:fld>
            <a:endParaRPr lang="en-US"/>
          </a:p>
        </p:txBody>
      </p:sp>
    </p:spTree>
    <p:extLst>
      <p:ext uri="{BB962C8B-B14F-4D97-AF65-F5344CB8AC3E}">
        <p14:creationId xmlns:p14="http://schemas.microsoft.com/office/powerpoint/2010/main" val="343052256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generate this table by invoking the </a:t>
            </a:r>
            <a:r>
              <a:rPr lang="en-US" dirty="0" err="1"/>
              <a:t>latable</a:t>
            </a:r>
            <a:r>
              <a:rPr lang="en-US" dirty="0"/>
              <a:t> command. The syntax we pass in the command tells the routine information like:</a:t>
            </a:r>
          </a:p>
          <a:p>
            <a:r>
              <a:rPr lang="en-US" dirty="0"/>
              <a:t>Where is the table template file located?</a:t>
            </a:r>
          </a:p>
          <a:p>
            <a:r>
              <a:rPr lang="en-US" dirty="0"/>
              <a:t>What table should be generated from among the templates contained in that file?</a:t>
            </a:r>
          </a:p>
          <a:p>
            <a:r>
              <a:rPr lang="en-US" dirty="0"/>
              <a:t>Should the rows switch off colors? </a:t>
            </a:r>
          </a:p>
          <a:p>
            <a:r>
              <a:rPr lang="en-US" dirty="0"/>
              <a:t>We’re looping through records, so passing a macro to say which observation.</a:t>
            </a:r>
          </a:p>
          <a:p>
            <a:r>
              <a:rPr lang="en-US" dirty="0"/>
              <a:t>And then if you want the year (or some other text added to the title after a comma, then we specify </a:t>
            </a:r>
            <a:r>
              <a:rPr lang="en-US" dirty="0" err="1"/>
              <a:t>printdate</a:t>
            </a:r>
            <a:r>
              <a:rPr lang="en-US" dirty="0"/>
              <a:t>)</a:t>
            </a:r>
          </a:p>
        </p:txBody>
      </p:sp>
      <p:sp>
        <p:nvSpPr>
          <p:cNvPr id="4" name="Slide Number Placeholder 3"/>
          <p:cNvSpPr>
            <a:spLocks noGrp="1"/>
          </p:cNvSpPr>
          <p:nvPr>
            <p:ph type="sldNum" sz="quarter" idx="5"/>
          </p:nvPr>
        </p:nvSpPr>
        <p:spPr/>
        <p:txBody>
          <a:bodyPr/>
          <a:lstStyle/>
          <a:p>
            <a:fld id="{99CD9771-9090-4167-B37B-7CC6BD0F462C}" type="slidenum">
              <a:rPr lang="en-US" smtClean="0"/>
              <a:t>105</a:t>
            </a:fld>
            <a:endParaRPr lang="en-US"/>
          </a:p>
        </p:txBody>
      </p:sp>
    </p:spTree>
    <p:extLst>
      <p:ext uri="{BB962C8B-B14F-4D97-AF65-F5344CB8AC3E}">
        <p14:creationId xmlns:p14="http://schemas.microsoft.com/office/powerpoint/2010/main" val="203740684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generated by that one command (with the correct data embedded)</a:t>
            </a:r>
          </a:p>
        </p:txBody>
      </p:sp>
      <p:sp>
        <p:nvSpPr>
          <p:cNvPr id="4" name="Slide Number Placeholder 3"/>
          <p:cNvSpPr>
            <a:spLocks noGrp="1"/>
          </p:cNvSpPr>
          <p:nvPr>
            <p:ph type="sldNum" sz="quarter" idx="5"/>
          </p:nvPr>
        </p:nvSpPr>
        <p:spPr/>
        <p:txBody>
          <a:bodyPr/>
          <a:lstStyle/>
          <a:p>
            <a:fld id="{99CD9771-9090-4167-B37B-7CC6BD0F462C}" type="slidenum">
              <a:rPr lang="en-US" smtClean="0"/>
              <a:t>106</a:t>
            </a:fld>
            <a:endParaRPr lang="en-US"/>
          </a:p>
        </p:txBody>
      </p:sp>
    </p:spTree>
    <p:extLst>
      <p:ext uri="{BB962C8B-B14F-4D97-AF65-F5344CB8AC3E}">
        <p14:creationId xmlns:p14="http://schemas.microsoft.com/office/powerpoint/2010/main" val="157873938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B8B97-6501-BF7D-3436-79600A8BE0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C90494-D515-5EF0-6F82-6CA989D92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7428E7-EEB8-1E40-63DA-6B7F5A84DF71}"/>
              </a:ext>
            </a:extLst>
          </p:cNvPr>
          <p:cNvSpPr>
            <a:spLocks noGrp="1"/>
          </p:cNvSpPr>
          <p:nvPr>
            <p:ph type="body" idx="1"/>
          </p:nvPr>
        </p:nvSpPr>
        <p:spPr/>
        <p:txBody>
          <a:bodyPr/>
          <a:lstStyle/>
          <a:p>
            <a:r>
              <a:rPr lang="en-US" dirty="0"/>
              <a:t>And that code compiles to create this table.</a:t>
            </a:r>
          </a:p>
        </p:txBody>
      </p:sp>
      <p:sp>
        <p:nvSpPr>
          <p:cNvPr id="4" name="Slide Number Placeholder 3">
            <a:extLst>
              <a:ext uri="{FF2B5EF4-FFF2-40B4-BE49-F238E27FC236}">
                <a16:creationId xmlns:a16="http://schemas.microsoft.com/office/drawing/2014/main" id="{7AA34A24-6831-1FE4-4CFA-C144A612B682}"/>
              </a:ext>
            </a:extLst>
          </p:cNvPr>
          <p:cNvSpPr>
            <a:spLocks noGrp="1"/>
          </p:cNvSpPr>
          <p:nvPr>
            <p:ph type="sldNum" sz="quarter" idx="5"/>
          </p:nvPr>
        </p:nvSpPr>
        <p:spPr/>
        <p:txBody>
          <a:bodyPr/>
          <a:lstStyle/>
          <a:p>
            <a:fld id="{99CD9771-9090-4167-B37B-7CC6BD0F462C}" type="slidenum">
              <a:rPr lang="en-US" smtClean="0"/>
              <a:t>107</a:t>
            </a:fld>
            <a:endParaRPr lang="en-US"/>
          </a:p>
        </p:txBody>
      </p:sp>
    </p:spTree>
    <p:extLst>
      <p:ext uri="{BB962C8B-B14F-4D97-AF65-F5344CB8AC3E}">
        <p14:creationId xmlns:p14="http://schemas.microsoft.com/office/powerpoint/2010/main" val="49812709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 thought it would be nice to do an applied example. I looked who registered for the webinar and poked around on your various websites.</a:t>
            </a:r>
          </a:p>
          <a:p>
            <a:r>
              <a:rPr lang="en-US" dirty="0"/>
              <a:t>I struck paydirt with </a:t>
            </a:r>
            <a:r>
              <a:rPr lang="en-US" dirty="0" err="1"/>
              <a:t>DataHaven</a:t>
            </a:r>
            <a:r>
              <a:rPr lang="en-US" dirty="0"/>
              <a:t>: they have a nice interactive visualization version of city neighborhood profiles, but no static profiles (at least on that page).</a:t>
            </a:r>
          </a:p>
          <a:p>
            <a:r>
              <a:rPr lang="en-US" dirty="0"/>
              <a:t>AND they also have a CSV file with neighborhood profile data. So nice raw materials</a:t>
            </a:r>
          </a:p>
        </p:txBody>
      </p:sp>
      <p:sp>
        <p:nvSpPr>
          <p:cNvPr id="4" name="Slide Number Placeholder 3"/>
          <p:cNvSpPr>
            <a:spLocks noGrp="1"/>
          </p:cNvSpPr>
          <p:nvPr>
            <p:ph type="sldNum" sz="quarter" idx="5"/>
          </p:nvPr>
        </p:nvSpPr>
        <p:spPr/>
        <p:txBody>
          <a:bodyPr/>
          <a:lstStyle/>
          <a:p>
            <a:fld id="{99CD9771-9090-4167-B37B-7CC6BD0F462C}" type="slidenum">
              <a:rPr lang="en-US" smtClean="0"/>
              <a:t>108</a:t>
            </a:fld>
            <a:endParaRPr lang="en-US"/>
          </a:p>
        </p:txBody>
      </p:sp>
    </p:spTree>
    <p:extLst>
      <p:ext uri="{BB962C8B-B14F-4D97-AF65-F5344CB8AC3E}">
        <p14:creationId xmlns:p14="http://schemas.microsoft.com/office/powerpoint/2010/main" val="887909833"/>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CSV had about 50 indicators covering six basic topics, so I built a table specs file to cover all of the indicators.</a:t>
            </a:r>
          </a:p>
          <a:p>
            <a:r>
              <a:rPr lang="en-US" dirty="0"/>
              <a:t>The CSV and this Specs list are in the repository.</a:t>
            </a:r>
          </a:p>
        </p:txBody>
      </p:sp>
      <p:sp>
        <p:nvSpPr>
          <p:cNvPr id="4" name="Slide Number Placeholder 3"/>
          <p:cNvSpPr>
            <a:spLocks noGrp="1"/>
          </p:cNvSpPr>
          <p:nvPr>
            <p:ph type="sldNum" sz="quarter" idx="5"/>
          </p:nvPr>
        </p:nvSpPr>
        <p:spPr/>
        <p:txBody>
          <a:bodyPr/>
          <a:lstStyle/>
          <a:p>
            <a:fld id="{99CD9771-9090-4167-B37B-7CC6BD0F462C}" type="slidenum">
              <a:rPr lang="en-US" smtClean="0"/>
              <a:t>109</a:t>
            </a:fld>
            <a:endParaRPr lang="en-US"/>
          </a:p>
        </p:txBody>
      </p:sp>
    </p:spTree>
    <p:extLst>
      <p:ext uri="{BB962C8B-B14F-4D97-AF65-F5344CB8AC3E}">
        <p14:creationId xmlns:p14="http://schemas.microsoft.com/office/powerpoint/2010/main" val="61369469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was able to harvest some colors from a recent publication, and I found a </a:t>
            </a:r>
            <a:r>
              <a:rPr lang="en-US" dirty="0" err="1"/>
              <a:t>DataHaven</a:t>
            </a:r>
            <a:r>
              <a:rPr lang="en-US" dirty="0"/>
              <a:t> logo online, </a:t>
            </a:r>
          </a:p>
        </p:txBody>
      </p:sp>
      <p:sp>
        <p:nvSpPr>
          <p:cNvPr id="4" name="Slide Number Placeholder 3"/>
          <p:cNvSpPr>
            <a:spLocks noGrp="1"/>
          </p:cNvSpPr>
          <p:nvPr>
            <p:ph type="sldNum" sz="quarter" idx="5"/>
          </p:nvPr>
        </p:nvSpPr>
        <p:spPr/>
        <p:txBody>
          <a:bodyPr/>
          <a:lstStyle/>
          <a:p>
            <a:fld id="{99CD9771-9090-4167-B37B-7CC6BD0F462C}" type="slidenum">
              <a:rPr lang="en-US" smtClean="0"/>
              <a:t>110</a:t>
            </a:fld>
            <a:endParaRPr lang="en-US"/>
          </a:p>
        </p:txBody>
      </p:sp>
    </p:spTree>
    <p:extLst>
      <p:ext uri="{BB962C8B-B14F-4D97-AF65-F5344CB8AC3E}">
        <p14:creationId xmlns:p14="http://schemas.microsoft.com/office/powerpoint/2010/main" val="42120868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City of New Haven has a feature service of neighborhoods on their Open Data Portal…</a:t>
            </a:r>
          </a:p>
        </p:txBody>
      </p:sp>
      <p:sp>
        <p:nvSpPr>
          <p:cNvPr id="4" name="Slide Number Placeholder 3"/>
          <p:cNvSpPr>
            <a:spLocks noGrp="1"/>
          </p:cNvSpPr>
          <p:nvPr>
            <p:ph type="sldNum" sz="quarter" idx="5"/>
          </p:nvPr>
        </p:nvSpPr>
        <p:spPr/>
        <p:txBody>
          <a:bodyPr/>
          <a:lstStyle/>
          <a:p>
            <a:fld id="{99CD9771-9090-4167-B37B-7CC6BD0F462C}" type="slidenum">
              <a:rPr lang="en-US" smtClean="0"/>
              <a:t>111</a:t>
            </a:fld>
            <a:endParaRPr lang="en-US"/>
          </a:p>
        </p:txBody>
      </p:sp>
    </p:spTree>
    <p:extLst>
      <p:ext uri="{BB962C8B-B14F-4D97-AF65-F5344CB8AC3E}">
        <p14:creationId xmlns:p14="http://schemas.microsoft.com/office/powerpoint/2010/main" val="109908126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exported a shapefile of that feature service and then generated inset maps for each of the 19 neighborhoods using two of my harvested colors</a:t>
            </a:r>
          </a:p>
        </p:txBody>
      </p:sp>
      <p:sp>
        <p:nvSpPr>
          <p:cNvPr id="4" name="Slide Number Placeholder 3"/>
          <p:cNvSpPr>
            <a:spLocks noGrp="1"/>
          </p:cNvSpPr>
          <p:nvPr>
            <p:ph type="sldNum" sz="quarter" idx="5"/>
          </p:nvPr>
        </p:nvSpPr>
        <p:spPr/>
        <p:txBody>
          <a:bodyPr/>
          <a:lstStyle/>
          <a:p>
            <a:fld id="{99CD9771-9090-4167-B37B-7CC6BD0F462C}" type="slidenum">
              <a:rPr lang="en-US" smtClean="0"/>
              <a:t>112</a:t>
            </a:fld>
            <a:endParaRPr lang="en-US"/>
          </a:p>
        </p:txBody>
      </p:sp>
    </p:spTree>
    <p:extLst>
      <p:ext uri="{BB962C8B-B14F-4D97-AF65-F5344CB8AC3E}">
        <p14:creationId xmlns:p14="http://schemas.microsoft.com/office/powerpoint/2010/main" val="257740807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a .</a:t>
            </a:r>
            <a:r>
              <a:rPr lang="en-US" dirty="0" err="1"/>
              <a:t>dofile</a:t>
            </a:r>
            <a:r>
              <a:rPr lang="en-US" dirty="0"/>
              <a:t> to prep the csv data (also in the repository)</a:t>
            </a:r>
          </a:p>
        </p:txBody>
      </p:sp>
      <p:sp>
        <p:nvSpPr>
          <p:cNvPr id="4" name="Slide Number Placeholder 3"/>
          <p:cNvSpPr>
            <a:spLocks noGrp="1"/>
          </p:cNvSpPr>
          <p:nvPr>
            <p:ph type="sldNum" sz="quarter" idx="5"/>
          </p:nvPr>
        </p:nvSpPr>
        <p:spPr/>
        <p:txBody>
          <a:bodyPr/>
          <a:lstStyle/>
          <a:p>
            <a:fld id="{99CD9771-9090-4167-B37B-7CC6BD0F462C}" type="slidenum">
              <a:rPr lang="en-US" smtClean="0"/>
              <a:t>113</a:t>
            </a:fld>
            <a:endParaRPr lang="en-US"/>
          </a:p>
        </p:txBody>
      </p:sp>
    </p:spTree>
    <p:extLst>
      <p:ext uri="{BB962C8B-B14F-4D97-AF65-F5344CB8AC3E}">
        <p14:creationId xmlns:p14="http://schemas.microsoft.com/office/powerpoint/2010/main" val="351813750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Grabbed some text from the </a:t>
            </a:r>
            <a:r>
              <a:rPr lang="en-US" dirty="0" err="1"/>
              <a:t>DataHaven</a:t>
            </a:r>
            <a:r>
              <a:rPr lang="en-US" dirty="0"/>
              <a:t> website about the organization</a:t>
            </a:r>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114</a:t>
            </a:fld>
            <a:endParaRPr lang="en-US"/>
          </a:p>
        </p:txBody>
      </p:sp>
    </p:spTree>
    <p:extLst>
      <p:ext uri="{BB962C8B-B14F-4D97-AF65-F5344CB8AC3E}">
        <p14:creationId xmlns:p14="http://schemas.microsoft.com/office/powerpoint/2010/main" val="42015185"/>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wrote another </a:t>
            </a:r>
            <a:r>
              <a:rPr lang="en-US" dirty="0" err="1"/>
              <a:t>dofile</a:t>
            </a:r>
            <a:r>
              <a:rPr lang="en-US" dirty="0"/>
              <a:t> to generate and compile the LaTeX code for each neighborhood. Again, this code is in the repository.</a:t>
            </a:r>
          </a:p>
        </p:txBody>
      </p:sp>
      <p:sp>
        <p:nvSpPr>
          <p:cNvPr id="4" name="Slide Number Placeholder 3"/>
          <p:cNvSpPr>
            <a:spLocks noGrp="1"/>
          </p:cNvSpPr>
          <p:nvPr>
            <p:ph type="sldNum" sz="quarter" idx="5"/>
          </p:nvPr>
        </p:nvSpPr>
        <p:spPr/>
        <p:txBody>
          <a:bodyPr/>
          <a:lstStyle/>
          <a:p>
            <a:fld id="{99CD9771-9090-4167-B37B-7CC6BD0F462C}" type="slidenum">
              <a:rPr lang="en-US" smtClean="0"/>
              <a:t>115</a:t>
            </a:fld>
            <a:endParaRPr lang="en-US"/>
          </a:p>
        </p:txBody>
      </p:sp>
    </p:spTree>
    <p:extLst>
      <p:ext uri="{BB962C8B-B14F-4D97-AF65-F5344CB8AC3E}">
        <p14:creationId xmlns:p14="http://schemas.microsoft.com/office/powerpoint/2010/main" val="12080516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result is 19 profiles, one for each neighborhood.</a:t>
            </a:r>
          </a:p>
          <a:p>
            <a:endParaRPr lang="en-US" dirty="0"/>
          </a:p>
          <a:p>
            <a:r>
              <a:rPr lang="en-US" dirty="0"/>
              <a:t>Start to finish took a couple of hours. If time allowed, I’d want to dork more with the color combinations, but I’m otherwise pretty happy with the result.</a:t>
            </a:r>
          </a:p>
          <a:p>
            <a:endParaRPr lang="en-US" dirty="0"/>
          </a:p>
          <a:p>
            <a:endParaRPr lang="en-US" dirty="0"/>
          </a:p>
        </p:txBody>
      </p:sp>
      <p:sp>
        <p:nvSpPr>
          <p:cNvPr id="4" name="Slide Number Placeholder 3"/>
          <p:cNvSpPr>
            <a:spLocks noGrp="1"/>
          </p:cNvSpPr>
          <p:nvPr>
            <p:ph type="sldNum" sz="quarter" idx="5"/>
          </p:nvPr>
        </p:nvSpPr>
        <p:spPr/>
        <p:txBody>
          <a:bodyPr/>
          <a:lstStyle/>
          <a:p>
            <a:fld id="{99CD9771-9090-4167-B37B-7CC6BD0F462C}" type="slidenum">
              <a:rPr lang="en-US" smtClean="0"/>
              <a:t>116</a:t>
            </a:fld>
            <a:endParaRPr lang="en-US"/>
          </a:p>
        </p:txBody>
      </p:sp>
    </p:spTree>
    <p:extLst>
      <p:ext uri="{BB962C8B-B14F-4D97-AF65-F5344CB8AC3E}">
        <p14:creationId xmlns:p14="http://schemas.microsoft.com/office/powerpoint/2010/main" val="150236835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there you have it. </a:t>
            </a:r>
          </a:p>
          <a:p>
            <a:r>
              <a:rPr lang="en-US" dirty="0"/>
              <a:t>Again, a reminder of how to access all of the materials I presented.</a:t>
            </a:r>
          </a:p>
        </p:txBody>
      </p:sp>
      <p:sp>
        <p:nvSpPr>
          <p:cNvPr id="4" name="Slide Number Placeholder 3"/>
          <p:cNvSpPr>
            <a:spLocks noGrp="1"/>
          </p:cNvSpPr>
          <p:nvPr>
            <p:ph type="sldNum" sz="quarter" idx="5"/>
          </p:nvPr>
        </p:nvSpPr>
        <p:spPr/>
        <p:txBody>
          <a:bodyPr/>
          <a:lstStyle/>
          <a:p>
            <a:fld id="{99CD9771-9090-4167-B37B-7CC6BD0F462C}" type="slidenum">
              <a:rPr lang="en-US" smtClean="0"/>
              <a:t>117</a:t>
            </a:fld>
            <a:endParaRPr lang="en-US"/>
          </a:p>
        </p:txBody>
      </p:sp>
    </p:spTree>
    <p:extLst>
      <p:ext uri="{BB962C8B-B14F-4D97-AF65-F5344CB8AC3E}">
        <p14:creationId xmlns:p14="http://schemas.microsoft.com/office/powerpoint/2010/main" val="357150325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I’ll leave you with some good resources to learn more about LaTeX.</a:t>
            </a:r>
          </a:p>
        </p:txBody>
      </p:sp>
      <p:sp>
        <p:nvSpPr>
          <p:cNvPr id="4" name="Slide Number Placeholder 3"/>
          <p:cNvSpPr>
            <a:spLocks noGrp="1"/>
          </p:cNvSpPr>
          <p:nvPr>
            <p:ph type="sldNum" sz="quarter" idx="5"/>
          </p:nvPr>
        </p:nvSpPr>
        <p:spPr/>
        <p:txBody>
          <a:bodyPr/>
          <a:lstStyle/>
          <a:p>
            <a:fld id="{99CD9771-9090-4167-B37B-7CC6BD0F462C}" type="slidenum">
              <a:rPr lang="en-US" smtClean="0"/>
              <a:t>118</a:t>
            </a:fld>
            <a:endParaRPr lang="en-US"/>
          </a:p>
        </p:txBody>
      </p:sp>
    </p:spTree>
    <p:extLst>
      <p:ext uri="{BB962C8B-B14F-4D97-AF65-F5344CB8AC3E}">
        <p14:creationId xmlns:p14="http://schemas.microsoft.com/office/powerpoint/2010/main" val="1034170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6AEEA-BC6A-38CC-381E-365D7B6E83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F6D016-2F41-A681-424F-DCE6C3A719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9AD13F-F354-85AF-21CB-8851C492EBA4}"/>
              </a:ext>
            </a:extLst>
          </p:cNvPr>
          <p:cNvSpPr>
            <a:spLocks noGrp="1"/>
          </p:cNvSpPr>
          <p:nvPr>
            <p:ph type="dt" sz="half" idx="10"/>
          </p:nvPr>
        </p:nvSpPr>
        <p:spPr/>
        <p:txBody>
          <a:bodyPr/>
          <a:lstStyle/>
          <a:p>
            <a:fld id="{7FEB4916-5EFC-4DE3-8A9E-0F3E92FEB0BF}" type="datetimeFigureOut">
              <a:rPr lang="en-US" smtClean="0"/>
              <a:t>5/21/2026</a:t>
            </a:fld>
            <a:endParaRPr lang="en-US"/>
          </a:p>
        </p:txBody>
      </p:sp>
      <p:sp>
        <p:nvSpPr>
          <p:cNvPr id="5" name="Footer Placeholder 4">
            <a:extLst>
              <a:ext uri="{FF2B5EF4-FFF2-40B4-BE49-F238E27FC236}">
                <a16:creationId xmlns:a16="http://schemas.microsoft.com/office/drawing/2014/main" id="{8A1821A6-1C8C-9FC3-3F25-D05F137EF8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AAC906-ED02-A866-0759-C1CD1D26D150}"/>
              </a:ext>
            </a:extLst>
          </p:cNvPr>
          <p:cNvSpPr>
            <a:spLocks noGrp="1"/>
          </p:cNvSpPr>
          <p:nvPr>
            <p:ph type="sldNum" sz="quarter" idx="12"/>
          </p:nvPr>
        </p:nvSpPr>
        <p:spPr/>
        <p:txBody>
          <a:bodyPr/>
          <a:lstStyle/>
          <a:p>
            <a:fld id="{9036D3F5-EB4A-4E93-9E2E-0A794A703728}" type="slidenum">
              <a:rPr lang="en-US" smtClean="0"/>
              <a:t>‹#›</a:t>
            </a:fld>
            <a:endParaRPr lang="en-US"/>
          </a:p>
        </p:txBody>
      </p:sp>
    </p:spTree>
    <p:extLst>
      <p:ext uri="{BB962C8B-B14F-4D97-AF65-F5344CB8AC3E}">
        <p14:creationId xmlns:p14="http://schemas.microsoft.com/office/powerpoint/2010/main" val="167503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B6B1C-FCDB-98D4-DF0B-B3D6E94595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47C273-BA4E-2449-6B11-32DD20DD98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9AE31-0285-8F8B-142C-E547847D3841}"/>
              </a:ext>
            </a:extLst>
          </p:cNvPr>
          <p:cNvSpPr>
            <a:spLocks noGrp="1"/>
          </p:cNvSpPr>
          <p:nvPr>
            <p:ph type="dt" sz="half" idx="10"/>
          </p:nvPr>
        </p:nvSpPr>
        <p:spPr/>
        <p:txBody>
          <a:bodyPr/>
          <a:lstStyle/>
          <a:p>
            <a:fld id="{7FEB4916-5EFC-4DE3-8A9E-0F3E92FEB0BF}" type="datetimeFigureOut">
              <a:rPr lang="en-US" smtClean="0"/>
              <a:t>5/21/2026</a:t>
            </a:fld>
            <a:endParaRPr lang="en-US"/>
          </a:p>
        </p:txBody>
      </p:sp>
      <p:sp>
        <p:nvSpPr>
          <p:cNvPr id="5" name="Footer Placeholder 4">
            <a:extLst>
              <a:ext uri="{FF2B5EF4-FFF2-40B4-BE49-F238E27FC236}">
                <a16:creationId xmlns:a16="http://schemas.microsoft.com/office/drawing/2014/main" id="{8E36B70E-A986-0F21-7A32-8C8E049ECD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4BCE2C-9081-7DDA-C8AD-B33888488625}"/>
              </a:ext>
            </a:extLst>
          </p:cNvPr>
          <p:cNvSpPr>
            <a:spLocks noGrp="1"/>
          </p:cNvSpPr>
          <p:nvPr>
            <p:ph type="sldNum" sz="quarter" idx="12"/>
          </p:nvPr>
        </p:nvSpPr>
        <p:spPr/>
        <p:txBody>
          <a:bodyPr/>
          <a:lstStyle/>
          <a:p>
            <a:fld id="{9036D3F5-EB4A-4E93-9E2E-0A794A703728}" type="slidenum">
              <a:rPr lang="en-US" smtClean="0"/>
              <a:t>‹#›</a:t>
            </a:fld>
            <a:endParaRPr lang="en-US"/>
          </a:p>
        </p:txBody>
      </p:sp>
    </p:spTree>
    <p:extLst>
      <p:ext uri="{BB962C8B-B14F-4D97-AF65-F5344CB8AC3E}">
        <p14:creationId xmlns:p14="http://schemas.microsoft.com/office/powerpoint/2010/main" val="1074934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BF9E-7490-A408-39E3-725D03360B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A1BA5D-0D6E-8CFB-55EC-3BD3E0E04D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314806-9B88-A1CC-C846-95C982F7580B}"/>
              </a:ext>
            </a:extLst>
          </p:cNvPr>
          <p:cNvSpPr>
            <a:spLocks noGrp="1"/>
          </p:cNvSpPr>
          <p:nvPr>
            <p:ph type="dt" sz="half" idx="10"/>
          </p:nvPr>
        </p:nvSpPr>
        <p:spPr/>
        <p:txBody>
          <a:bodyPr/>
          <a:lstStyle/>
          <a:p>
            <a:fld id="{7FEB4916-5EFC-4DE3-8A9E-0F3E92FEB0BF}" type="datetimeFigureOut">
              <a:rPr lang="en-US" smtClean="0"/>
              <a:t>5/21/2026</a:t>
            </a:fld>
            <a:endParaRPr lang="en-US"/>
          </a:p>
        </p:txBody>
      </p:sp>
      <p:sp>
        <p:nvSpPr>
          <p:cNvPr id="5" name="Footer Placeholder 4">
            <a:extLst>
              <a:ext uri="{FF2B5EF4-FFF2-40B4-BE49-F238E27FC236}">
                <a16:creationId xmlns:a16="http://schemas.microsoft.com/office/drawing/2014/main" id="{E5A0F697-AB47-7640-5CC2-C45E8D3356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86B43E-294F-5500-F06D-5304D2305B51}"/>
              </a:ext>
            </a:extLst>
          </p:cNvPr>
          <p:cNvSpPr>
            <a:spLocks noGrp="1"/>
          </p:cNvSpPr>
          <p:nvPr>
            <p:ph type="sldNum" sz="quarter" idx="12"/>
          </p:nvPr>
        </p:nvSpPr>
        <p:spPr/>
        <p:txBody>
          <a:bodyPr/>
          <a:lstStyle/>
          <a:p>
            <a:fld id="{9036D3F5-EB4A-4E93-9E2E-0A794A703728}" type="slidenum">
              <a:rPr lang="en-US" smtClean="0"/>
              <a:t>‹#›</a:t>
            </a:fld>
            <a:endParaRPr lang="en-US"/>
          </a:p>
        </p:txBody>
      </p:sp>
    </p:spTree>
    <p:extLst>
      <p:ext uri="{BB962C8B-B14F-4D97-AF65-F5344CB8AC3E}">
        <p14:creationId xmlns:p14="http://schemas.microsoft.com/office/powerpoint/2010/main" val="2280957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C3276-7F4B-68E1-69B6-3119FC677E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6353AB-4AFA-70E9-6013-3D613B4C25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72ED53-BD64-AB1F-3B62-583DDD8BBD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1ABDEB-3098-711E-2099-3DEA5963FAC9}"/>
              </a:ext>
            </a:extLst>
          </p:cNvPr>
          <p:cNvSpPr>
            <a:spLocks noGrp="1"/>
          </p:cNvSpPr>
          <p:nvPr>
            <p:ph type="dt" sz="half" idx="10"/>
          </p:nvPr>
        </p:nvSpPr>
        <p:spPr/>
        <p:txBody>
          <a:bodyPr/>
          <a:lstStyle/>
          <a:p>
            <a:fld id="{7FEB4916-5EFC-4DE3-8A9E-0F3E92FEB0BF}" type="datetimeFigureOut">
              <a:rPr lang="en-US" smtClean="0"/>
              <a:t>5/21/2026</a:t>
            </a:fld>
            <a:endParaRPr lang="en-US"/>
          </a:p>
        </p:txBody>
      </p:sp>
      <p:sp>
        <p:nvSpPr>
          <p:cNvPr id="6" name="Footer Placeholder 5">
            <a:extLst>
              <a:ext uri="{FF2B5EF4-FFF2-40B4-BE49-F238E27FC236}">
                <a16:creationId xmlns:a16="http://schemas.microsoft.com/office/drawing/2014/main" id="{4247B017-050A-2B86-E281-464A77049B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C10899-DE37-5281-3F07-6632A8663679}"/>
              </a:ext>
            </a:extLst>
          </p:cNvPr>
          <p:cNvSpPr>
            <a:spLocks noGrp="1"/>
          </p:cNvSpPr>
          <p:nvPr>
            <p:ph type="sldNum" sz="quarter" idx="12"/>
          </p:nvPr>
        </p:nvSpPr>
        <p:spPr/>
        <p:txBody>
          <a:bodyPr/>
          <a:lstStyle/>
          <a:p>
            <a:fld id="{9036D3F5-EB4A-4E93-9E2E-0A794A703728}" type="slidenum">
              <a:rPr lang="en-US" smtClean="0"/>
              <a:t>‹#›</a:t>
            </a:fld>
            <a:endParaRPr lang="en-US"/>
          </a:p>
        </p:txBody>
      </p:sp>
    </p:spTree>
    <p:extLst>
      <p:ext uri="{BB962C8B-B14F-4D97-AF65-F5344CB8AC3E}">
        <p14:creationId xmlns:p14="http://schemas.microsoft.com/office/powerpoint/2010/main" val="3605029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E260D-28B0-77D5-C41C-39CD20C9CE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523467-B80B-C9E4-D41C-6B36717F20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1CDE8B-6CB5-F3FE-A1FB-40188F262F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B1D28C-6373-4B3D-7FED-93A94E3C9F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B1D87D-4960-4AD4-E4C3-3B43ECBE01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1F21A1-EE44-0161-EB48-CA6A0E658A4C}"/>
              </a:ext>
            </a:extLst>
          </p:cNvPr>
          <p:cNvSpPr>
            <a:spLocks noGrp="1"/>
          </p:cNvSpPr>
          <p:nvPr>
            <p:ph type="dt" sz="half" idx="10"/>
          </p:nvPr>
        </p:nvSpPr>
        <p:spPr/>
        <p:txBody>
          <a:bodyPr/>
          <a:lstStyle/>
          <a:p>
            <a:fld id="{7FEB4916-5EFC-4DE3-8A9E-0F3E92FEB0BF}" type="datetimeFigureOut">
              <a:rPr lang="en-US" smtClean="0"/>
              <a:t>5/21/2026</a:t>
            </a:fld>
            <a:endParaRPr lang="en-US"/>
          </a:p>
        </p:txBody>
      </p:sp>
      <p:sp>
        <p:nvSpPr>
          <p:cNvPr id="8" name="Footer Placeholder 7">
            <a:extLst>
              <a:ext uri="{FF2B5EF4-FFF2-40B4-BE49-F238E27FC236}">
                <a16:creationId xmlns:a16="http://schemas.microsoft.com/office/drawing/2014/main" id="{88A35E9A-027C-9925-322B-8462C4605B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38447C-85AD-AD9A-12FD-05C4C6AB0314}"/>
              </a:ext>
            </a:extLst>
          </p:cNvPr>
          <p:cNvSpPr>
            <a:spLocks noGrp="1"/>
          </p:cNvSpPr>
          <p:nvPr>
            <p:ph type="sldNum" sz="quarter" idx="12"/>
          </p:nvPr>
        </p:nvSpPr>
        <p:spPr/>
        <p:txBody>
          <a:bodyPr/>
          <a:lstStyle/>
          <a:p>
            <a:fld id="{9036D3F5-EB4A-4E93-9E2E-0A794A703728}" type="slidenum">
              <a:rPr lang="en-US" smtClean="0"/>
              <a:t>‹#›</a:t>
            </a:fld>
            <a:endParaRPr lang="en-US"/>
          </a:p>
        </p:txBody>
      </p:sp>
    </p:spTree>
    <p:extLst>
      <p:ext uri="{BB962C8B-B14F-4D97-AF65-F5344CB8AC3E}">
        <p14:creationId xmlns:p14="http://schemas.microsoft.com/office/powerpoint/2010/main" val="2975654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A184F-0B57-422E-A762-17F5F94D94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235FE3-E82D-EC08-4BF5-BAF0C23AAAB6}"/>
              </a:ext>
            </a:extLst>
          </p:cNvPr>
          <p:cNvSpPr>
            <a:spLocks noGrp="1"/>
          </p:cNvSpPr>
          <p:nvPr>
            <p:ph type="dt" sz="half" idx="10"/>
          </p:nvPr>
        </p:nvSpPr>
        <p:spPr/>
        <p:txBody>
          <a:bodyPr/>
          <a:lstStyle/>
          <a:p>
            <a:fld id="{7FEB4916-5EFC-4DE3-8A9E-0F3E92FEB0BF}" type="datetimeFigureOut">
              <a:rPr lang="en-US" smtClean="0"/>
              <a:t>5/21/2026</a:t>
            </a:fld>
            <a:endParaRPr lang="en-US"/>
          </a:p>
        </p:txBody>
      </p:sp>
      <p:sp>
        <p:nvSpPr>
          <p:cNvPr id="4" name="Footer Placeholder 3">
            <a:extLst>
              <a:ext uri="{FF2B5EF4-FFF2-40B4-BE49-F238E27FC236}">
                <a16:creationId xmlns:a16="http://schemas.microsoft.com/office/drawing/2014/main" id="{64760177-91FA-7BBE-9114-EE37DE15B6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2F2283-4156-A193-548A-C02879B43238}"/>
              </a:ext>
            </a:extLst>
          </p:cNvPr>
          <p:cNvSpPr>
            <a:spLocks noGrp="1"/>
          </p:cNvSpPr>
          <p:nvPr>
            <p:ph type="sldNum" sz="quarter" idx="12"/>
          </p:nvPr>
        </p:nvSpPr>
        <p:spPr/>
        <p:txBody>
          <a:bodyPr/>
          <a:lstStyle/>
          <a:p>
            <a:fld id="{9036D3F5-EB4A-4E93-9E2E-0A794A703728}" type="slidenum">
              <a:rPr lang="en-US" smtClean="0"/>
              <a:t>‹#›</a:t>
            </a:fld>
            <a:endParaRPr lang="en-US"/>
          </a:p>
        </p:txBody>
      </p:sp>
    </p:spTree>
    <p:extLst>
      <p:ext uri="{BB962C8B-B14F-4D97-AF65-F5344CB8AC3E}">
        <p14:creationId xmlns:p14="http://schemas.microsoft.com/office/powerpoint/2010/main" val="2566685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940C51-C53B-2260-1BC2-E1375FDDB9A9}"/>
              </a:ext>
            </a:extLst>
          </p:cNvPr>
          <p:cNvSpPr>
            <a:spLocks noGrp="1"/>
          </p:cNvSpPr>
          <p:nvPr>
            <p:ph type="dt" sz="half" idx="10"/>
          </p:nvPr>
        </p:nvSpPr>
        <p:spPr/>
        <p:txBody>
          <a:bodyPr/>
          <a:lstStyle/>
          <a:p>
            <a:fld id="{7FEB4916-5EFC-4DE3-8A9E-0F3E92FEB0BF}" type="datetimeFigureOut">
              <a:rPr lang="en-US" smtClean="0"/>
              <a:t>5/21/2026</a:t>
            </a:fld>
            <a:endParaRPr lang="en-US"/>
          </a:p>
        </p:txBody>
      </p:sp>
      <p:sp>
        <p:nvSpPr>
          <p:cNvPr id="3" name="Footer Placeholder 2">
            <a:extLst>
              <a:ext uri="{FF2B5EF4-FFF2-40B4-BE49-F238E27FC236}">
                <a16:creationId xmlns:a16="http://schemas.microsoft.com/office/drawing/2014/main" id="{B8BFB502-C689-F5A2-8726-602C340087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E5C41D-66A6-C797-B556-A54219FD9506}"/>
              </a:ext>
            </a:extLst>
          </p:cNvPr>
          <p:cNvSpPr>
            <a:spLocks noGrp="1"/>
          </p:cNvSpPr>
          <p:nvPr>
            <p:ph type="sldNum" sz="quarter" idx="12"/>
          </p:nvPr>
        </p:nvSpPr>
        <p:spPr/>
        <p:txBody>
          <a:bodyPr/>
          <a:lstStyle/>
          <a:p>
            <a:fld id="{9036D3F5-EB4A-4E93-9E2E-0A794A703728}" type="slidenum">
              <a:rPr lang="en-US" smtClean="0"/>
              <a:t>‹#›</a:t>
            </a:fld>
            <a:endParaRPr lang="en-US"/>
          </a:p>
        </p:txBody>
      </p:sp>
    </p:spTree>
    <p:extLst>
      <p:ext uri="{BB962C8B-B14F-4D97-AF65-F5344CB8AC3E}">
        <p14:creationId xmlns:p14="http://schemas.microsoft.com/office/powerpoint/2010/main" val="870829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62BDF-70BC-8F9E-20D8-F32FD6D9FB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735871-0DCF-A373-6EF1-321712358B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CA5A88-8047-1711-12CF-11B54CFB94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4586B8-A35E-93B5-6E7A-6913D038DA75}"/>
              </a:ext>
            </a:extLst>
          </p:cNvPr>
          <p:cNvSpPr>
            <a:spLocks noGrp="1"/>
          </p:cNvSpPr>
          <p:nvPr>
            <p:ph type="dt" sz="half" idx="10"/>
          </p:nvPr>
        </p:nvSpPr>
        <p:spPr/>
        <p:txBody>
          <a:bodyPr/>
          <a:lstStyle/>
          <a:p>
            <a:fld id="{7FEB4916-5EFC-4DE3-8A9E-0F3E92FEB0BF}" type="datetimeFigureOut">
              <a:rPr lang="en-US" smtClean="0"/>
              <a:t>5/21/2026</a:t>
            </a:fld>
            <a:endParaRPr lang="en-US"/>
          </a:p>
        </p:txBody>
      </p:sp>
      <p:sp>
        <p:nvSpPr>
          <p:cNvPr id="6" name="Footer Placeholder 5">
            <a:extLst>
              <a:ext uri="{FF2B5EF4-FFF2-40B4-BE49-F238E27FC236}">
                <a16:creationId xmlns:a16="http://schemas.microsoft.com/office/drawing/2014/main" id="{B8D54653-2B13-02E3-48DD-952B9421D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7632D5-358B-5FC9-7CDD-5BECBC01CDF7}"/>
              </a:ext>
            </a:extLst>
          </p:cNvPr>
          <p:cNvSpPr>
            <a:spLocks noGrp="1"/>
          </p:cNvSpPr>
          <p:nvPr>
            <p:ph type="sldNum" sz="quarter" idx="12"/>
          </p:nvPr>
        </p:nvSpPr>
        <p:spPr/>
        <p:txBody>
          <a:bodyPr/>
          <a:lstStyle/>
          <a:p>
            <a:fld id="{9036D3F5-EB4A-4E93-9E2E-0A794A703728}" type="slidenum">
              <a:rPr lang="en-US" smtClean="0"/>
              <a:t>‹#›</a:t>
            </a:fld>
            <a:endParaRPr lang="en-US"/>
          </a:p>
        </p:txBody>
      </p:sp>
    </p:spTree>
    <p:extLst>
      <p:ext uri="{BB962C8B-B14F-4D97-AF65-F5344CB8AC3E}">
        <p14:creationId xmlns:p14="http://schemas.microsoft.com/office/powerpoint/2010/main" val="3022770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34474-2709-1923-E3E8-3EC9F86DE2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659D14-B6E7-5107-EAB8-EEC1802FE6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704F04-06F6-2E2A-D7B4-002E5935FB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AAFA44-FBE3-C7C1-5562-D2635D051B78}"/>
              </a:ext>
            </a:extLst>
          </p:cNvPr>
          <p:cNvSpPr>
            <a:spLocks noGrp="1"/>
          </p:cNvSpPr>
          <p:nvPr>
            <p:ph type="dt" sz="half" idx="10"/>
          </p:nvPr>
        </p:nvSpPr>
        <p:spPr/>
        <p:txBody>
          <a:bodyPr/>
          <a:lstStyle/>
          <a:p>
            <a:fld id="{7FEB4916-5EFC-4DE3-8A9E-0F3E92FEB0BF}" type="datetimeFigureOut">
              <a:rPr lang="en-US" smtClean="0"/>
              <a:t>5/21/2026</a:t>
            </a:fld>
            <a:endParaRPr lang="en-US"/>
          </a:p>
        </p:txBody>
      </p:sp>
      <p:sp>
        <p:nvSpPr>
          <p:cNvPr id="6" name="Footer Placeholder 5">
            <a:extLst>
              <a:ext uri="{FF2B5EF4-FFF2-40B4-BE49-F238E27FC236}">
                <a16:creationId xmlns:a16="http://schemas.microsoft.com/office/drawing/2014/main" id="{EFF40666-1AC9-7D5A-FE2C-F7F300369B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238140-809F-5519-9962-3AD10172A985}"/>
              </a:ext>
            </a:extLst>
          </p:cNvPr>
          <p:cNvSpPr>
            <a:spLocks noGrp="1"/>
          </p:cNvSpPr>
          <p:nvPr>
            <p:ph type="sldNum" sz="quarter" idx="12"/>
          </p:nvPr>
        </p:nvSpPr>
        <p:spPr/>
        <p:txBody>
          <a:bodyPr/>
          <a:lstStyle/>
          <a:p>
            <a:fld id="{9036D3F5-EB4A-4E93-9E2E-0A794A703728}" type="slidenum">
              <a:rPr lang="en-US" smtClean="0"/>
              <a:t>‹#›</a:t>
            </a:fld>
            <a:endParaRPr lang="en-US"/>
          </a:p>
        </p:txBody>
      </p:sp>
    </p:spTree>
    <p:extLst>
      <p:ext uri="{BB962C8B-B14F-4D97-AF65-F5344CB8AC3E}">
        <p14:creationId xmlns:p14="http://schemas.microsoft.com/office/powerpoint/2010/main" val="1943991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153CF-C4EF-0138-8D9C-7D0AB4CF56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C8259D-30AC-F5BE-A13B-A8EEDB64F7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01D4B9-2C2E-5721-D892-9E5BB836BF71}"/>
              </a:ext>
            </a:extLst>
          </p:cNvPr>
          <p:cNvSpPr>
            <a:spLocks noGrp="1"/>
          </p:cNvSpPr>
          <p:nvPr>
            <p:ph type="dt" sz="half" idx="10"/>
          </p:nvPr>
        </p:nvSpPr>
        <p:spPr/>
        <p:txBody>
          <a:bodyPr/>
          <a:lstStyle/>
          <a:p>
            <a:fld id="{7FEB4916-5EFC-4DE3-8A9E-0F3E92FEB0BF}" type="datetimeFigureOut">
              <a:rPr lang="en-US" smtClean="0"/>
              <a:t>5/21/2026</a:t>
            </a:fld>
            <a:endParaRPr lang="en-US"/>
          </a:p>
        </p:txBody>
      </p:sp>
      <p:sp>
        <p:nvSpPr>
          <p:cNvPr id="5" name="Footer Placeholder 4">
            <a:extLst>
              <a:ext uri="{FF2B5EF4-FFF2-40B4-BE49-F238E27FC236}">
                <a16:creationId xmlns:a16="http://schemas.microsoft.com/office/drawing/2014/main" id="{6844A20D-6DCE-E324-1C68-94D7AFFE64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C33B4C-07A8-D89C-AEA8-A0803A6D102C}"/>
              </a:ext>
            </a:extLst>
          </p:cNvPr>
          <p:cNvSpPr>
            <a:spLocks noGrp="1"/>
          </p:cNvSpPr>
          <p:nvPr>
            <p:ph type="sldNum" sz="quarter" idx="12"/>
          </p:nvPr>
        </p:nvSpPr>
        <p:spPr/>
        <p:txBody>
          <a:bodyPr/>
          <a:lstStyle/>
          <a:p>
            <a:fld id="{9036D3F5-EB4A-4E93-9E2E-0A794A703728}" type="slidenum">
              <a:rPr lang="en-US" smtClean="0"/>
              <a:t>‹#›</a:t>
            </a:fld>
            <a:endParaRPr lang="en-US"/>
          </a:p>
        </p:txBody>
      </p:sp>
    </p:spTree>
    <p:extLst>
      <p:ext uri="{BB962C8B-B14F-4D97-AF65-F5344CB8AC3E}">
        <p14:creationId xmlns:p14="http://schemas.microsoft.com/office/powerpoint/2010/main" val="3762290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A54892-7CAC-B777-F5FD-BC61B23EC7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11337D-AFC0-0682-BE5B-5C1A3BF158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9B54DE-FDDA-E59C-9264-68B7109368D8}"/>
              </a:ext>
            </a:extLst>
          </p:cNvPr>
          <p:cNvSpPr>
            <a:spLocks noGrp="1"/>
          </p:cNvSpPr>
          <p:nvPr>
            <p:ph type="dt" sz="half" idx="10"/>
          </p:nvPr>
        </p:nvSpPr>
        <p:spPr/>
        <p:txBody>
          <a:bodyPr/>
          <a:lstStyle/>
          <a:p>
            <a:fld id="{7FEB4916-5EFC-4DE3-8A9E-0F3E92FEB0BF}" type="datetimeFigureOut">
              <a:rPr lang="en-US" smtClean="0"/>
              <a:t>5/21/2026</a:t>
            </a:fld>
            <a:endParaRPr lang="en-US"/>
          </a:p>
        </p:txBody>
      </p:sp>
      <p:sp>
        <p:nvSpPr>
          <p:cNvPr id="5" name="Footer Placeholder 4">
            <a:extLst>
              <a:ext uri="{FF2B5EF4-FFF2-40B4-BE49-F238E27FC236}">
                <a16:creationId xmlns:a16="http://schemas.microsoft.com/office/drawing/2014/main" id="{218FBA71-1B36-3173-423B-545CB88C6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164778-2D44-77D0-F9EB-649EB4CCD9FC}"/>
              </a:ext>
            </a:extLst>
          </p:cNvPr>
          <p:cNvSpPr>
            <a:spLocks noGrp="1"/>
          </p:cNvSpPr>
          <p:nvPr>
            <p:ph type="sldNum" sz="quarter" idx="12"/>
          </p:nvPr>
        </p:nvSpPr>
        <p:spPr/>
        <p:txBody>
          <a:bodyPr/>
          <a:lstStyle/>
          <a:p>
            <a:fld id="{9036D3F5-EB4A-4E93-9E2E-0A794A703728}" type="slidenum">
              <a:rPr lang="en-US" smtClean="0"/>
              <a:t>‹#›</a:t>
            </a:fld>
            <a:endParaRPr lang="en-US"/>
          </a:p>
        </p:txBody>
      </p:sp>
    </p:spTree>
    <p:extLst>
      <p:ext uri="{BB962C8B-B14F-4D97-AF65-F5344CB8AC3E}">
        <p14:creationId xmlns:p14="http://schemas.microsoft.com/office/powerpoint/2010/main" val="1454024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73BC49-601B-A802-F457-59475D55C5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294A08-0F28-E798-EA4C-07F6967D3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C6193E-CC84-369D-8F5B-06A0189DB7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EB4916-5EFC-4DE3-8A9E-0F3E92FEB0BF}" type="datetimeFigureOut">
              <a:rPr lang="en-US" smtClean="0"/>
              <a:t>5/21/2026</a:t>
            </a:fld>
            <a:endParaRPr lang="en-US"/>
          </a:p>
        </p:txBody>
      </p:sp>
      <p:sp>
        <p:nvSpPr>
          <p:cNvPr id="5" name="Footer Placeholder 4">
            <a:extLst>
              <a:ext uri="{FF2B5EF4-FFF2-40B4-BE49-F238E27FC236}">
                <a16:creationId xmlns:a16="http://schemas.microsoft.com/office/drawing/2014/main" id="{7AD131E1-5D4A-E042-4F67-F9DFAAA634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42D32B-A96C-466E-A0C0-3D288DAAB6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36D3F5-EB4A-4E93-9E2E-0A794A703728}" type="slidenum">
              <a:rPr lang="en-US" smtClean="0"/>
              <a:t>‹#›</a:t>
            </a:fld>
            <a:endParaRPr lang="en-US"/>
          </a:p>
        </p:txBody>
      </p:sp>
    </p:spTree>
    <p:extLst>
      <p:ext uri="{BB962C8B-B14F-4D97-AF65-F5344CB8AC3E}">
        <p14:creationId xmlns:p14="http://schemas.microsoft.com/office/powerpoint/2010/main" val="12628074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github.com/arc-moshe/NNIP-LaTeX"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5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07.xm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11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09.xml"/><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image" Target="../media/image92.png"/></Relationships>
</file>

<file path=ppt/slides/_rels/slide11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hyperlink" Target="https://github.com/arc-moshe/NNIP-LaTeX" TargetMode="External"/><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hyperlink" Target="https://www.overleaf.com/learn/latex/Tutorials" TargetMode="External"/><Relationship Id="rId2" Type="http://schemas.openxmlformats.org/officeDocument/2006/relationships/notesSlide" Target="../notesSlides/notesSlide115.xml"/><Relationship Id="rId1" Type="http://schemas.openxmlformats.org/officeDocument/2006/relationships/slideLayout" Target="../slideLayouts/slideLayout2.xml"/><Relationship Id="rId6" Type="http://schemas.openxmlformats.org/officeDocument/2006/relationships/hyperlink" Target="https://en.wikibooks.org/wiki/LaTeX" TargetMode="External"/><Relationship Id="rId5" Type="http://schemas.openxmlformats.org/officeDocument/2006/relationships/hyperlink" Target="http://www.ctan.org/tex-archive/info/lshort/english/lshort.pdf" TargetMode="External"/><Relationship Id="rId4" Type="http://schemas.openxmlformats.org/officeDocument/2006/relationships/hyperlink" Target="https://latex-tutorial.com/tutoria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D2EB5-585A-7B8B-4E08-2D59D40C5D5A}"/>
              </a:ext>
            </a:extLst>
          </p:cNvPr>
          <p:cNvSpPr>
            <a:spLocks noGrp="1"/>
          </p:cNvSpPr>
          <p:nvPr>
            <p:ph type="ctrTitle"/>
          </p:nvPr>
        </p:nvSpPr>
        <p:spPr/>
        <p:txBody>
          <a:bodyPr/>
          <a:lstStyle/>
          <a:p>
            <a:r>
              <a:rPr lang="en-US" dirty="0"/>
              <a:t>Introduction to </a:t>
            </a:r>
          </a:p>
        </p:txBody>
      </p:sp>
      <p:pic>
        <p:nvPicPr>
          <p:cNvPr id="5" name="Picture 6">
            <a:extLst>
              <a:ext uri="{FF2B5EF4-FFF2-40B4-BE49-F238E27FC236}">
                <a16:creationId xmlns:a16="http://schemas.microsoft.com/office/drawing/2014/main" id="{215B0127-308B-34FE-A5E7-24C916B324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9700" y="3602038"/>
            <a:ext cx="4051300" cy="168856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1768261-8552-B563-F055-F89DEBC59221}"/>
              </a:ext>
            </a:extLst>
          </p:cNvPr>
          <p:cNvSpPr txBox="1">
            <a:spLocks/>
          </p:cNvSpPr>
          <p:nvPr/>
        </p:nvSpPr>
        <p:spPr>
          <a:xfrm>
            <a:off x="2984395" y="5898861"/>
            <a:ext cx="6401430" cy="53216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hlinkClick r:id="rId4"/>
              </a:rPr>
              <a:t>https://github.com/arc-moshe/NNIP-LaTeX</a:t>
            </a:r>
            <a:endParaRPr lang="en-US" dirty="0"/>
          </a:p>
        </p:txBody>
      </p:sp>
    </p:spTree>
    <p:extLst>
      <p:ext uri="{BB962C8B-B14F-4D97-AF65-F5344CB8AC3E}">
        <p14:creationId xmlns:p14="http://schemas.microsoft.com/office/powerpoint/2010/main" val="2647406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1EC66-BAF5-C4B6-FD47-8CF6C6EB3EB3}"/>
              </a:ext>
            </a:extLst>
          </p:cNvPr>
          <p:cNvSpPr>
            <a:spLocks noGrp="1"/>
          </p:cNvSpPr>
          <p:nvPr>
            <p:ph type="title"/>
          </p:nvPr>
        </p:nvSpPr>
        <p:spPr/>
        <p:txBody>
          <a:bodyPr/>
          <a:lstStyle/>
          <a:p>
            <a:r>
              <a:rPr lang="en-US" dirty="0"/>
              <a:t>Structure of the Talk</a:t>
            </a:r>
          </a:p>
        </p:txBody>
      </p:sp>
      <p:sp>
        <p:nvSpPr>
          <p:cNvPr id="3" name="Content Placeholder 2">
            <a:extLst>
              <a:ext uri="{FF2B5EF4-FFF2-40B4-BE49-F238E27FC236}">
                <a16:creationId xmlns:a16="http://schemas.microsoft.com/office/drawing/2014/main" id="{2EFF6348-6416-B651-FF2E-5A7190DE936C}"/>
              </a:ext>
            </a:extLst>
          </p:cNvPr>
          <p:cNvSpPr>
            <a:spLocks noGrp="1"/>
          </p:cNvSpPr>
          <p:nvPr>
            <p:ph idx="1"/>
          </p:nvPr>
        </p:nvSpPr>
        <p:spPr/>
        <p:txBody>
          <a:bodyPr>
            <a:normAutofit fontScale="92500" lnSpcReduction="10000"/>
          </a:bodyPr>
          <a:lstStyle/>
          <a:p>
            <a:r>
              <a:rPr lang="en-US" dirty="0"/>
              <a:t>Unit 1: Basics</a:t>
            </a:r>
          </a:p>
          <a:p>
            <a:pPr lvl="1"/>
            <a:r>
              <a:rPr lang="en-US" dirty="0"/>
              <a:t>What is            ?</a:t>
            </a:r>
          </a:p>
          <a:p>
            <a:pPr lvl="1"/>
            <a:r>
              <a:rPr lang="en-US" dirty="0"/>
              <a:t>How do I use it?</a:t>
            </a:r>
          </a:p>
          <a:p>
            <a:pPr lvl="1"/>
            <a:r>
              <a:rPr lang="en-US" dirty="0"/>
              <a:t>Sample profile design workflow</a:t>
            </a:r>
          </a:p>
          <a:p>
            <a:r>
              <a:rPr lang="en-US" dirty="0"/>
              <a:t>Unit 2: Deeper Dive</a:t>
            </a:r>
          </a:p>
          <a:p>
            <a:pPr lvl="1"/>
            <a:r>
              <a:rPr lang="en-US" dirty="0"/>
              <a:t>Preamble</a:t>
            </a:r>
          </a:p>
          <a:p>
            <a:pPr lvl="1"/>
            <a:r>
              <a:rPr lang="en-US" dirty="0"/>
              <a:t>Structure</a:t>
            </a:r>
          </a:p>
          <a:p>
            <a:pPr lvl="1"/>
            <a:r>
              <a:rPr lang="en-US" dirty="0"/>
              <a:t>Text sizes &amp; styles</a:t>
            </a:r>
          </a:p>
          <a:p>
            <a:pPr lvl="1"/>
            <a:r>
              <a:rPr lang="en-US" dirty="0"/>
              <a:t>Environments</a:t>
            </a:r>
          </a:p>
          <a:p>
            <a:pPr lvl="1"/>
            <a:r>
              <a:rPr lang="en-US" dirty="0"/>
              <a:t>Lengths</a:t>
            </a:r>
          </a:p>
          <a:p>
            <a:pPr lvl="1"/>
            <a:r>
              <a:rPr lang="en-US" dirty="0"/>
              <a:t>Spacing</a:t>
            </a:r>
          </a:p>
          <a:p>
            <a:r>
              <a:rPr lang="en-US" dirty="0"/>
              <a:t>Unit 3: </a:t>
            </a:r>
            <a:r>
              <a:rPr lang="en-US" dirty="0" err="1"/>
              <a:t>LaTable</a:t>
            </a:r>
            <a:r>
              <a:rPr lang="en-US" dirty="0"/>
              <a:t>: a Stata table generator for data factsheets</a:t>
            </a:r>
          </a:p>
          <a:p>
            <a:pPr lvl="1"/>
            <a:endParaRPr lang="en-US" dirty="0"/>
          </a:p>
        </p:txBody>
      </p:sp>
      <p:pic>
        <p:nvPicPr>
          <p:cNvPr id="4" name="Picture 6">
            <a:extLst>
              <a:ext uri="{FF2B5EF4-FFF2-40B4-BE49-F238E27FC236}">
                <a16:creationId xmlns:a16="http://schemas.microsoft.com/office/drawing/2014/main" id="{AB9D0214-5E31-9533-7A47-1D9C378C61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6088" y="2226945"/>
            <a:ext cx="731520" cy="304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8719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What is           ?</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lstStyle/>
          <a:p>
            <a:pPr marL="0" indent="0">
              <a:buNone/>
            </a:pPr>
            <a:r>
              <a:rPr lang="en-US" dirty="0"/>
              <a:t>You author a book, and are disappointed with the quality of the typography in the galley proofs. Do you:</a:t>
            </a:r>
          </a:p>
          <a:p>
            <a:pPr marL="457200" lvl="1" indent="0">
              <a:buNone/>
            </a:pPr>
            <a:endParaRPr lang="en-US" dirty="0"/>
          </a:p>
          <a:p>
            <a:pPr marL="457200" lvl="1" indent="0">
              <a:buNone/>
            </a:pPr>
            <a:r>
              <a:rPr lang="en-US" dirty="0"/>
              <a:t>A. Suck it up and make do;</a:t>
            </a:r>
          </a:p>
          <a:p>
            <a:pPr marL="457200" lvl="1" indent="0">
              <a:buNone/>
            </a:pPr>
            <a:r>
              <a:rPr lang="en-US" dirty="0"/>
              <a:t> </a:t>
            </a:r>
          </a:p>
          <a:p>
            <a:pPr marL="457200" lvl="1" indent="0">
              <a:buNone/>
            </a:pPr>
            <a:r>
              <a:rPr lang="en-US" dirty="0"/>
              <a:t>B. Find a different publisher; or</a:t>
            </a:r>
          </a:p>
          <a:p>
            <a:pPr marL="457200" lvl="1" indent="0">
              <a:buNone/>
            </a:pPr>
            <a:endParaRPr lang="en-US" dirty="0"/>
          </a:p>
          <a:p>
            <a:pPr marL="457200" lvl="1" indent="0">
              <a:buNone/>
            </a:pPr>
            <a:r>
              <a:rPr lang="en-US" dirty="0"/>
              <a:t>C. Author a computerized typesetting system from scratch?</a:t>
            </a:r>
          </a:p>
        </p:txBody>
      </p:sp>
      <p:pic>
        <p:nvPicPr>
          <p:cNvPr id="7" name="Picture 6">
            <a:extLst>
              <a:ext uri="{FF2B5EF4-FFF2-40B4-BE49-F238E27FC236}">
                <a16:creationId xmlns:a16="http://schemas.microsoft.com/office/drawing/2014/main" id="{675252DF-C275-667B-C3E3-1CE3A3C3DC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5105" y="7683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4998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AD9BF-3A73-1D08-2DFA-AC4DF9C90B13}"/>
              </a:ext>
            </a:extLst>
          </p:cNvPr>
          <p:cNvSpPr>
            <a:spLocks noGrp="1"/>
          </p:cNvSpPr>
          <p:nvPr>
            <p:ph type="title"/>
          </p:nvPr>
        </p:nvSpPr>
        <p:spPr/>
        <p:txBody>
          <a:bodyPr/>
          <a:lstStyle/>
          <a:p>
            <a:r>
              <a:rPr lang="en-US" dirty="0"/>
              <a:t>What is           ?</a:t>
            </a:r>
          </a:p>
        </p:txBody>
      </p:sp>
      <p:sp>
        <p:nvSpPr>
          <p:cNvPr id="3" name="Content Placeholder 2">
            <a:extLst>
              <a:ext uri="{FF2B5EF4-FFF2-40B4-BE49-F238E27FC236}">
                <a16:creationId xmlns:a16="http://schemas.microsoft.com/office/drawing/2014/main" id="{9D109CEC-D1E3-C782-74B6-9D8E545E6C30}"/>
              </a:ext>
            </a:extLst>
          </p:cNvPr>
          <p:cNvSpPr>
            <a:spLocks noGrp="1"/>
          </p:cNvSpPr>
          <p:nvPr>
            <p:ph idx="1"/>
          </p:nvPr>
        </p:nvSpPr>
        <p:spPr/>
        <p:txBody>
          <a:bodyPr/>
          <a:lstStyle/>
          <a:p>
            <a:r>
              <a:rPr lang="en-US" dirty="0"/>
              <a:t>Donald Knuth</a:t>
            </a:r>
          </a:p>
          <a:p>
            <a:pPr lvl="1"/>
            <a:r>
              <a:rPr lang="en-US" dirty="0"/>
              <a:t>Turing Award winner</a:t>
            </a:r>
          </a:p>
          <a:p>
            <a:pPr lvl="1"/>
            <a:r>
              <a:rPr lang="en-US" dirty="0"/>
              <a:t>Professor Emeritus, Stanford Computer Science </a:t>
            </a:r>
          </a:p>
          <a:p>
            <a:pPr lvl="1"/>
            <a:r>
              <a:rPr lang="en-US" dirty="0"/>
              <a:t>Author, </a:t>
            </a:r>
            <a:r>
              <a:rPr lang="en-US" i="1" dirty="0"/>
              <a:t>The Art of Computer Programming</a:t>
            </a:r>
            <a:r>
              <a:rPr lang="en-US" dirty="0"/>
              <a:t> </a:t>
            </a:r>
          </a:p>
          <a:p>
            <a:pPr lvl="2"/>
            <a:r>
              <a:rPr lang="en-US" dirty="0"/>
              <a:t>1</a:t>
            </a:r>
            <a:r>
              <a:rPr lang="en-US" baseline="30000" dirty="0"/>
              <a:t>st</a:t>
            </a:r>
            <a:r>
              <a:rPr lang="en-US" dirty="0"/>
              <a:t> edition 1968 (hot metal/monotype system)</a:t>
            </a:r>
          </a:p>
          <a:p>
            <a:pPr lvl="2"/>
            <a:r>
              <a:rPr lang="en-US" dirty="0"/>
              <a:t>2</a:t>
            </a:r>
            <a:r>
              <a:rPr lang="en-US" baseline="30000" dirty="0"/>
              <a:t>nd</a:t>
            </a:r>
            <a:r>
              <a:rPr lang="en-US" dirty="0"/>
              <a:t> edition 1977 (phototypesetting)</a:t>
            </a:r>
          </a:p>
          <a:p>
            <a:pPr lvl="1"/>
            <a:r>
              <a:rPr lang="en-US" dirty="0"/>
              <a:t> </a:t>
            </a:r>
          </a:p>
          <a:p>
            <a:pPr lvl="1"/>
            <a:r>
              <a:rPr lang="en-US" dirty="0"/>
              <a:t> </a:t>
            </a:r>
          </a:p>
          <a:p>
            <a:pPr lvl="1"/>
            <a:r>
              <a:rPr lang="en-US" dirty="0"/>
              <a:t>Computer Modern typeface</a:t>
            </a:r>
          </a:p>
          <a:p>
            <a:pPr marL="457200" lvl="1" indent="0">
              <a:buNone/>
            </a:pPr>
            <a:endParaRPr lang="en-US" dirty="0"/>
          </a:p>
          <a:p>
            <a:pPr marL="457200" lvl="1" indent="0">
              <a:buNone/>
            </a:pPr>
            <a:endParaRPr lang="en-US" dirty="0"/>
          </a:p>
        </p:txBody>
      </p:sp>
      <p:sp>
        <p:nvSpPr>
          <p:cNvPr id="5" name="TextBox 4">
            <a:extLst>
              <a:ext uri="{FF2B5EF4-FFF2-40B4-BE49-F238E27FC236}">
                <a16:creationId xmlns:a16="http://schemas.microsoft.com/office/drawing/2014/main" id="{C2A5FFC8-8F30-C0EB-C467-F026C2F7D53D}"/>
              </a:ext>
            </a:extLst>
          </p:cNvPr>
          <p:cNvSpPr txBox="1"/>
          <p:nvPr/>
        </p:nvSpPr>
        <p:spPr>
          <a:xfrm>
            <a:off x="787400" y="5807631"/>
            <a:ext cx="10515600" cy="369332"/>
          </a:xfrm>
          <a:prstGeom prst="rect">
            <a:avLst/>
          </a:prstGeom>
          <a:noFill/>
        </p:spPr>
        <p:txBody>
          <a:bodyPr wrap="square">
            <a:spAutoFit/>
          </a:bodyPr>
          <a:lstStyle/>
          <a:p>
            <a:r>
              <a:rPr lang="en-US" dirty="0"/>
              <a:t>https://www.nytimes.com/2018/12/17/science/donald-knuth-computers-algorithms-programming.html</a:t>
            </a:r>
          </a:p>
        </p:txBody>
      </p:sp>
      <p:pic>
        <p:nvPicPr>
          <p:cNvPr id="2050" name="Picture 2">
            <a:extLst>
              <a:ext uri="{FF2B5EF4-FFF2-40B4-BE49-F238E27FC236}">
                <a16:creationId xmlns:a16="http://schemas.microsoft.com/office/drawing/2014/main" id="{48F9D703-45F7-8A5C-5D28-BB55095DE5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3463" y="1784617"/>
            <a:ext cx="2700337" cy="3929086"/>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C3B637D3-D45B-FAA2-A99A-EDCD8983F3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4251" y="4561934"/>
            <a:ext cx="660949" cy="379271"/>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BBB0C122-40C4-F058-6852-B2D02E028D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5275" y="4183817"/>
            <a:ext cx="1800225" cy="28803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a:extLst>
              <a:ext uri="{FF2B5EF4-FFF2-40B4-BE49-F238E27FC236}">
                <a16:creationId xmlns:a16="http://schemas.microsoft.com/office/drawing/2014/main" id="{6422FECD-5A2C-47C0-7CA3-67AB3604D3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5105" y="7683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2387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AD9BF-3A73-1D08-2DFA-AC4DF9C90B13}"/>
              </a:ext>
            </a:extLst>
          </p:cNvPr>
          <p:cNvSpPr>
            <a:spLocks noGrp="1"/>
          </p:cNvSpPr>
          <p:nvPr>
            <p:ph type="title"/>
          </p:nvPr>
        </p:nvSpPr>
        <p:spPr/>
        <p:txBody>
          <a:bodyPr/>
          <a:lstStyle/>
          <a:p>
            <a:r>
              <a:rPr lang="en-US" dirty="0"/>
              <a:t>What is           ?</a:t>
            </a:r>
          </a:p>
        </p:txBody>
      </p:sp>
      <p:sp>
        <p:nvSpPr>
          <p:cNvPr id="3" name="Content Placeholder 2">
            <a:extLst>
              <a:ext uri="{FF2B5EF4-FFF2-40B4-BE49-F238E27FC236}">
                <a16:creationId xmlns:a16="http://schemas.microsoft.com/office/drawing/2014/main" id="{9D109CEC-D1E3-C782-74B6-9D8E545E6C30}"/>
              </a:ext>
            </a:extLst>
          </p:cNvPr>
          <p:cNvSpPr>
            <a:spLocks noGrp="1"/>
          </p:cNvSpPr>
          <p:nvPr>
            <p:ph idx="1"/>
          </p:nvPr>
        </p:nvSpPr>
        <p:spPr/>
        <p:txBody>
          <a:bodyPr/>
          <a:lstStyle/>
          <a:p>
            <a:pPr marL="457200" lvl="1" indent="0">
              <a:buNone/>
            </a:pPr>
            <a:endParaRPr lang="en-US" dirty="0"/>
          </a:p>
          <a:p>
            <a:pPr marL="457200" lvl="1" indent="0">
              <a:buNone/>
            </a:pPr>
            <a:endParaRPr lang="en-US" dirty="0"/>
          </a:p>
        </p:txBody>
      </p:sp>
      <p:pic>
        <p:nvPicPr>
          <p:cNvPr id="1026" name="Picture 2">
            <a:extLst>
              <a:ext uri="{FF2B5EF4-FFF2-40B4-BE49-F238E27FC236}">
                <a16:creationId xmlns:a16="http://schemas.microsoft.com/office/drawing/2014/main" id="{4BF66E6A-3625-B4E5-2267-62F3C4A38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4104" y="1789123"/>
            <a:ext cx="2548185" cy="245017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undefined">
            <a:extLst>
              <a:ext uri="{FF2B5EF4-FFF2-40B4-BE49-F238E27FC236}">
                <a16:creationId xmlns:a16="http://schemas.microsoft.com/office/drawing/2014/main" id="{C054BB0B-C936-60B6-CE12-14196EA6B7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2413" y="1789123"/>
            <a:ext cx="3657600" cy="25446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a:extLst>
              <a:ext uri="{FF2B5EF4-FFF2-40B4-BE49-F238E27FC236}">
                <a16:creationId xmlns:a16="http://schemas.microsoft.com/office/drawing/2014/main" id="{C2ABF3F0-0E79-2AAA-4BB2-0974B580B0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5105" y="768350"/>
            <a:ext cx="1395694" cy="58172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6A22A1FD-EF00-E129-17B1-8C7594A97E76}"/>
              </a:ext>
            </a:extLst>
          </p:cNvPr>
          <p:cNvPicPr>
            <a:picLocks noChangeAspect="1"/>
          </p:cNvPicPr>
          <p:nvPr/>
        </p:nvPicPr>
        <p:blipFill>
          <a:blip r:embed="rId6"/>
          <a:stretch>
            <a:fillRect/>
          </a:stretch>
        </p:blipFill>
        <p:spPr>
          <a:xfrm>
            <a:off x="2123811" y="5126773"/>
            <a:ext cx="7620660" cy="1280271"/>
          </a:xfrm>
          <a:prstGeom prst="rect">
            <a:avLst/>
          </a:prstGeom>
        </p:spPr>
      </p:pic>
    </p:spTree>
    <p:extLst>
      <p:ext uri="{BB962C8B-B14F-4D97-AF65-F5344CB8AC3E}">
        <p14:creationId xmlns:p14="http://schemas.microsoft.com/office/powerpoint/2010/main" val="1685094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AD9BF-3A73-1D08-2DFA-AC4DF9C90B13}"/>
              </a:ext>
            </a:extLst>
          </p:cNvPr>
          <p:cNvSpPr>
            <a:spLocks noGrp="1"/>
          </p:cNvSpPr>
          <p:nvPr>
            <p:ph type="title"/>
          </p:nvPr>
        </p:nvSpPr>
        <p:spPr/>
        <p:txBody>
          <a:bodyPr/>
          <a:lstStyle/>
          <a:p>
            <a:r>
              <a:rPr lang="en-US" dirty="0"/>
              <a:t>What is           ?</a:t>
            </a:r>
          </a:p>
        </p:txBody>
      </p:sp>
      <p:sp>
        <p:nvSpPr>
          <p:cNvPr id="3" name="Content Placeholder 2">
            <a:extLst>
              <a:ext uri="{FF2B5EF4-FFF2-40B4-BE49-F238E27FC236}">
                <a16:creationId xmlns:a16="http://schemas.microsoft.com/office/drawing/2014/main" id="{9D109CEC-D1E3-C782-74B6-9D8E545E6C30}"/>
              </a:ext>
            </a:extLst>
          </p:cNvPr>
          <p:cNvSpPr>
            <a:spLocks noGrp="1"/>
          </p:cNvSpPr>
          <p:nvPr>
            <p:ph idx="1"/>
          </p:nvPr>
        </p:nvSpPr>
        <p:spPr/>
        <p:txBody>
          <a:bodyPr/>
          <a:lstStyle/>
          <a:p>
            <a:r>
              <a:rPr lang="en-US" dirty="0"/>
              <a:t>Leslie </a:t>
            </a:r>
            <a:r>
              <a:rPr lang="en-US" dirty="0" err="1"/>
              <a:t>Lamport</a:t>
            </a:r>
            <a:endParaRPr lang="en-US" dirty="0"/>
          </a:p>
          <a:p>
            <a:pPr lvl="1"/>
            <a:r>
              <a:rPr lang="en-US" dirty="0"/>
              <a:t>Stanford Research Institute</a:t>
            </a:r>
          </a:p>
          <a:p>
            <a:pPr lvl="1"/>
            <a:r>
              <a:rPr lang="en-US" dirty="0"/>
              <a:t>Working on own book, wrote </a:t>
            </a:r>
            <a:br>
              <a:rPr lang="en-US" dirty="0"/>
            </a:br>
            <a:r>
              <a:rPr lang="en-US" dirty="0"/>
              <a:t>macros that eventually became</a:t>
            </a:r>
          </a:p>
          <a:p>
            <a:pPr lvl="1"/>
            <a:r>
              <a:rPr lang="en-US" dirty="0"/>
              <a:t>Published user manual   </a:t>
            </a:r>
          </a:p>
          <a:p>
            <a:pPr marL="457200" lvl="1" indent="0">
              <a:buNone/>
            </a:pPr>
            <a:r>
              <a:rPr lang="en-US" dirty="0"/>
              <a:t> </a:t>
            </a:r>
          </a:p>
          <a:p>
            <a:pPr marL="457200" lvl="1" indent="0">
              <a:buNone/>
            </a:pPr>
            <a:endParaRPr lang="en-US" dirty="0"/>
          </a:p>
          <a:p>
            <a:pPr marL="457200" lvl="1" indent="0">
              <a:buNone/>
            </a:pPr>
            <a:endParaRPr lang="en-US" dirty="0"/>
          </a:p>
        </p:txBody>
      </p:sp>
      <p:pic>
        <p:nvPicPr>
          <p:cNvPr id="4098" name="Picture 2" descr="Leslie Lamport">
            <a:extLst>
              <a:ext uri="{FF2B5EF4-FFF2-40B4-BE49-F238E27FC236}">
                <a16:creationId xmlns:a16="http://schemas.microsoft.com/office/drawing/2014/main" id="{14C1C66A-97B5-1741-946E-61890807931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707" r="18200"/>
          <a:stretch/>
        </p:blipFill>
        <p:spPr bwMode="auto">
          <a:xfrm>
            <a:off x="8670431" y="1804468"/>
            <a:ext cx="2683369" cy="396716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a:extLst>
              <a:ext uri="{FF2B5EF4-FFF2-40B4-BE49-F238E27FC236}">
                <a16:creationId xmlns:a16="http://schemas.microsoft.com/office/drawing/2014/main" id="{65BD7F92-2ECE-CADD-5835-7E5C10E8E3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4950" y="3026466"/>
            <a:ext cx="886120" cy="36933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a:extLst>
              <a:ext uri="{FF2B5EF4-FFF2-40B4-BE49-F238E27FC236}">
                <a16:creationId xmlns:a16="http://schemas.microsoft.com/office/drawing/2014/main" id="{0749969A-12A5-7B00-520C-2BE14708AF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5105" y="7683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0652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ED3E5-2548-97B1-66A1-8611F9F07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FB2FD-E468-8F3D-8561-B323455B26F2}"/>
              </a:ext>
            </a:extLst>
          </p:cNvPr>
          <p:cNvSpPr>
            <a:spLocks noGrp="1"/>
          </p:cNvSpPr>
          <p:nvPr>
            <p:ph type="title"/>
          </p:nvPr>
        </p:nvSpPr>
        <p:spPr/>
        <p:txBody>
          <a:bodyPr/>
          <a:lstStyle/>
          <a:p>
            <a:r>
              <a:rPr lang="en-US" dirty="0"/>
              <a:t>What is           ?</a:t>
            </a:r>
          </a:p>
        </p:txBody>
      </p:sp>
      <p:sp>
        <p:nvSpPr>
          <p:cNvPr id="3" name="Content Placeholder 2">
            <a:extLst>
              <a:ext uri="{FF2B5EF4-FFF2-40B4-BE49-F238E27FC236}">
                <a16:creationId xmlns:a16="http://schemas.microsoft.com/office/drawing/2014/main" id="{BE0BA9E6-4721-E7EA-EC5A-31C3AE9611C3}"/>
              </a:ext>
            </a:extLst>
          </p:cNvPr>
          <p:cNvSpPr>
            <a:spLocks noGrp="1"/>
          </p:cNvSpPr>
          <p:nvPr>
            <p:ph idx="1"/>
          </p:nvPr>
        </p:nvSpPr>
        <p:spPr/>
        <p:txBody>
          <a:bodyPr>
            <a:normAutofit/>
          </a:bodyPr>
          <a:lstStyle/>
          <a:p>
            <a:r>
              <a:rPr lang="en-US" dirty="0"/>
              <a:t>Fun facts to know and tell:</a:t>
            </a:r>
          </a:p>
          <a:p>
            <a:pPr lvl="1"/>
            <a:r>
              <a:rPr lang="en-US" dirty="0"/>
              <a:t>Free and open source </a:t>
            </a:r>
          </a:p>
          <a:p>
            <a:pPr lvl="1"/>
            <a:r>
              <a:rPr lang="en-US" dirty="0"/>
              <a:t>Markup language</a:t>
            </a:r>
          </a:p>
          <a:p>
            <a:pPr lvl="1"/>
            <a:r>
              <a:rPr lang="en-US" dirty="0"/>
              <a:t>Extensible through “packages”</a:t>
            </a:r>
          </a:p>
          <a:p>
            <a:pPr lvl="1"/>
            <a:r>
              <a:rPr lang="en-US" dirty="0"/>
              <a:t>Cross platform</a:t>
            </a:r>
          </a:p>
          <a:p>
            <a:pPr lvl="1"/>
            <a:r>
              <a:rPr lang="en-US" dirty="0"/>
              <a:t>Device-independent output (e.g., PDF)</a:t>
            </a:r>
          </a:p>
          <a:p>
            <a:pPr lvl="1"/>
            <a:r>
              <a:rPr lang="en-US" dirty="0"/>
              <a:t>Well established and documented</a:t>
            </a:r>
          </a:p>
          <a:p>
            <a:pPr marL="457200" lvl="1" indent="0">
              <a:buNone/>
            </a:pPr>
            <a:endParaRPr lang="en-US" dirty="0"/>
          </a:p>
        </p:txBody>
      </p:sp>
      <p:pic>
        <p:nvPicPr>
          <p:cNvPr id="4" name="Picture 6">
            <a:extLst>
              <a:ext uri="{FF2B5EF4-FFF2-40B4-BE49-F238E27FC236}">
                <a16:creationId xmlns:a16="http://schemas.microsoft.com/office/drawing/2014/main" id="{4CD2A335-7B53-469C-FB20-E83FE0E4B3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5105" y="7683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9554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0A34E-778F-2003-623A-6D5FC2D37B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C08A7C-F62E-5D10-17A8-C8897576183D}"/>
              </a:ext>
            </a:extLst>
          </p:cNvPr>
          <p:cNvSpPr>
            <a:spLocks noGrp="1"/>
          </p:cNvSpPr>
          <p:nvPr>
            <p:ph type="title"/>
          </p:nvPr>
        </p:nvSpPr>
        <p:spPr/>
        <p:txBody>
          <a:bodyPr/>
          <a:lstStyle/>
          <a:p>
            <a:r>
              <a:rPr lang="en-US" dirty="0"/>
              <a:t>What is           ?</a:t>
            </a:r>
          </a:p>
        </p:txBody>
      </p:sp>
      <p:sp>
        <p:nvSpPr>
          <p:cNvPr id="3" name="Content Placeholder 2">
            <a:extLst>
              <a:ext uri="{FF2B5EF4-FFF2-40B4-BE49-F238E27FC236}">
                <a16:creationId xmlns:a16="http://schemas.microsoft.com/office/drawing/2014/main" id="{929A6407-8897-A63A-5FE7-D0F39B020338}"/>
              </a:ext>
            </a:extLst>
          </p:cNvPr>
          <p:cNvSpPr>
            <a:spLocks noGrp="1"/>
          </p:cNvSpPr>
          <p:nvPr>
            <p:ph idx="1"/>
          </p:nvPr>
        </p:nvSpPr>
        <p:spPr/>
        <p:txBody>
          <a:bodyPr>
            <a:normAutofit lnSpcReduction="10000"/>
          </a:bodyPr>
          <a:lstStyle/>
          <a:p>
            <a:r>
              <a:rPr lang="en-US" dirty="0"/>
              <a:t>Competitors</a:t>
            </a:r>
          </a:p>
          <a:p>
            <a:pPr lvl="1"/>
            <a:r>
              <a:rPr lang="en-US" dirty="0" err="1"/>
              <a:t>ConTeXt</a:t>
            </a:r>
            <a:endParaRPr lang="en-US" dirty="0"/>
          </a:p>
          <a:p>
            <a:pPr lvl="2"/>
            <a:r>
              <a:rPr lang="en-US" dirty="0" err="1"/>
              <a:t>TeX</a:t>
            </a:r>
            <a:r>
              <a:rPr lang="en-US" dirty="0"/>
              <a:t>-based, open source</a:t>
            </a:r>
          </a:p>
          <a:p>
            <a:pPr lvl="2"/>
            <a:r>
              <a:rPr lang="en-US" dirty="0"/>
              <a:t>More built-in functions (less need for packages)</a:t>
            </a:r>
          </a:p>
          <a:p>
            <a:pPr lvl="2"/>
            <a:r>
              <a:rPr lang="en-US" dirty="0"/>
              <a:t>Simpler macros</a:t>
            </a:r>
          </a:p>
          <a:p>
            <a:pPr lvl="1"/>
            <a:r>
              <a:rPr lang="en-US" dirty="0"/>
              <a:t>R Markdown</a:t>
            </a:r>
          </a:p>
          <a:p>
            <a:pPr lvl="2"/>
            <a:r>
              <a:rPr lang="en-US" dirty="0"/>
              <a:t>Free, open source</a:t>
            </a:r>
          </a:p>
          <a:p>
            <a:pPr lvl="2"/>
            <a:r>
              <a:rPr lang="en-US" dirty="0"/>
              <a:t>R package</a:t>
            </a:r>
          </a:p>
          <a:p>
            <a:pPr lvl="2"/>
            <a:r>
              <a:rPr lang="en-US" dirty="0"/>
              <a:t>Uses markdown syntax</a:t>
            </a:r>
          </a:p>
          <a:p>
            <a:pPr lvl="1"/>
            <a:r>
              <a:rPr lang="en-US" dirty="0" err="1"/>
              <a:t>Typst</a:t>
            </a:r>
            <a:endParaRPr lang="en-US" dirty="0"/>
          </a:p>
          <a:p>
            <a:pPr lvl="2"/>
            <a:r>
              <a:rPr lang="en-US" dirty="0"/>
              <a:t>Freemium model</a:t>
            </a:r>
          </a:p>
          <a:p>
            <a:pPr lvl="2"/>
            <a:r>
              <a:rPr lang="en-US" dirty="0"/>
              <a:t>Markdown-like syntax</a:t>
            </a:r>
          </a:p>
          <a:p>
            <a:pPr lvl="2"/>
            <a:r>
              <a:rPr lang="en-US" dirty="0"/>
              <a:t>Not as capable for complex documents</a:t>
            </a:r>
          </a:p>
          <a:p>
            <a:pPr lvl="1"/>
            <a:endParaRPr lang="en-US" dirty="0"/>
          </a:p>
          <a:p>
            <a:pPr marL="457200" lvl="1" indent="0">
              <a:buNone/>
            </a:pPr>
            <a:endParaRPr lang="en-US" dirty="0"/>
          </a:p>
        </p:txBody>
      </p:sp>
      <p:pic>
        <p:nvPicPr>
          <p:cNvPr id="4" name="Picture 6">
            <a:extLst>
              <a:ext uri="{FF2B5EF4-FFF2-40B4-BE49-F238E27FC236}">
                <a16:creationId xmlns:a16="http://schemas.microsoft.com/office/drawing/2014/main" id="{994DDA7B-124B-EA8F-4A91-D53ACF3BA1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5105" y="7683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2547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4C98A-5128-B4D5-9EEE-B378ED0178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0A3074-4E94-0A9A-A594-19030D4B5F31}"/>
              </a:ext>
            </a:extLst>
          </p:cNvPr>
          <p:cNvSpPr>
            <a:spLocks noGrp="1"/>
          </p:cNvSpPr>
          <p:nvPr>
            <p:ph type="title"/>
          </p:nvPr>
        </p:nvSpPr>
        <p:spPr/>
        <p:txBody>
          <a:bodyPr/>
          <a:lstStyle/>
          <a:p>
            <a:r>
              <a:rPr lang="en-US" dirty="0"/>
              <a:t>Structure of the Talk</a:t>
            </a:r>
          </a:p>
        </p:txBody>
      </p:sp>
      <p:sp>
        <p:nvSpPr>
          <p:cNvPr id="3" name="Content Placeholder 2">
            <a:extLst>
              <a:ext uri="{FF2B5EF4-FFF2-40B4-BE49-F238E27FC236}">
                <a16:creationId xmlns:a16="http://schemas.microsoft.com/office/drawing/2014/main" id="{3ACFE7CE-85FB-7145-85B5-8927E99F08AF}"/>
              </a:ext>
            </a:extLst>
          </p:cNvPr>
          <p:cNvSpPr>
            <a:spLocks noGrp="1"/>
          </p:cNvSpPr>
          <p:nvPr>
            <p:ph idx="1"/>
          </p:nvPr>
        </p:nvSpPr>
        <p:spPr/>
        <p:txBody>
          <a:bodyPr>
            <a:normAutofit fontScale="92500" lnSpcReduction="10000"/>
          </a:bodyPr>
          <a:lstStyle/>
          <a:p>
            <a:r>
              <a:rPr lang="en-US" dirty="0"/>
              <a:t>Unit 1: Basics</a:t>
            </a:r>
          </a:p>
          <a:p>
            <a:pPr lvl="1"/>
            <a:r>
              <a:rPr lang="en-US" dirty="0"/>
              <a:t>What is            ?</a:t>
            </a:r>
          </a:p>
          <a:p>
            <a:pPr lvl="1"/>
            <a:r>
              <a:rPr lang="en-US" dirty="0">
                <a:solidFill>
                  <a:schemeClr val="accent1"/>
                </a:solidFill>
              </a:rPr>
              <a:t>How do I use it?</a:t>
            </a:r>
          </a:p>
          <a:p>
            <a:pPr lvl="1"/>
            <a:r>
              <a:rPr lang="en-US" dirty="0"/>
              <a:t>Sample profile design workflow</a:t>
            </a:r>
          </a:p>
          <a:p>
            <a:r>
              <a:rPr lang="en-US" dirty="0"/>
              <a:t>Unit 2: Deeper Dive</a:t>
            </a:r>
          </a:p>
          <a:p>
            <a:pPr lvl="1"/>
            <a:r>
              <a:rPr lang="en-US" dirty="0"/>
              <a:t>Preamble</a:t>
            </a:r>
          </a:p>
          <a:p>
            <a:pPr lvl="1"/>
            <a:r>
              <a:rPr lang="en-US" dirty="0"/>
              <a:t>Structure</a:t>
            </a:r>
          </a:p>
          <a:p>
            <a:pPr lvl="1"/>
            <a:r>
              <a:rPr lang="en-US" dirty="0"/>
              <a:t>Text sizes &amp; styles</a:t>
            </a:r>
          </a:p>
          <a:p>
            <a:pPr lvl="1"/>
            <a:r>
              <a:rPr lang="en-US" dirty="0"/>
              <a:t>Environments</a:t>
            </a:r>
          </a:p>
          <a:p>
            <a:pPr lvl="1"/>
            <a:r>
              <a:rPr lang="en-US" dirty="0"/>
              <a:t>Lengths</a:t>
            </a:r>
          </a:p>
          <a:p>
            <a:pPr lvl="1"/>
            <a:r>
              <a:rPr lang="en-US" dirty="0"/>
              <a:t>Spacing</a:t>
            </a:r>
          </a:p>
          <a:p>
            <a:r>
              <a:rPr lang="en-US" dirty="0"/>
              <a:t>Unit 3: </a:t>
            </a:r>
            <a:r>
              <a:rPr lang="en-US" dirty="0" err="1"/>
              <a:t>LaTable</a:t>
            </a:r>
            <a:r>
              <a:rPr lang="en-US" dirty="0"/>
              <a:t>: a Stata table generator for data factsheets</a:t>
            </a:r>
          </a:p>
          <a:p>
            <a:pPr lvl="1"/>
            <a:endParaRPr lang="en-US" dirty="0"/>
          </a:p>
          <a:p>
            <a:pPr lvl="1"/>
            <a:endParaRPr lang="en-US" dirty="0"/>
          </a:p>
        </p:txBody>
      </p:sp>
      <p:pic>
        <p:nvPicPr>
          <p:cNvPr id="4" name="Picture 6">
            <a:extLst>
              <a:ext uri="{FF2B5EF4-FFF2-40B4-BE49-F238E27FC236}">
                <a16:creationId xmlns:a16="http://schemas.microsoft.com/office/drawing/2014/main" id="{F97347DC-4D69-D7D2-1356-EE295D83BF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6088" y="2226945"/>
            <a:ext cx="731520" cy="304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1428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AD9BF-3A73-1D08-2DFA-AC4DF9C90B13}"/>
              </a:ext>
            </a:extLst>
          </p:cNvPr>
          <p:cNvSpPr>
            <a:spLocks noGrp="1"/>
          </p:cNvSpPr>
          <p:nvPr>
            <p:ph type="title"/>
          </p:nvPr>
        </p:nvSpPr>
        <p:spPr/>
        <p:txBody>
          <a:bodyPr/>
          <a:lstStyle/>
          <a:p>
            <a:r>
              <a:rPr lang="en-US" dirty="0"/>
              <a:t>Using</a:t>
            </a:r>
          </a:p>
        </p:txBody>
      </p:sp>
      <p:sp>
        <p:nvSpPr>
          <p:cNvPr id="3" name="Content Placeholder 2">
            <a:extLst>
              <a:ext uri="{FF2B5EF4-FFF2-40B4-BE49-F238E27FC236}">
                <a16:creationId xmlns:a16="http://schemas.microsoft.com/office/drawing/2014/main" id="{9D109CEC-D1E3-C782-74B6-9D8E545E6C30}"/>
              </a:ext>
            </a:extLst>
          </p:cNvPr>
          <p:cNvSpPr>
            <a:spLocks noGrp="1"/>
          </p:cNvSpPr>
          <p:nvPr>
            <p:ph idx="1"/>
          </p:nvPr>
        </p:nvSpPr>
        <p:spPr/>
        <p:txBody>
          <a:bodyPr/>
          <a:lstStyle/>
          <a:p>
            <a:r>
              <a:rPr lang="en-US" dirty="0"/>
              <a:t>Online Systems</a:t>
            </a:r>
          </a:p>
          <a:p>
            <a:pPr lvl="1"/>
            <a:r>
              <a:rPr lang="en-US" dirty="0"/>
              <a:t>Overleaf</a:t>
            </a:r>
          </a:p>
          <a:p>
            <a:pPr lvl="1"/>
            <a:r>
              <a:rPr lang="en-US" dirty="0" err="1"/>
              <a:t>CoCalc</a:t>
            </a:r>
            <a:r>
              <a:rPr lang="en-US" dirty="0"/>
              <a:t> (designed for collaboration)</a:t>
            </a:r>
          </a:p>
          <a:p>
            <a:r>
              <a:rPr lang="en-US" dirty="0"/>
              <a:t>Offline Systems</a:t>
            </a:r>
          </a:p>
          <a:p>
            <a:pPr lvl="1"/>
            <a:r>
              <a:rPr lang="en-US" dirty="0" err="1"/>
              <a:t>MikTeX</a:t>
            </a:r>
            <a:r>
              <a:rPr lang="en-US" dirty="0"/>
              <a:t> (Windows, Mac, Linux)</a:t>
            </a:r>
          </a:p>
          <a:p>
            <a:pPr lvl="1"/>
            <a:r>
              <a:rPr lang="en-US" dirty="0" err="1"/>
              <a:t>MacTex</a:t>
            </a:r>
            <a:r>
              <a:rPr lang="en-US" dirty="0"/>
              <a:t> (Mac)</a:t>
            </a:r>
          </a:p>
          <a:p>
            <a:pPr lvl="1"/>
            <a:endParaRPr lang="en-US" dirty="0"/>
          </a:p>
          <a:p>
            <a:pPr marL="457200" lvl="1" indent="0">
              <a:buNone/>
            </a:pPr>
            <a:r>
              <a:rPr lang="en-US" dirty="0"/>
              <a:t> </a:t>
            </a:r>
          </a:p>
          <a:p>
            <a:pPr marL="457200" lvl="1" indent="0">
              <a:buNone/>
            </a:pPr>
            <a:endParaRPr lang="en-US" dirty="0"/>
          </a:p>
          <a:p>
            <a:pPr marL="457200" lvl="1" indent="0">
              <a:buNone/>
            </a:pPr>
            <a:endParaRPr lang="en-US" dirty="0"/>
          </a:p>
        </p:txBody>
      </p:sp>
      <p:pic>
        <p:nvPicPr>
          <p:cNvPr id="9" name="Picture 6">
            <a:extLst>
              <a:ext uri="{FF2B5EF4-FFF2-40B4-BE49-F238E27FC236}">
                <a16:creationId xmlns:a16="http://schemas.microsoft.com/office/drawing/2014/main" id="{6422FECD-5A2C-47C0-7CA3-67AB3604D3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2550" y="7899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0723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AD9BF-3A73-1D08-2DFA-AC4DF9C90B13}"/>
              </a:ext>
            </a:extLst>
          </p:cNvPr>
          <p:cNvSpPr>
            <a:spLocks noGrp="1"/>
          </p:cNvSpPr>
          <p:nvPr>
            <p:ph type="title"/>
          </p:nvPr>
        </p:nvSpPr>
        <p:spPr/>
        <p:txBody>
          <a:bodyPr/>
          <a:lstStyle/>
          <a:p>
            <a:r>
              <a:rPr lang="en-US" dirty="0"/>
              <a:t>Using</a:t>
            </a:r>
          </a:p>
        </p:txBody>
      </p:sp>
      <p:sp>
        <p:nvSpPr>
          <p:cNvPr id="3" name="Content Placeholder 2">
            <a:extLst>
              <a:ext uri="{FF2B5EF4-FFF2-40B4-BE49-F238E27FC236}">
                <a16:creationId xmlns:a16="http://schemas.microsoft.com/office/drawing/2014/main" id="{9D109CEC-D1E3-C782-74B6-9D8E545E6C30}"/>
              </a:ext>
            </a:extLst>
          </p:cNvPr>
          <p:cNvSpPr>
            <a:spLocks noGrp="1"/>
          </p:cNvSpPr>
          <p:nvPr>
            <p:ph idx="1"/>
          </p:nvPr>
        </p:nvSpPr>
        <p:spPr/>
        <p:txBody>
          <a:bodyPr>
            <a:normAutofit fontScale="92500" lnSpcReduction="20000"/>
          </a:bodyPr>
          <a:lstStyle/>
          <a:p>
            <a:r>
              <a:rPr lang="en-US" dirty="0"/>
              <a:t>Document consists of two parts:</a:t>
            </a:r>
          </a:p>
          <a:p>
            <a:pPr lvl="1"/>
            <a:r>
              <a:rPr lang="en-US" dirty="0"/>
              <a:t>Preamble</a:t>
            </a:r>
          </a:p>
          <a:p>
            <a:pPr lvl="2"/>
            <a:r>
              <a:rPr lang="en-US" dirty="0"/>
              <a:t>Document class– Required! </a:t>
            </a:r>
          </a:p>
          <a:p>
            <a:pPr lvl="2"/>
            <a:r>
              <a:rPr lang="en-US" dirty="0"/>
              <a:t>Packages</a:t>
            </a:r>
          </a:p>
          <a:p>
            <a:pPr lvl="2"/>
            <a:r>
              <a:rPr lang="en-US" dirty="0"/>
              <a:t>Macros</a:t>
            </a:r>
          </a:p>
          <a:p>
            <a:pPr lvl="2"/>
            <a:r>
              <a:rPr lang="en-US" dirty="0"/>
              <a:t>Other definitions, e.g., colors</a:t>
            </a:r>
          </a:p>
          <a:p>
            <a:pPr lvl="1"/>
            <a:r>
              <a:rPr lang="en-US" dirty="0"/>
              <a:t>Document</a:t>
            </a:r>
          </a:p>
          <a:p>
            <a:pPr lvl="2"/>
            <a:r>
              <a:rPr lang="en-US" dirty="0"/>
              <a:t>\begin{document}</a:t>
            </a:r>
          </a:p>
          <a:p>
            <a:pPr lvl="2"/>
            <a:r>
              <a:rPr lang="en-US" dirty="0"/>
              <a:t>\end{document}</a:t>
            </a:r>
          </a:p>
          <a:p>
            <a:r>
              <a:rPr lang="en-US" dirty="0"/>
              <a:t>Comments</a:t>
            </a:r>
          </a:p>
          <a:p>
            <a:pPr lvl="1"/>
            <a:r>
              <a:rPr lang="en-US" dirty="0"/>
              <a:t>Compiler will ignore everything from % to the end of the line</a:t>
            </a:r>
          </a:p>
          <a:p>
            <a:pPr lvl="1"/>
            <a:r>
              <a:rPr lang="en-US" dirty="0"/>
              <a:t>Need a percent sign? Escape it: \%</a:t>
            </a:r>
          </a:p>
          <a:p>
            <a:r>
              <a:rPr lang="en-US" dirty="0"/>
              <a:t>Command format: \command[optional]{required} </a:t>
            </a:r>
          </a:p>
          <a:p>
            <a:pPr marL="457200" lvl="1" indent="0">
              <a:buNone/>
            </a:pPr>
            <a:endParaRPr lang="en-US" dirty="0"/>
          </a:p>
          <a:p>
            <a:pPr marL="457200" lvl="1" indent="0">
              <a:buNone/>
            </a:pPr>
            <a:endParaRPr lang="en-US" dirty="0"/>
          </a:p>
        </p:txBody>
      </p:sp>
      <p:pic>
        <p:nvPicPr>
          <p:cNvPr id="9" name="Picture 6">
            <a:extLst>
              <a:ext uri="{FF2B5EF4-FFF2-40B4-BE49-F238E27FC236}">
                <a16:creationId xmlns:a16="http://schemas.microsoft.com/office/drawing/2014/main" id="{6422FECD-5A2C-47C0-7CA3-67AB3604D3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2550" y="7899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5514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369014" y="0"/>
            <a:ext cx="7453972" cy="6837523"/>
          </a:xfrm>
        </p:spPr>
      </p:pic>
      <p:sp>
        <p:nvSpPr>
          <p:cNvPr id="2" name="Rectangle 1">
            <a:extLst>
              <a:ext uri="{FF2B5EF4-FFF2-40B4-BE49-F238E27FC236}">
                <a16:creationId xmlns:a16="http://schemas.microsoft.com/office/drawing/2014/main" id="{5E01DF72-EAF3-BC66-A8AB-EB4FAE6B9FF1}"/>
              </a:ext>
            </a:extLst>
          </p:cNvPr>
          <p:cNvSpPr/>
          <p:nvPr/>
        </p:nvSpPr>
        <p:spPr>
          <a:xfrm>
            <a:off x="2315604" y="460489"/>
            <a:ext cx="1894584" cy="27834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D74C8657-D403-9A4C-9526-7464928088C4}"/>
              </a:ext>
            </a:extLst>
          </p:cNvPr>
          <p:cNvCxnSpPr>
            <a:cxnSpLocks/>
          </p:cNvCxnSpPr>
          <p:nvPr/>
        </p:nvCxnSpPr>
        <p:spPr>
          <a:xfrm flipH="1" flipV="1">
            <a:off x="4210188" y="943661"/>
            <a:ext cx="6490997" cy="11433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A78E1D5-3FEA-5BD8-10CF-4AC494C73ECB}"/>
              </a:ext>
            </a:extLst>
          </p:cNvPr>
          <p:cNvSpPr txBox="1"/>
          <p:nvPr/>
        </p:nvSpPr>
        <p:spPr>
          <a:xfrm>
            <a:off x="9979825" y="2087003"/>
            <a:ext cx="1499513" cy="369332"/>
          </a:xfrm>
          <a:prstGeom prst="rect">
            <a:avLst/>
          </a:prstGeom>
          <a:noFill/>
        </p:spPr>
        <p:txBody>
          <a:bodyPr wrap="square" rtlCol="0">
            <a:spAutoFit/>
          </a:bodyPr>
          <a:lstStyle/>
          <a:p>
            <a:r>
              <a:rPr lang="en-US" dirty="0"/>
              <a:t>article class</a:t>
            </a:r>
          </a:p>
        </p:txBody>
      </p:sp>
    </p:spTree>
    <p:extLst>
      <p:ext uri="{BB962C8B-B14F-4D97-AF65-F5344CB8AC3E}">
        <p14:creationId xmlns:p14="http://schemas.microsoft.com/office/powerpoint/2010/main" val="2909482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970215" y="10238"/>
            <a:ext cx="10251569" cy="6837523"/>
          </a:xfrm>
        </p:spPr>
      </p:pic>
    </p:spTree>
    <p:extLst>
      <p:ext uri="{BB962C8B-B14F-4D97-AF65-F5344CB8AC3E}">
        <p14:creationId xmlns:p14="http://schemas.microsoft.com/office/powerpoint/2010/main" val="2889358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369014" y="0"/>
            <a:ext cx="7453972" cy="6837523"/>
          </a:xfrm>
        </p:spPr>
      </p:pic>
      <p:cxnSp>
        <p:nvCxnSpPr>
          <p:cNvPr id="4" name="Straight Arrow Connector 3">
            <a:extLst>
              <a:ext uri="{FF2B5EF4-FFF2-40B4-BE49-F238E27FC236}">
                <a16:creationId xmlns:a16="http://schemas.microsoft.com/office/drawing/2014/main" id="{B08FCEDC-9223-D407-48BA-960B218753BF}"/>
              </a:ext>
            </a:extLst>
          </p:cNvPr>
          <p:cNvCxnSpPr>
            <a:cxnSpLocks/>
          </p:cNvCxnSpPr>
          <p:nvPr/>
        </p:nvCxnSpPr>
        <p:spPr>
          <a:xfrm flipH="1" flipV="1">
            <a:off x="3935578" y="1177747"/>
            <a:ext cx="6752450" cy="125791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DCFD297-D2E6-857E-D2AF-5C35B021A911}"/>
              </a:ext>
            </a:extLst>
          </p:cNvPr>
          <p:cNvSpPr txBox="1"/>
          <p:nvPr/>
        </p:nvSpPr>
        <p:spPr>
          <a:xfrm>
            <a:off x="9966668" y="2435659"/>
            <a:ext cx="1946846" cy="369332"/>
          </a:xfrm>
          <a:prstGeom prst="rect">
            <a:avLst/>
          </a:prstGeom>
          <a:noFill/>
        </p:spPr>
        <p:txBody>
          <a:bodyPr wrap="square" rtlCol="0">
            <a:spAutoFit/>
          </a:bodyPr>
          <a:lstStyle/>
          <a:p>
            <a:r>
              <a:rPr lang="en-US" dirty="0"/>
              <a:t>empty </a:t>
            </a:r>
            <a:r>
              <a:rPr lang="en-US" dirty="0" err="1"/>
              <a:t>pagestyle</a:t>
            </a:r>
            <a:endParaRPr lang="en-US" dirty="0"/>
          </a:p>
        </p:txBody>
      </p:sp>
    </p:spTree>
    <p:extLst>
      <p:ext uri="{BB962C8B-B14F-4D97-AF65-F5344CB8AC3E}">
        <p14:creationId xmlns:p14="http://schemas.microsoft.com/office/powerpoint/2010/main" val="528598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970215" y="10238"/>
            <a:ext cx="10251569" cy="6837523"/>
          </a:xfrm>
        </p:spPr>
      </p:pic>
    </p:spTree>
    <p:extLst>
      <p:ext uri="{BB962C8B-B14F-4D97-AF65-F5344CB8AC3E}">
        <p14:creationId xmlns:p14="http://schemas.microsoft.com/office/powerpoint/2010/main" val="3427945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369014" y="0"/>
            <a:ext cx="7453972" cy="6837523"/>
          </a:xfrm>
        </p:spPr>
      </p:pic>
      <p:cxnSp>
        <p:nvCxnSpPr>
          <p:cNvPr id="2" name="Straight Arrow Connector 1">
            <a:extLst>
              <a:ext uri="{FF2B5EF4-FFF2-40B4-BE49-F238E27FC236}">
                <a16:creationId xmlns:a16="http://schemas.microsoft.com/office/drawing/2014/main" id="{1F06A0F1-86FF-C24C-D726-802120024CCD}"/>
              </a:ext>
            </a:extLst>
          </p:cNvPr>
          <p:cNvCxnSpPr>
            <a:cxnSpLocks/>
          </p:cNvCxnSpPr>
          <p:nvPr/>
        </p:nvCxnSpPr>
        <p:spPr>
          <a:xfrm flipH="1" flipV="1">
            <a:off x="4330598" y="914400"/>
            <a:ext cx="6370587" cy="11726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FA48525-FC46-5B29-7C2B-F630C5FCE6A3}"/>
              </a:ext>
            </a:extLst>
          </p:cNvPr>
          <p:cNvSpPr txBox="1"/>
          <p:nvPr/>
        </p:nvSpPr>
        <p:spPr>
          <a:xfrm>
            <a:off x="9979825" y="2087003"/>
            <a:ext cx="1499513" cy="369332"/>
          </a:xfrm>
          <a:prstGeom prst="rect">
            <a:avLst/>
          </a:prstGeom>
          <a:noFill/>
        </p:spPr>
        <p:txBody>
          <a:bodyPr wrap="square" rtlCol="0">
            <a:spAutoFit/>
          </a:bodyPr>
          <a:lstStyle/>
          <a:p>
            <a:r>
              <a:rPr lang="en-US" dirty="0"/>
              <a:t>Beamer class</a:t>
            </a:r>
          </a:p>
        </p:txBody>
      </p:sp>
    </p:spTree>
    <p:extLst>
      <p:ext uri="{BB962C8B-B14F-4D97-AF65-F5344CB8AC3E}">
        <p14:creationId xmlns:p14="http://schemas.microsoft.com/office/powerpoint/2010/main" val="1910584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970215" y="10238"/>
            <a:ext cx="10251569" cy="6837523"/>
          </a:xfrm>
        </p:spPr>
      </p:pic>
    </p:spTree>
    <p:extLst>
      <p:ext uri="{BB962C8B-B14F-4D97-AF65-F5344CB8AC3E}">
        <p14:creationId xmlns:p14="http://schemas.microsoft.com/office/powerpoint/2010/main" val="3630371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4BBE529-0934-3556-B07D-AFADD46B5403}"/>
              </a:ext>
            </a:extLst>
          </p:cNvPr>
          <p:cNvPicPr>
            <a:picLocks noChangeAspect="1"/>
          </p:cNvPicPr>
          <p:nvPr/>
        </p:nvPicPr>
        <p:blipFill>
          <a:blip r:embed="rId3"/>
          <a:stretch>
            <a:fillRect/>
          </a:stretch>
        </p:blipFill>
        <p:spPr>
          <a:xfrm>
            <a:off x="2359925" y="0"/>
            <a:ext cx="7472150" cy="6858000"/>
          </a:xfrm>
          <a:prstGeom prst="rect">
            <a:avLst/>
          </a:prstGeom>
        </p:spPr>
      </p:pic>
      <p:cxnSp>
        <p:nvCxnSpPr>
          <p:cNvPr id="6" name="Straight Arrow Connector 5">
            <a:extLst>
              <a:ext uri="{FF2B5EF4-FFF2-40B4-BE49-F238E27FC236}">
                <a16:creationId xmlns:a16="http://schemas.microsoft.com/office/drawing/2014/main" id="{943DB0A2-36B3-9CC2-7059-CE7813229A58}"/>
              </a:ext>
            </a:extLst>
          </p:cNvPr>
          <p:cNvCxnSpPr>
            <a:cxnSpLocks/>
          </p:cNvCxnSpPr>
          <p:nvPr/>
        </p:nvCxnSpPr>
        <p:spPr>
          <a:xfrm flipH="1" flipV="1">
            <a:off x="7907731" y="2823667"/>
            <a:ext cx="3227629" cy="60533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958A8A4-63B3-E1D3-A003-0C39188838A4}"/>
              </a:ext>
            </a:extLst>
          </p:cNvPr>
          <p:cNvSpPr txBox="1"/>
          <p:nvPr/>
        </p:nvSpPr>
        <p:spPr>
          <a:xfrm>
            <a:off x="10414000" y="3429000"/>
            <a:ext cx="1298241" cy="369332"/>
          </a:xfrm>
          <a:prstGeom prst="rect">
            <a:avLst/>
          </a:prstGeom>
          <a:noFill/>
        </p:spPr>
        <p:txBody>
          <a:bodyPr wrap="none" rtlCol="0">
            <a:spAutoFit/>
          </a:bodyPr>
          <a:lstStyle/>
          <a:p>
            <a:r>
              <a:rPr lang="en-US" dirty="0"/>
              <a:t>Math Mode</a:t>
            </a:r>
          </a:p>
        </p:txBody>
      </p:sp>
      <p:cxnSp>
        <p:nvCxnSpPr>
          <p:cNvPr id="2" name="Straight Arrow Connector 1">
            <a:extLst>
              <a:ext uri="{FF2B5EF4-FFF2-40B4-BE49-F238E27FC236}">
                <a16:creationId xmlns:a16="http://schemas.microsoft.com/office/drawing/2014/main" id="{3919C0C2-179B-D68C-49F2-20172A0B4708}"/>
              </a:ext>
            </a:extLst>
          </p:cNvPr>
          <p:cNvCxnSpPr>
            <a:cxnSpLocks/>
            <a:stCxn id="3" idx="2"/>
          </p:cNvCxnSpPr>
          <p:nvPr/>
        </p:nvCxnSpPr>
        <p:spPr>
          <a:xfrm>
            <a:off x="1231178" y="1810710"/>
            <a:ext cx="1746108" cy="55941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D98C2D4-3A11-2A86-5BC8-07AC5C61CA29}"/>
              </a:ext>
            </a:extLst>
          </p:cNvPr>
          <p:cNvSpPr txBox="1"/>
          <p:nvPr/>
        </p:nvSpPr>
        <p:spPr>
          <a:xfrm>
            <a:off x="582057" y="1441378"/>
            <a:ext cx="1298241" cy="369332"/>
          </a:xfrm>
          <a:prstGeom prst="rect">
            <a:avLst/>
          </a:prstGeom>
          <a:noFill/>
        </p:spPr>
        <p:txBody>
          <a:bodyPr wrap="square" rtlCol="0">
            <a:spAutoFit/>
          </a:bodyPr>
          <a:lstStyle/>
          <a:p>
            <a:r>
              <a:rPr lang="en-US" dirty="0"/>
              <a:t>Glyph</a:t>
            </a:r>
          </a:p>
        </p:txBody>
      </p:sp>
    </p:spTree>
    <p:extLst>
      <p:ext uri="{BB962C8B-B14F-4D97-AF65-F5344CB8AC3E}">
        <p14:creationId xmlns:p14="http://schemas.microsoft.com/office/powerpoint/2010/main" val="1181250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970215" y="10238"/>
            <a:ext cx="10251569" cy="6837523"/>
          </a:xfrm>
        </p:spPr>
      </p:pic>
    </p:spTree>
    <p:extLst>
      <p:ext uri="{BB962C8B-B14F-4D97-AF65-F5344CB8AC3E}">
        <p14:creationId xmlns:p14="http://schemas.microsoft.com/office/powerpoint/2010/main" val="1647936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365156" y="0"/>
            <a:ext cx="7461688" cy="6837523"/>
          </a:xfrm>
        </p:spPr>
      </p:pic>
      <p:cxnSp>
        <p:nvCxnSpPr>
          <p:cNvPr id="2" name="Straight Arrow Connector 1">
            <a:extLst>
              <a:ext uri="{FF2B5EF4-FFF2-40B4-BE49-F238E27FC236}">
                <a16:creationId xmlns:a16="http://schemas.microsoft.com/office/drawing/2014/main" id="{B54DB867-CEDA-FDFC-63B2-64B74B5BDCD4}"/>
              </a:ext>
            </a:extLst>
          </p:cNvPr>
          <p:cNvCxnSpPr>
            <a:cxnSpLocks/>
          </p:cNvCxnSpPr>
          <p:nvPr/>
        </p:nvCxnSpPr>
        <p:spPr>
          <a:xfrm flipV="1">
            <a:off x="1595120" y="4337914"/>
            <a:ext cx="701853" cy="41696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0DB704A-FE23-C4B7-1C6D-A816838512CA}"/>
              </a:ext>
            </a:extLst>
          </p:cNvPr>
          <p:cNvSpPr txBox="1"/>
          <p:nvPr/>
        </p:nvSpPr>
        <p:spPr>
          <a:xfrm>
            <a:off x="274320" y="4570214"/>
            <a:ext cx="1466427" cy="369332"/>
          </a:xfrm>
          <a:prstGeom prst="rect">
            <a:avLst/>
          </a:prstGeom>
          <a:noFill/>
        </p:spPr>
        <p:txBody>
          <a:bodyPr wrap="none" rtlCol="0">
            <a:spAutoFit/>
          </a:bodyPr>
          <a:lstStyle/>
          <a:p>
            <a:r>
              <a:rPr lang="en-US" dirty="0"/>
              <a:t>Itemized List </a:t>
            </a:r>
          </a:p>
        </p:txBody>
      </p:sp>
    </p:spTree>
    <p:extLst>
      <p:ext uri="{BB962C8B-B14F-4D97-AF65-F5344CB8AC3E}">
        <p14:creationId xmlns:p14="http://schemas.microsoft.com/office/powerpoint/2010/main" val="1333118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970215" y="10238"/>
            <a:ext cx="10251569" cy="6837523"/>
          </a:xfrm>
        </p:spPr>
      </p:pic>
    </p:spTree>
    <p:extLst>
      <p:ext uri="{BB962C8B-B14F-4D97-AF65-F5344CB8AC3E}">
        <p14:creationId xmlns:p14="http://schemas.microsoft.com/office/powerpoint/2010/main" val="1809106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365156" y="0"/>
            <a:ext cx="7461688" cy="6837523"/>
          </a:xfrm>
        </p:spPr>
      </p:pic>
      <p:cxnSp>
        <p:nvCxnSpPr>
          <p:cNvPr id="2" name="Straight Arrow Connector 1">
            <a:extLst>
              <a:ext uri="{FF2B5EF4-FFF2-40B4-BE49-F238E27FC236}">
                <a16:creationId xmlns:a16="http://schemas.microsoft.com/office/drawing/2014/main" id="{AF4124C0-44A1-C600-3594-3C911C5BCC29}"/>
              </a:ext>
            </a:extLst>
          </p:cNvPr>
          <p:cNvCxnSpPr>
            <a:cxnSpLocks/>
          </p:cNvCxnSpPr>
          <p:nvPr/>
        </p:nvCxnSpPr>
        <p:spPr>
          <a:xfrm flipV="1">
            <a:off x="1550822" y="4294022"/>
            <a:ext cx="738836" cy="48955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994F050-684C-2C50-68C1-8F2A62245479}"/>
              </a:ext>
            </a:extLst>
          </p:cNvPr>
          <p:cNvSpPr txBox="1"/>
          <p:nvPr/>
        </p:nvSpPr>
        <p:spPr>
          <a:xfrm>
            <a:off x="274320" y="4783574"/>
            <a:ext cx="1756506" cy="369332"/>
          </a:xfrm>
          <a:prstGeom prst="rect">
            <a:avLst/>
          </a:prstGeom>
          <a:noFill/>
        </p:spPr>
        <p:txBody>
          <a:bodyPr wrap="none" rtlCol="0">
            <a:spAutoFit/>
          </a:bodyPr>
          <a:lstStyle/>
          <a:p>
            <a:r>
              <a:rPr lang="en-US" dirty="0"/>
              <a:t>Enumerated List </a:t>
            </a:r>
          </a:p>
        </p:txBody>
      </p:sp>
    </p:spTree>
    <p:extLst>
      <p:ext uri="{BB962C8B-B14F-4D97-AF65-F5344CB8AC3E}">
        <p14:creationId xmlns:p14="http://schemas.microsoft.com/office/powerpoint/2010/main" val="2304566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970215" y="10238"/>
            <a:ext cx="10251569" cy="6837523"/>
          </a:xfrm>
        </p:spPr>
      </p:pic>
    </p:spTree>
    <p:extLst>
      <p:ext uri="{BB962C8B-B14F-4D97-AF65-F5344CB8AC3E}">
        <p14:creationId xmlns:p14="http://schemas.microsoft.com/office/powerpoint/2010/main" val="1812598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365156" y="0"/>
            <a:ext cx="7461688" cy="6837523"/>
          </a:xfrm>
        </p:spPr>
      </p:pic>
      <p:cxnSp>
        <p:nvCxnSpPr>
          <p:cNvPr id="2" name="Straight Arrow Connector 1">
            <a:extLst>
              <a:ext uri="{FF2B5EF4-FFF2-40B4-BE49-F238E27FC236}">
                <a16:creationId xmlns:a16="http://schemas.microsoft.com/office/drawing/2014/main" id="{9222611E-B30D-501D-CF65-129B032D9FE7}"/>
              </a:ext>
            </a:extLst>
          </p:cNvPr>
          <p:cNvCxnSpPr>
            <a:cxnSpLocks/>
            <a:stCxn id="3" idx="3"/>
          </p:cNvCxnSpPr>
          <p:nvPr/>
        </p:nvCxnSpPr>
        <p:spPr>
          <a:xfrm flipV="1">
            <a:off x="1410656" y="4320647"/>
            <a:ext cx="866717" cy="4616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18710FF-362A-EFD7-A5B9-04E4E278CF8F}"/>
              </a:ext>
            </a:extLst>
          </p:cNvPr>
          <p:cNvSpPr txBox="1"/>
          <p:nvPr/>
        </p:nvSpPr>
        <p:spPr>
          <a:xfrm>
            <a:off x="74777" y="4320647"/>
            <a:ext cx="1335879" cy="923330"/>
          </a:xfrm>
          <a:prstGeom prst="rect">
            <a:avLst/>
          </a:prstGeom>
          <a:noFill/>
        </p:spPr>
        <p:txBody>
          <a:bodyPr wrap="none" rtlCol="0">
            <a:spAutoFit/>
          </a:bodyPr>
          <a:lstStyle/>
          <a:p>
            <a:r>
              <a:rPr lang="en-US" dirty="0"/>
              <a:t>Nested</a:t>
            </a:r>
            <a:br>
              <a:rPr lang="en-US" dirty="0"/>
            </a:br>
            <a:r>
              <a:rPr lang="en-US" dirty="0"/>
              <a:t>Enumerated</a:t>
            </a:r>
            <a:br>
              <a:rPr lang="en-US" dirty="0"/>
            </a:br>
            <a:r>
              <a:rPr lang="en-US" dirty="0"/>
              <a:t>Lists </a:t>
            </a:r>
          </a:p>
        </p:txBody>
      </p:sp>
      <p:cxnSp>
        <p:nvCxnSpPr>
          <p:cNvPr id="4" name="Straight Arrow Connector 3">
            <a:extLst>
              <a:ext uri="{FF2B5EF4-FFF2-40B4-BE49-F238E27FC236}">
                <a16:creationId xmlns:a16="http://schemas.microsoft.com/office/drawing/2014/main" id="{38AF69E7-030B-0613-AC4D-D0D03E0A2C7D}"/>
              </a:ext>
            </a:extLst>
          </p:cNvPr>
          <p:cNvCxnSpPr>
            <a:cxnSpLocks/>
            <a:stCxn id="3" idx="3"/>
          </p:cNvCxnSpPr>
          <p:nvPr/>
        </p:nvCxnSpPr>
        <p:spPr>
          <a:xfrm>
            <a:off x="1410656" y="4782312"/>
            <a:ext cx="105398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7804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970215" y="10238"/>
            <a:ext cx="10251569" cy="6837523"/>
          </a:xfrm>
        </p:spPr>
      </p:pic>
    </p:spTree>
    <p:extLst>
      <p:ext uri="{BB962C8B-B14F-4D97-AF65-F5344CB8AC3E}">
        <p14:creationId xmlns:p14="http://schemas.microsoft.com/office/powerpoint/2010/main" val="2507738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1672830" y="0"/>
            <a:ext cx="7469404" cy="6813517"/>
          </a:xfrm>
        </p:spPr>
      </p:pic>
      <p:cxnSp>
        <p:nvCxnSpPr>
          <p:cNvPr id="2" name="Straight Arrow Connector 1">
            <a:extLst>
              <a:ext uri="{FF2B5EF4-FFF2-40B4-BE49-F238E27FC236}">
                <a16:creationId xmlns:a16="http://schemas.microsoft.com/office/drawing/2014/main" id="{5C090AF9-12A3-FE65-F10A-725041AB7357}"/>
              </a:ext>
            </a:extLst>
          </p:cNvPr>
          <p:cNvCxnSpPr>
            <a:cxnSpLocks/>
          </p:cNvCxnSpPr>
          <p:nvPr/>
        </p:nvCxnSpPr>
        <p:spPr>
          <a:xfrm flipV="1">
            <a:off x="978380" y="2724666"/>
            <a:ext cx="670560" cy="34194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455FB3C-139F-09F8-A8BB-4884E5B19127}"/>
              </a:ext>
            </a:extLst>
          </p:cNvPr>
          <p:cNvSpPr txBox="1"/>
          <p:nvPr/>
        </p:nvSpPr>
        <p:spPr>
          <a:xfrm>
            <a:off x="91440" y="2743446"/>
            <a:ext cx="1130438" cy="646331"/>
          </a:xfrm>
          <a:prstGeom prst="rect">
            <a:avLst/>
          </a:prstGeom>
          <a:noFill/>
        </p:spPr>
        <p:txBody>
          <a:bodyPr wrap="none" rtlCol="0">
            <a:spAutoFit/>
          </a:bodyPr>
          <a:lstStyle/>
          <a:p>
            <a:r>
              <a:rPr lang="en-US" dirty="0"/>
              <a:t>Section</a:t>
            </a:r>
          </a:p>
          <a:p>
            <a:r>
              <a:rPr lang="en-US" dirty="0"/>
              <a:t>Heading 2</a:t>
            </a:r>
          </a:p>
        </p:txBody>
      </p:sp>
      <p:cxnSp>
        <p:nvCxnSpPr>
          <p:cNvPr id="4" name="Straight Arrow Connector 3">
            <a:extLst>
              <a:ext uri="{FF2B5EF4-FFF2-40B4-BE49-F238E27FC236}">
                <a16:creationId xmlns:a16="http://schemas.microsoft.com/office/drawing/2014/main" id="{27C7E96A-F91F-91A8-3A01-5FC605902574}"/>
              </a:ext>
            </a:extLst>
          </p:cNvPr>
          <p:cNvCxnSpPr>
            <a:cxnSpLocks/>
          </p:cNvCxnSpPr>
          <p:nvPr/>
        </p:nvCxnSpPr>
        <p:spPr>
          <a:xfrm flipV="1">
            <a:off x="1002270" y="4232979"/>
            <a:ext cx="670560" cy="2235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7351451-BDCF-4123-A0DF-8F53E806C674}"/>
              </a:ext>
            </a:extLst>
          </p:cNvPr>
          <p:cNvSpPr txBox="1"/>
          <p:nvPr/>
        </p:nvSpPr>
        <p:spPr>
          <a:xfrm>
            <a:off x="115330" y="4133334"/>
            <a:ext cx="1130438" cy="646331"/>
          </a:xfrm>
          <a:prstGeom prst="rect">
            <a:avLst/>
          </a:prstGeom>
          <a:noFill/>
        </p:spPr>
        <p:txBody>
          <a:bodyPr wrap="none" rtlCol="0">
            <a:spAutoFit/>
          </a:bodyPr>
          <a:lstStyle/>
          <a:p>
            <a:r>
              <a:rPr lang="en-US" dirty="0"/>
              <a:t>Section</a:t>
            </a:r>
          </a:p>
          <a:p>
            <a:r>
              <a:rPr lang="en-US" dirty="0"/>
              <a:t>Heading 3</a:t>
            </a:r>
          </a:p>
        </p:txBody>
      </p:sp>
      <p:cxnSp>
        <p:nvCxnSpPr>
          <p:cNvPr id="7" name="Straight Arrow Connector 6">
            <a:extLst>
              <a:ext uri="{FF2B5EF4-FFF2-40B4-BE49-F238E27FC236}">
                <a16:creationId xmlns:a16="http://schemas.microsoft.com/office/drawing/2014/main" id="{62DB00BA-5730-11B1-FA89-5E08028857E8}"/>
              </a:ext>
            </a:extLst>
          </p:cNvPr>
          <p:cNvCxnSpPr>
            <a:cxnSpLocks/>
          </p:cNvCxnSpPr>
          <p:nvPr/>
        </p:nvCxnSpPr>
        <p:spPr>
          <a:xfrm flipV="1">
            <a:off x="978380" y="2020131"/>
            <a:ext cx="670560" cy="2235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AE9B8D7-3576-FAF2-941C-65C2BE5AF878}"/>
              </a:ext>
            </a:extLst>
          </p:cNvPr>
          <p:cNvSpPr txBox="1"/>
          <p:nvPr/>
        </p:nvSpPr>
        <p:spPr>
          <a:xfrm>
            <a:off x="91440" y="1920486"/>
            <a:ext cx="1130438" cy="646331"/>
          </a:xfrm>
          <a:prstGeom prst="rect">
            <a:avLst/>
          </a:prstGeom>
          <a:noFill/>
        </p:spPr>
        <p:txBody>
          <a:bodyPr wrap="none" rtlCol="0">
            <a:spAutoFit/>
          </a:bodyPr>
          <a:lstStyle/>
          <a:p>
            <a:r>
              <a:rPr lang="en-US" dirty="0"/>
              <a:t>Section</a:t>
            </a:r>
          </a:p>
          <a:p>
            <a:r>
              <a:rPr lang="en-US" dirty="0"/>
              <a:t>Heading 1</a:t>
            </a:r>
          </a:p>
        </p:txBody>
      </p:sp>
    </p:spTree>
    <p:extLst>
      <p:ext uri="{BB962C8B-B14F-4D97-AF65-F5344CB8AC3E}">
        <p14:creationId xmlns:p14="http://schemas.microsoft.com/office/powerpoint/2010/main" val="22813641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970215" y="10238"/>
            <a:ext cx="10251569" cy="6837523"/>
          </a:xfrm>
        </p:spPr>
      </p:pic>
    </p:spTree>
    <p:extLst>
      <p:ext uri="{BB962C8B-B14F-4D97-AF65-F5344CB8AC3E}">
        <p14:creationId xmlns:p14="http://schemas.microsoft.com/office/powerpoint/2010/main" val="14389226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1672830" y="0"/>
            <a:ext cx="7469404" cy="6836666"/>
          </a:xfrm>
        </p:spPr>
      </p:pic>
      <p:cxnSp>
        <p:nvCxnSpPr>
          <p:cNvPr id="2" name="Straight Arrow Connector 1">
            <a:extLst>
              <a:ext uri="{FF2B5EF4-FFF2-40B4-BE49-F238E27FC236}">
                <a16:creationId xmlns:a16="http://schemas.microsoft.com/office/drawing/2014/main" id="{E400B10A-20FF-FD12-8CB9-1AC0A4887F1E}"/>
              </a:ext>
            </a:extLst>
          </p:cNvPr>
          <p:cNvCxnSpPr>
            <a:cxnSpLocks/>
          </p:cNvCxnSpPr>
          <p:nvPr/>
        </p:nvCxnSpPr>
        <p:spPr>
          <a:xfrm flipV="1">
            <a:off x="951064" y="1547895"/>
            <a:ext cx="670560" cy="2235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F493E8-61C9-A767-BF6E-B79271F5D2F4}"/>
              </a:ext>
            </a:extLst>
          </p:cNvPr>
          <p:cNvSpPr txBox="1"/>
          <p:nvPr/>
        </p:nvSpPr>
        <p:spPr>
          <a:xfrm>
            <a:off x="64124" y="1448250"/>
            <a:ext cx="1276953" cy="1200329"/>
          </a:xfrm>
          <a:prstGeom prst="rect">
            <a:avLst/>
          </a:prstGeom>
          <a:noFill/>
        </p:spPr>
        <p:txBody>
          <a:bodyPr wrap="none" rtlCol="0">
            <a:spAutoFit/>
          </a:bodyPr>
          <a:lstStyle/>
          <a:p>
            <a:r>
              <a:rPr lang="en-US" dirty="0"/>
              <a:t>Table of</a:t>
            </a:r>
          </a:p>
          <a:p>
            <a:r>
              <a:rPr lang="en-US" dirty="0"/>
              <a:t>contents</a:t>
            </a:r>
            <a:br>
              <a:rPr lang="en-US" dirty="0"/>
            </a:br>
            <a:r>
              <a:rPr lang="en-US" dirty="0"/>
              <a:t>followed by</a:t>
            </a:r>
          </a:p>
          <a:p>
            <a:r>
              <a:rPr lang="en-US" dirty="0"/>
              <a:t>page break</a:t>
            </a:r>
          </a:p>
        </p:txBody>
      </p:sp>
    </p:spTree>
    <p:extLst>
      <p:ext uri="{BB962C8B-B14F-4D97-AF65-F5344CB8AC3E}">
        <p14:creationId xmlns:p14="http://schemas.microsoft.com/office/powerpoint/2010/main" val="31799634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970215" y="10238"/>
            <a:ext cx="10251569" cy="6837523"/>
          </a:xfrm>
        </p:spPr>
      </p:pic>
    </p:spTree>
    <p:extLst>
      <p:ext uri="{BB962C8B-B14F-4D97-AF65-F5344CB8AC3E}">
        <p14:creationId xmlns:p14="http://schemas.microsoft.com/office/powerpoint/2010/main" val="13925167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1672830" y="0"/>
            <a:ext cx="7461688" cy="6828950"/>
          </a:xfrm>
        </p:spPr>
      </p:pic>
      <p:cxnSp>
        <p:nvCxnSpPr>
          <p:cNvPr id="2" name="Straight Arrow Connector 1">
            <a:extLst>
              <a:ext uri="{FF2B5EF4-FFF2-40B4-BE49-F238E27FC236}">
                <a16:creationId xmlns:a16="http://schemas.microsoft.com/office/drawing/2014/main" id="{16281B83-5589-60F3-5F28-DBB2E7D60B3B}"/>
              </a:ext>
            </a:extLst>
          </p:cNvPr>
          <p:cNvCxnSpPr>
            <a:cxnSpLocks/>
            <a:stCxn id="3" idx="3"/>
          </p:cNvCxnSpPr>
          <p:nvPr/>
        </p:nvCxnSpPr>
        <p:spPr>
          <a:xfrm flipV="1">
            <a:off x="1131568" y="1782387"/>
            <a:ext cx="507212" cy="22352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F45D54E-F193-8F5F-7AFE-4CCA5EA9679A}"/>
              </a:ext>
            </a:extLst>
          </p:cNvPr>
          <p:cNvSpPr txBox="1"/>
          <p:nvPr/>
        </p:nvSpPr>
        <p:spPr>
          <a:xfrm>
            <a:off x="81280" y="1682742"/>
            <a:ext cx="1050288" cy="646331"/>
          </a:xfrm>
          <a:prstGeom prst="rect">
            <a:avLst/>
          </a:prstGeom>
          <a:noFill/>
        </p:spPr>
        <p:txBody>
          <a:bodyPr wrap="none" rtlCol="0">
            <a:spAutoFit/>
          </a:bodyPr>
          <a:lstStyle/>
          <a:p>
            <a:r>
              <a:rPr lang="en-US" dirty="0"/>
              <a:t>Section</a:t>
            </a:r>
          </a:p>
          <a:p>
            <a:r>
              <a:rPr lang="en-US" dirty="0"/>
              <a:t>Headings</a:t>
            </a:r>
          </a:p>
        </p:txBody>
      </p:sp>
      <p:cxnSp>
        <p:nvCxnSpPr>
          <p:cNvPr id="4" name="Straight Arrow Connector 3">
            <a:extLst>
              <a:ext uri="{FF2B5EF4-FFF2-40B4-BE49-F238E27FC236}">
                <a16:creationId xmlns:a16="http://schemas.microsoft.com/office/drawing/2014/main" id="{C2F7D214-35D0-1846-2603-86EA08A67307}"/>
              </a:ext>
            </a:extLst>
          </p:cNvPr>
          <p:cNvCxnSpPr>
            <a:cxnSpLocks/>
          </p:cNvCxnSpPr>
          <p:nvPr/>
        </p:nvCxnSpPr>
        <p:spPr>
          <a:xfrm flipV="1">
            <a:off x="1225978" y="2678546"/>
            <a:ext cx="412802" cy="119062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27AC711-7D60-90C1-85EE-95729EEE4E58}"/>
              </a:ext>
            </a:extLst>
          </p:cNvPr>
          <p:cNvSpPr txBox="1"/>
          <p:nvPr/>
        </p:nvSpPr>
        <p:spPr>
          <a:xfrm>
            <a:off x="81280" y="3645654"/>
            <a:ext cx="1209434" cy="646331"/>
          </a:xfrm>
          <a:prstGeom prst="rect">
            <a:avLst/>
          </a:prstGeom>
          <a:noFill/>
        </p:spPr>
        <p:txBody>
          <a:bodyPr wrap="none" rtlCol="0">
            <a:spAutoFit/>
          </a:bodyPr>
          <a:lstStyle/>
          <a:p>
            <a:r>
              <a:rPr lang="en-US" dirty="0"/>
              <a:t>Subsection</a:t>
            </a:r>
          </a:p>
          <a:p>
            <a:r>
              <a:rPr lang="en-US" dirty="0"/>
              <a:t>Headings</a:t>
            </a:r>
          </a:p>
        </p:txBody>
      </p:sp>
      <p:cxnSp>
        <p:nvCxnSpPr>
          <p:cNvPr id="8" name="Straight Arrow Connector 7">
            <a:extLst>
              <a:ext uri="{FF2B5EF4-FFF2-40B4-BE49-F238E27FC236}">
                <a16:creationId xmlns:a16="http://schemas.microsoft.com/office/drawing/2014/main" id="{D525AF61-4EB0-38B8-8519-204DEB18A080}"/>
              </a:ext>
            </a:extLst>
          </p:cNvPr>
          <p:cNvCxnSpPr>
            <a:cxnSpLocks/>
            <a:stCxn id="3" idx="3"/>
          </p:cNvCxnSpPr>
          <p:nvPr/>
        </p:nvCxnSpPr>
        <p:spPr>
          <a:xfrm>
            <a:off x="1131568" y="2005908"/>
            <a:ext cx="507212" cy="42281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3479B10-025A-5D8B-F425-B86F15C3175C}"/>
              </a:ext>
            </a:extLst>
          </p:cNvPr>
          <p:cNvCxnSpPr>
            <a:cxnSpLocks/>
          </p:cNvCxnSpPr>
          <p:nvPr/>
        </p:nvCxnSpPr>
        <p:spPr>
          <a:xfrm>
            <a:off x="1228166" y="3869175"/>
            <a:ext cx="410614" cy="35169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743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624404-97DA-DB91-1172-B3769C1A76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970215" y="10238"/>
            <a:ext cx="10251569" cy="6837523"/>
          </a:xfrm>
        </p:spPr>
      </p:pic>
    </p:spTree>
    <p:extLst>
      <p:ext uri="{BB962C8B-B14F-4D97-AF65-F5344CB8AC3E}">
        <p14:creationId xmlns:p14="http://schemas.microsoft.com/office/powerpoint/2010/main" val="616800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A9790-D1FF-76EC-5B24-8FDFEE29D0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6B9EA-54B9-9AFC-6EC3-4E2E889D9A4F}"/>
              </a:ext>
            </a:extLst>
          </p:cNvPr>
          <p:cNvSpPr>
            <a:spLocks noGrp="1"/>
          </p:cNvSpPr>
          <p:nvPr>
            <p:ph type="title"/>
          </p:nvPr>
        </p:nvSpPr>
        <p:spPr/>
        <p:txBody>
          <a:bodyPr/>
          <a:lstStyle/>
          <a:p>
            <a:r>
              <a:rPr lang="en-US" dirty="0"/>
              <a:t>Structure of the Talk</a:t>
            </a:r>
          </a:p>
        </p:txBody>
      </p:sp>
      <p:sp>
        <p:nvSpPr>
          <p:cNvPr id="3" name="Content Placeholder 2">
            <a:extLst>
              <a:ext uri="{FF2B5EF4-FFF2-40B4-BE49-F238E27FC236}">
                <a16:creationId xmlns:a16="http://schemas.microsoft.com/office/drawing/2014/main" id="{A495FDE5-4FBB-2B16-2F0F-C40684783E84}"/>
              </a:ext>
            </a:extLst>
          </p:cNvPr>
          <p:cNvSpPr>
            <a:spLocks noGrp="1"/>
          </p:cNvSpPr>
          <p:nvPr>
            <p:ph idx="1"/>
          </p:nvPr>
        </p:nvSpPr>
        <p:spPr/>
        <p:txBody>
          <a:bodyPr>
            <a:normAutofit fontScale="92500" lnSpcReduction="10000"/>
          </a:bodyPr>
          <a:lstStyle/>
          <a:p>
            <a:r>
              <a:rPr lang="en-US" dirty="0"/>
              <a:t>Unit 1: Basics</a:t>
            </a:r>
          </a:p>
          <a:p>
            <a:pPr lvl="1"/>
            <a:r>
              <a:rPr lang="en-US" dirty="0"/>
              <a:t>What is            ?</a:t>
            </a:r>
          </a:p>
          <a:p>
            <a:pPr lvl="1"/>
            <a:r>
              <a:rPr lang="en-US" dirty="0"/>
              <a:t>How do I use it?</a:t>
            </a:r>
          </a:p>
          <a:p>
            <a:pPr lvl="1"/>
            <a:r>
              <a:rPr lang="en-US" dirty="0">
                <a:solidFill>
                  <a:schemeClr val="accent1"/>
                </a:solidFill>
              </a:rPr>
              <a:t>Sample profile design workflow</a:t>
            </a:r>
          </a:p>
          <a:p>
            <a:r>
              <a:rPr lang="en-US" dirty="0"/>
              <a:t>Unit 2: Deeper Dive</a:t>
            </a:r>
          </a:p>
          <a:p>
            <a:pPr lvl="1"/>
            <a:r>
              <a:rPr lang="en-US" dirty="0"/>
              <a:t>Preamble</a:t>
            </a:r>
          </a:p>
          <a:p>
            <a:pPr lvl="1"/>
            <a:r>
              <a:rPr lang="en-US" dirty="0"/>
              <a:t>Structure</a:t>
            </a:r>
          </a:p>
          <a:p>
            <a:pPr lvl="1"/>
            <a:r>
              <a:rPr lang="en-US" dirty="0"/>
              <a:t>Text sizes &amp; styles</a:t>
            </a:r>
          </a:p>
          <a:p>
            <a:pPr lvl="1"/>
            <a:r>
              <a:rPr lang="en-US" dirty="0"/>
              <a:t>Environments</a:t>
            </a:r>
          </a:p>
          <a:p>
            <a:pPr lvl="1"/>
            <a:r>
              <a:rPr lang="en-US" dirty="0"/>
              <a:t>Lengths</a:t>
            </a:r>
          </a:p>
          <a:p>
            <a:pPr lvl="1"/>
            <a:r>
              <a:rPr lang="en-US" dirty="0"/>
              <a:t>Spacing</a:t>
            </a:r>
          </a:p>
          <a:p>
            <a:r>
              <a:rPr lang="en-US" dirty="0"/>
              <a:t>Unit 3: </a:t>
            </a:r>
            <a:r>
              <a:rPr lang="en-US" dirty="0" err="1"/>
              <a:t>LaTable</a:t>
            </a:r>
            <a:r>
              <a:rPr lang="en-US" dirty="0"/>
              <a:t>: a Stata table generator for data factsheets</a:t>
            </a:r>
          </a:p>
          <a:p>
            <a:pPr lvl="1"/>
            <a:endParaRPr lang="en-US" dirty="0"/>
          </a:p>
          <a:p>
            <a:pPr lvl="1"/>
            <a:endParaRPr lang="en-US" dirty="0"/>
          </a:p>
        </p:txBody>
      </p:sp>
      <p:pic>
        <p:nvPicPr>
          <p:cNvPr id="4" name="Picture 6">
            <a:extLst>
              <a:ext uri="{FF2B5EF4-FFF2-40B4-BE49-F238E27FC236}">
                <a16:creationId xmlns:a16="http://schemas.microsoft.com/office/drawing/2014/main" id="{A8DDB71E-EF09-DA1F-944C-C432527C90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6088" y="2226945"/>
            <a:ext cx="731520" cy="304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31373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4F470F2-C92C-59D2-7726-47A7E6CE00F4}"/>
              </a:ext>
            </a:extLst>
          </p:cNvPr>
          <p:cNvPicPr>
            <a:picLocks noChangeAspect="1"/>
          </p:cNvPicPr>
          <p:nvPr/>
        </p:nvPicPr>
        <p:blipFill>
          <a:blip r:embed="rId3"/>
          <a:stretch>
            <a:fillRect/>
          </a:stretch>
        </p:blipFill>
        <p:spPr>
          <a:xfrm>
            <a:off x="130797" y="0"/>
            <a:ext cx="11930406" cy="6858000"/>
          </a:xfrm>
          <a:prstGeom prst="rect">
            <a:avLst/>
          </a:prstGeom>
        </p:spPr>
      </p:pic>
      <p:sp>
        <p:nvSpPr>
          <p:cNvPr id="2" name="Rectangle 1">
            <a:extLst>
              <a:ext uri="{FF2B5EF4-FFF2-40B4-BE49-F238E27FC236}">
                <a16:creationId xmlns:a16="http://schemas.microsoft.com/office/drawing/2014/main" id="{C44555BC-6B76-157E-B3F3-E12A17EC376D}"/>
              </a:ext>
            </a:extLst>
          </p:cNvPr>
          <p:cNvSpPr/>
          <p:nvPr/>
        </p:nvSpPr>
        <p:spPr>
          <a:xfrm>
            <a:off x="130797" y="0"/>
            <a:ext cx="1119102" cy="21708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45193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24A594C-D230-2DE9-6E17-A7FF2EBBBA45}"/>
              </a:ext>
            </a:extLst>
          </p:cNvPr>
          <p:cNvPicPr>
            <a:picLocks noChangeAspect="1"/>
          </p:cNvPicPr>
          <p:nvPr/>
        </p:nvPicPr>
        <p:blipFill>
          <a:blip r:embed="rId3"/>
          <a:stretch>
            <a:fillRect/>
          </a:stretch>
        </p:blipFill>
        <p:spPr>
          <a:xfrm>
            <a:off x="0" y="4318"/>
            <a:ext cx="12192000" cy="6849364"/>
          </a:xfrm>
          <a:prstGeom prst="rect">
            <a:avLst/>
          </a:prstGeom>
        </p:spPr>
      </p:pic>
    </p:spTree>
    <p:extLst>
      <p:ext uri="{BB962C8B-B14F-4D97-AF65-F5344CB8AC3E}">
        <p14:creationId xmlns:p14="http://schemas.microsoft.com/office/powerpoint/2010/main" val="30932065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7D3203C-CAA3-8286-AD85-F271B80D047D}"/>
              </a:ext>
            </a:extLst>
          </p:cNvPr>
          <p:cNvPicPr>
            <a:picLocks noChangeAspect="1"/>
          </p:cNvPicPr>
          <p:nvPr/>
        </p:nvPicPr>
        <p:blipFill>
          <a:blip r:embed="rId3"/>
          <a:stretch>
            <a:fillRect/>
          </a:stretch>
        </p:blipFill>
        <p:spPr>
          <a:xfrm>
            <a:off x="8044" y="0"/>
            <a:ext cx="12175912" cy="6858000"/>
          </a:xfrm>
          <a:prstGeom prst="rect">
            <a:avLst/>
          </a:prstGeom>
        </p:spPr>
      </p:pic>
      <p:cxnSp>
        <p:nvCxnSpPr>
          <p:cNvPr id="2" name="Straight Arrow Connector 1">
            <a:extLst>
              <a:ext uri="{FF2B5EF4-FFF2-40B4-BE49-F238E27FC236}">
                <a16:creationId xmlns:a16="http://schemas.microsoft.com/office/drawing/2014/main" id="{02EE7CE1-0D61-95FE-2D98-EFCE83B07381}"/>
              </a:ext>
            </a:extLst>
          </p:cNvPr>
          <p:cNvCxnSpPr>
            <a:cxnSpLocks/>
          </p:cNvCxnSpPr>
          <p:nvPr/>
        </p:nvCxnSpPr>
        <p:spPr>
          <a:xfrm flipH="1">
            <a:off x="3857230" y="2204720"/>
            <a:ext cx="2055890" cy="20391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85169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E2C36AE-B058-3400-CCB4-E9AFC54F97BF}"/>
              </a:ext>
            </a:extLst>
          </p:cNvPr>
          <p:cNvPicPr>
            <a:picLocks noChangeAspect="1"/>
          </p:cNvPicPr>
          <p:nvPr/>
        </p:nvPicPr>
        <p:blipFill>
          <a:blip r:embed="rId3"/>
          <a:stretch>
            <a:fillRect/>
          </a:stretch>
        </p:blipFill>
        <p:spPr>
          <a:xfrm>
            <a:off x="0" y="6569"/>
            <a:ext cx="12192000" cy="6844862"/>
          </a:xfrm>
          <a:prstGeom prst="rect">
            <a:avLst/>
          </a:prstGeom>
        </p:spPr>
      </p:pic>
    </p:spTree>
    <p:extLst>
      <p:ext uri="{BB962C8B-B14F-4D97-AF65-F5344CB8AC3E}">
        <p14:creationId xmlns:p14="http://schemas.microsoft.com/office/powerpoint/2010/main" val="20909563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51A62F2-EF6D-576D-E7C5-88AE1F9E1E47}"/>
              </a:ext>
            </a:extLst>
          </p:cNvPr>
          <p:cNvPicPr>
            <a:picLocks noChangeAspect="1"/>
          </p:cNvPicPr>
          <p:nvPr/>
        </p:nvPicPr>
        <p:blipFill>
          <a:blip r:embed="rId3"/>
          <a:stretch>
            <a:fillRect/>
          </a:stretch>
        </p:blipFill>
        <p:spPr>
          <a:xfrm>
            <a:off x="0" y="-180535"/>
            <a:ext cx="12192000" cy="6848104"/>
          </a:xfrm>
          <a:prstGeom prst="rect">
            <a:avLst/>
          </a:prstGeom>
        </p:spPr>
      </p:pic>
      <p:cxnSp>
        <p:nvCxnSpPr>
          <p:cNvPr id="2" name="Straight Arrow Connector 1">
            <a:extLst>
              <a:ext uri="{FF2B5EF4-FFF2-40B4-BE49-F238E27FC236}">
                <a16:creationId xmlns:a16="http://schemas.microsoft.com/office/drawing/2014/main" id="{0DC93568-9C10-195F-D49E-DEF9A4671A14}"/>
              </a:ext>
            </a:extLst>
          </p:cNvPr>
          <p:cNvCxnSpPr>
            <a:cxnSpLocks/>
          </p:cNvCxnSpPr>
          <p:nvPr/>
        </p:nvCxnSpPr>
        <p:spPr>
          <a:xfrm flipH="1" flipV="1">
            <a:off x="2062480" y="2885440"/>
            <a:ext cx="4338320" cy="16662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5B986707-8D6D-4F20-DC3F-59FD6E83162A}"/>
              </a:ext>
            </a:extLst>
          </p:cNvPr>
          <p:cNvCxnSpPr>
            <a:cxnSpLocks/>
          </p:cNvCxnSpPr>
          <p:nvPr/>
        </p:nvCxnSpPr>
        <p:spPr>
          <a:xfrm flipH="1">
            <a:off x="1076960" y="4551680"/>
            <a:ext cx="5323840" cy="3454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5937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15C609-EA6B-3325-BDA1-47306C4E4662}"/>
              </a:ext>
            </a:extLst>
          </p:cNvPr>
          <p:cNvPicPr>
            <a:picLocks noChangeAspect="1"/>
          </p:cNvPicPr>
          <p:nvPr/>
        </p:nvPicPr>
        <p:blipFill>
          <a:blip r:embed="rId3"/>
          <a:stretch>
            <a:fillRect/>
          </a:stretch>
        </p:blipFill>
        <p:spPr>
          <a:xfrm>
            <a:off x="20456" y="0"/>
            <a:ext cx="12151087" cy="6858000"/>
          </a:xfrm>
          <a:prstGeom prst="rect">
            <a:avLst/>
          </a:prstGeom>
        </p:spPr>
      </p:pic>
    </p:spTree>
    <p:extLst>
      <p:ext uri="{BB962C8B-B14F-4D97-AF65-F5344CB8AC3E}">
        <p14:creationId xmlns:p14="http://schemas.microsoft.com/office/powerpoint/2010/main" val="1519901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3CF699C-166C-6EF0-7795-64FF1932EA7C}"/>
              </a:ext>
            </a:extLst>
          </p:cNvPr>
          <p:cNvPicPr>
            <a:picLocks noChangeAspect="1"/>
          </p:cNvPicPr>
          <p:nvPr/>
        </p:nvPicPr>
        <p:blipFill>
          <a:blip r:embed="rId3"/>
          <a:stretch>
            <a:fillRect/>
          </a:stretch>
        </p:blipFill>
        <p:spPr>
          <a:xfrm>
            <a:off x="0" y="-105804"/>
            <a:ext cx="12192000" cy="6805448"/>
          </a:xfrm>
          <a:prstGeom prst="rect">
            <a:avLst/>
          </a:prstGeom>
        </p:spPr>
      </p:pic>
      <p:cxnSp>
        <p:nvCxnSpPr>
          <p:cNvPr id="2" name="Straight Arrow Connector 1">
            <a:extLst>
              <a:ext uri="{FF2B5EF4-FFF2-40B4-BE49-F238E27FC236}">
                <a16:creationId xmlns:a16="http://schemas.microsoft.com/office/drawing/2014/main" id="{0013B3FE-C8B5-181A-8964-A42DB47E24A1}"/>
              </a:ext>
            </a:extLst>
          </p:cNvPr>
          <p:cNvCxnSpPr>
            <a:cxnSpLocks/>
          </p:cNvCxnSpPr>
          <p:nvPr/>
        </p:nvCxnSpPr>
        <p:spPr>
          <a:xfrm flipH="1">
            <a:off x="2164080" y="2133600"/>
            <a:ext cx="3444240" cy="1828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19A71D39-273A-B6EC-7AD9-367D84B3DECD}"/>
              </a:ext>
            </a:extLst>
          </p:cNvPr>
          <p:cNvCxnSpPr>
            <a:cxnSpLocks/>
          </p:cNvCxnSpPr>
          <p:nvPr/>
        </p:nvCxnSpPr>
        <p:spPr>
          <a:xfrm flipH="1">
            <a:off x="609600" y="2844800"/>
            <a:ext cx="4998720" cy="2743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1383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96AB8C-4769-58B7-1307-46E3BA712EC1}"/>
              </a:ext>
            </a:extLst>
          </p:cNvPr>
          <p:cNvPicPr>
            <a:picLocks noChangeAspect="1"/>
          </p:cNvPicPr>
          <p:nvPr/>
        </p:nvPicPr>
        <p:blipFill>
          <a:blip r:embed="rId3"/>
          <a:stretch>
            <a:fillRect/>
          </a:stretch>
        </p:blipFill>
        <p:spPr>
          <a:xfrm>
            <a:off x="6569" y="0"/>
            <a:ext cx="12178862" cy="6858000"/>
          </a:xfrm>
          <a:prstGeom prst="rect">
            <a:avLst/>
          </a:prstGeom>
        </p:spPr>
      </p:pic>
    </p:spTree>
    <p:extLst>
      <p:ext uri="{BB962C8B-B14F-4D97-AF65-F5344CB8AC3E}">
        <p14:creationId xmlns:p14="http://schemas.microsoft.com/office/powerpoint/2010/main" val="33043192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5EB0EF6-73FD-3147-6491-E3BB10D9CAC5}"/>
              </a:ext>
            </a:extLst>
          </p:cNvPr>
          <p:cNvPicPr>
            <a:picLocks noChangeAspect="1"/>
          </p:cNvPicPr>
          <p:nvPr/>
        </p:nvPicPr>
        <p:blipFill>
          <a:blip r:embed="rId3"/>
          <a:stretch>
            <a:fillRect/>
          </a:stretch>
        </p:blipFill>
        <p:spPr>
          <a:xfrm>
            <a:off x="5099" y="0"/>
            <a:ext cx="12181801" cy="6858000"/>
          </a:xfrm>
          <a:prstGeom prst="rect">
            <a:avLst/>
          </a:prstGeom>
        </p:spPr>
      </p:pic>
      <p:cxnSp>
        <p:nvCxnSpPr>
          <p:cNvPr id="2" name="Straight Arrow Connector 1">
            <a:extLst>
              <a:ext uri="{FF2B5EF4-FFF2-40B4-BE49-F238E27FC236}">
                <a16:creationId xmlns:a16="http://schemas.microsoft.com/office/drawing/2014/main" id="{3C948A82-89D8-2AFB-BB7A-2DF7002B6332}"/>
              </a:ext>
            </a:extLst>
          </p:cNvPr>
          <p:cNvCxnSpPr>
            <a:cxnSpLocks/>
          </p:cNvCxnSpPr>
          <p:nvPr/>
        </p:nvCxnSpPr>
        <p:spPr>
          <a:xfrm flipH="1">
            <a:off x="2089390" y="2225040"/>
            <a:ext cx="2645170" cy="20391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77175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2FDA977-0AA5-3942-9386-5CAEDEF54EEB}"/>
              </a:ext>
            </a:extLst>
          </p:cNvPr>
          <p:cNvPicPr>
            <a:picLocks noChangeAspect="1"/>
          </p:cNvPicPr>
          <p:nvPr/>
        </p:nvPicPr>
        <p:blipFill>
          <a:blip r:embed="rId3"/>
          <a:stretch>
            <a:fillRect/>
          </a:stretch>
        </p:blipFill>
        <p:spPr>
          <a:xfrm>
            <a:off x="0" y="2877"/>
            <a:ext cx="12192000" cy="6852246"/>
          </a:xfrm>
          <a:prstGeom prst="rect">
            <a:avLst/>
          </a:prstGeom>
        </p:spPr>
      </p:pic>
    </p:spTree>
    <p:extLst>
      <p:ext uri="{BB962C8B-B14F-4D97-AF65-F5344CB8AC3E}">
        <p14:creationId xmlns:p14="http://schemas.microsoft.com/office/powerpoint/2010/main" val="675071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71C02F-9DF1-8008-9B1F-305F574278FA}"/>
              </a:ext>
            </a:extLst>
          </p:cNvPr>
          <p:cNvPicPr>
            <a:picLocks noChangeAspect="1"/>
          </p:cNvPicPr>
          <p:nvPr/>
        </p:nvPicPr>
        <p:blipFill>
          <a:blip r:embed="rId3"/>
          <a:stretch>
            <a:fillRect/>
          </a:stretch>
        </p:blipFill>
        <p:spPr>
          <a:xfrm>
            <a:off x="20742" y="0"/>
            <a:ext cx="12150516" cy="6858000"/>
          </a:xfrm>
          <a:prstGeom prst="rect">
            <a:avLst/>
          </a:prstGeom>
        </p:spPr>
      </p:pic>
      <p:cxnSp>
        <p:nvCxnSpPr>
          <p:cNvPr id="2" name="Straight Arrow Connector 1">
            <a:extLst>
              <a:ext uri="{FF2B5EF4-FFF2-40B4-BE49-F238E27FC236}">
                <a16:creationId xmlns:a16="http://schemas.microsoft.com/office/drawing/2014/main" id="{88DA485B-A690-3ACF-2D37-1525D65DD8A9}"/>
              </a:ext>
            </a:extLst>
          </p:cNvPr>
          <p:cNvCxnSpPr>
            <a:cxnSpLocks/>
          </p:cNvCxnSpPr>
          <p:nvPr/>
        </p:nvCxnSpPr>
        <p:spPr>
          <a:xfrm flipH="1">
            <a:off x="3704830" y="1198880"/>
            <a:ext cx="2055890" cy="20391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4344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772020D-3BB9-53A3-8B7D-B1FBBE3395F2}"/>
              </a:ext>
            </a:extLst>
          </p:cNvPr>
          <p:cNvPicPr>
            <a:picLocks noChangeAspect="1"/>
          </p:cNvPicPr>
          <p:nvPr/>
        </p:nvPicPr>
        <p:blipFill>
          <a:blip r:embed="rId3"/>
          <a:stretch>
            <a:fillRect/>
          </a:stretch>
        </p:blipFill>
        <p:spPr>
          <a:xfrm>
            <a:off x="9114" y="0"/>
            <a:ext cx="12173771" cy="6858000"/>
          </a:xfrm>
          <a:prstGeom prst="rect">
            <a:avLst/>
          </a:prstGeom>
        </p:spPr>
      </p:pic>
    </p:spTree>
    <p:extLst>
      <p:ext uri="{BB962C8B-B14F-4D97-AF65-F5344CB8AC3E}">
        <p14:creationId xmlns:p14="http://schemas.microsoft.com/office/powerpoint/2010/main" val="21131874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9A4D24E-E628-6528-F04D-F0AC685BC77D}"/>
              </a:ext>
            </a:extLst>
          </p:cNvPr>
          <p:cNvPicPr>
            <a:picLocks noChangeAspect="1"/>
          </p:cNvPicPr>
          <p:nvPr/>
        </p:nvPicPr>
        <p:blipFill>
          <a:blip r:embed="rId3"/>
          <a:stretch>
            <a:fillRect/>
          </a:stretch>
        </p:blipFill>
        <p:spPr>
          <a:xfrm>
            <a:off x="2552" y="0"/>
            <a:ext cx="12186896" cy="6858000"/>
          </a:xfrm>
          <a:prstGeom prst="rect">
            <a:avLst/>
          </a:prstGeom>
        </p:spPr>
      </p:pic>
      <p:cxnSp>
        <p:nvCxnSpPr>
          <p:cNvPr id="2" name="Straight Arrow Connector 1">
            <a:extLst>
              <a:ext uri="{FF2B5EF4-FFF2-40B4-BE49-F238E27FC236}">
                <a16:creationId xmlns:a16="http://schemas.microsoft.com/office/drawing/2014/main" id="{36D1EE4A-1DD3-0A3E-BB4D-5E2363600C40}"/>
              </a:ext>
            </a:extLst>
          </p:cNvPr>
          <p:cNvCxnSpPr>
            <a:cxnSpLocks/>
          </p:cNvCxnSpPr>
          <p:nvPr/>
        </p:nvCxnSpPr>
        <p:spPr>
          <a:xfrm flipH="1">
            <a:off x="3613390" y="1808480"/>
            <a:ext cx="2055890" cy="20391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56612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02520-A5E2-96BE-525B-DB6ECBD45D9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65DBCEF-CE5D-3C68-5C52-4225A2E8632B}"/>
              </a:ext>
            </a:extLst>
          </p:cNvPr>
          <p:cNvPicPr>
            <a:picLocks noChangeAspect="1"/>
          </p:cNvPicPr>
          <p:nvPr/>
        </p:nvPicPr>
        <p:blipFill>
          <a:blip r:embed="rId3"/>
          <a:stretch>
            <a:fillRect/>
          </a:stretch>
        </p:blipFill>
        <p:spPr>
          <a:xfrm>
            <a:off x="2552" y="0"/>
            <a:ext cx="12186896" cy="6858000"/>
          </a:xfrm>
          <a:prstGeom prst="rect">
            <a:avLst/>
          </a:prstGeom>
        </p:spPr>
      </p:pic>
      <p:cxnSp>
        <p:nvCxnSpPr>
          <p:cNvPr id="2" name="Straight Arrow Connector 1">
            <a:extLst>
              <a:ext uri="{FF2B5EF4-FFF2-40B4-BE49-F238E27FC236}">
                <a16:creationId xmlns:a16="http://schemas.microsoft.com/office/drawing/2014/main" id="{FB775832-6AF6-6994-8511-96E8459CD487}"/>
              </a:ext>
            </a:extLst>
          </p:cNvPr>
          <p:cNvCxnSpPr>
            <a:cxnSpLocks/>
          </p:cNvCxnSpPr>
          <p:nvPr/>
        </p:nvCxnSpPr>
        <p:spPr>
          <a:xfrm flipH="1" flipV="1">
            <a:off x="1676400" y="863600"/>
            <a:ext cx="6167120" cy="20320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FF0E87B4-71EC-8AC9-ACBD-4D362B311648}"/>
              </a:ext>
            </a:extLst>
          </p:cNvPr>
          <p:cNvCxnSpPr>
            <a:cxnSpLocks/>
          </p:cNvCxnSpPr>
          <p:nvPr/>
        </p:nvCxnSpPr>
        <p:spPr>
          <a:xfrm flipH="1">
            <a:off x="1351280" y="2895600"/>
            <a:ext cx="6492240" cy="34239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21020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87D78-993F-7536-B377-3E3B31453F3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C80053B-4090-8452-1DD6-7EEB89CF3B6B}"/>
              </a:ext>
            </a:extLst>
          </p:cNvPr>
          <p:cNvPicPr>
            <a:picLocks noChangeAspect="1"/>
          </p:cNvPicPr>
          <p:nvPr/>
        </p:nvPicPr>
        <p:blipFill>
          <a:blip r:embed="rId3"/>
          <a:stretch>
            <a:fillRect/>
          </a:stretch>
        </p:blipFill>
        <p:spPr>
          <a:xfrm>
            <a:off x="0" y="1846"/>
            <a:ext cx="12192000" cy="6854307"/>
          </a:xfrm>
          <a:prstGeom prst="rect">
            <a:avLst/>
          </a:prstGeom>
        </p:spPr>
      </p:pic>
    </p:spTree>
    <p:extLst>
      <p:ext uri="{BB962C8B-B14F-4D97-AF65-F5344CB8AC3E}">
        <p14:creationId xmlns:p14="http://schemas.microsoft.com/office/powerpoint/2010/main" val="83807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FD36D-43C3-A52A-9374-1679219BBC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899B2C6-2A35-42A8-B568-24E40F9BBB7B}"/>
              </a:ext>
            </a:extLst>
          </p:cNvPr>
          <p:cNvPicPr>
            <a:picLocks noChangeAspect="1"/>
          </p:cNvPicPr>
          <p:nvPr/>
        </p:nvPicPr>
        <p:blipFill>
          <a:blip r:embed="rId3"/>
          <a:stretch>
            <a:fillRect/>
          </a:stretch>
        </p:blipFill>
        <p:spPr>
          <a:xfrm>
            <a:off x="4753" y="0"/>
            <a:ext cx="12182494" cy="6858000"/>
          </a:xfrm>
          <a:prstGeom prst="rect">
            <a:avLst/>
          </a:prstGeom>
        </p:spPr>
      </p:pic>
      <p:cxnSp>
        <p:nvCxnSpPr>
          <p:cNvPr id="2" name="Straight Arrow Connector 1">
            <a:extLst>
              <a:ext uri="{FF2B5EF4-FFF2-40B4-BE49-F238E27FC236}">
                <a16:creationId xmlns:a16="http://schemas.microsoft.com/office/drawing/2014/main" id="{5BBC3747-1A63-7C01-DEAB-781F9A2D8CBC}"/>
              </a:ext>
            </a:extLst>
          </p:cNvPr>
          <p:cNvCxnSpPr>
            <a:cxnSpLocks/>
          </p:cNvCxnSpPr>
          <p:nvPr/>
        </p:nvCxnSpPr>
        <p:spPr>
          <a:xfrm flipH="1">
            <a:off x="3278110" y="1950720"/>
            <a:ext cx="3021090" cy="25471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68090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011A5-B921-067A-5CEC-228B8219A26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EBFF003-86B6-245E-67DE-C6C2CF6F12DD}"/>
              </a:ext>
            </a:extLst>
          </p:cNvPr>
          <p:cNvPicPr>
            <a:picLocks noChangeAspect="1"/>
          </p:cNvPicPr>
          <p:nvPr/>
        </p:nvPicPr>
        <p:blipFill>
          <a:blip r:embed="rId3"/>
          <a:stretch>
            <a:fillRect/>
          </a:stretch>
        </p:blipFill>
        <p:spPr>
          <a:xfrm>
            <a:off x="4753" y="0"/>
            <a:ext cx="12182494" cy="6858000"/>
          </a:xfrm>
          <a:prstGeom prst="rect">
            <a:avLst/>
          </a:prstGeom>
        </p:spPr>
      </p:pic>
      <p:cxnSp>
        <p:nvCxnSpPr>
          <p:cNvPr id="2" name="Straight Arrow Connector 1">
            <a:extLst>
              <a:ext uri="{FF2B5EF4-FFF2-40B4-BE49-F238E27FC236}">
                <a16:creationId xmlns:a16="http://schemas.microsoft.com/office/drawing/2014/main" id="{77BD46E4-018C-0F7C-1266-D5FCF69F8FCE}"/>
              </a:ext>
            </a:extLst>
          </p:cNvPr>
          <p:cNvCxnSpPr>
            <a:cxnSpLocks/>
          </p:cNvCxnSpPr>
          <p:nvPr/>
        </p:nvCxnSpPr>
        <p:spPr>
          <a:xfrm flipH="1" flipV="1">
            <a:off x="3891280" y="812800"/>
            <a:ext cx="5892800" cy="48463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42C93933-A098-293D-236C-6E3E8248DC6C}"/>
              </a:ext>
            </a:extLst>
          </p:cNvPr>
          <p:cNvCxnSpPr>
            <a:cxnSpLocks/>
          </p:cNvCxnSpPr>
          <p:nvPr/>
        </p:nvCxnSpPr>
        <p:spPr>
          <a:xfrm flipH="1">
            <a:off x="1449310" y="5659120"/>
            <a:ext cx="8334770" cy="93543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84216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DEFC7-F0B4-0298-A505-14D7B71BFDE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0D7C218-2261-5FB5-674B-984EF21EEA74}"/>
              </a:ext>
            </a:extLst>
          </p:cNvPr>
          <p:cNvPicPr>
            <a:picLocks noChangeAspect="1"/>
          </p:cNvPicPr>
          <p:nvPr/>
        </p:nvPicPr>
        <p:blipFill>
          <a:blip r:embed="rId3"/>
          <a:stretch>
            <a:fillRect/>
          </a:stretch>
        </p:blipFill>
        <p:spPr>
          <a:xfrm>
            <a:off x="5833" y="0"/>
            <a:ext cx="12180333" cy="6858000"/>
          </a:xfrm>
          <a:prstGeom prst="rect">
            <a:avLst/>
          </a:prstGeom>
        </p:spPr>
      </p:pic>
    </p:spTree>
    <p:extLst>
      <p:ext uri="{BB962C8B-B14F-4D97-AF65-F5344CB8AC3E}">
        <p14:creationId xmlns:p14="http://schemas.microsoft.com/office/powerpoint/2010/main" val="21786528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1B580C-AC35-6F6B-E2D7-6D762F4B5D9F}"/>
              </a:ext>
            </a:extLst>
          </p:cNvPr>
          <p:cNvPicPr>
            <a:picLocks noChangeAspect="1"/>
          </p:cNvPicPr>
          <p:nvPr/>
        </p:nvPicPr>
        <p:blipFill>
          <a:blip r:embed="rId3"/>
          <a:stretch>
            <a:fillRect/>
          </a:stretch>
        </p:blipFill>
        <p:spPr>
          <a:xfrm>
            <a:off x="6103557" y="0"/>
            <a:ext cx="6058746" cy="6066366"/>
          </a:xfrm>
          <a:prstGeom prst="rect">
            <a:avLst/>
          </a:prstGeom>
        </p:spPr>
      </p:pic>
      <p:pic>
        <p:nvPicPr>
          <p:cNvPr id="7" name="Picture 6">
            <a:extLst>
              <a:ext uri="{FF2B5EF4-FFF2-40B4-BE49-F238E27FC236}">
                <a16:creationId xmlns:a16="http://schemas.microsoft.com/office/drawing/2014/main" id="{922EF5A9-8BB9-6686-803B-15991CE2D806}"/>
              </a:ext>
            </a:extLst>
          </p:cNvPr>
          <p:cNvPicPr>
            <a:picLocks noChangeAspect="1"/>
          </p:cNvPicPr>
          <p:nvPr/>
        </p:nvPicPr>
        <p:blipFill>
          <a:blip r:embed="rId4"/>
          <a:stretch>
            <a:fillRect/>
          </a:stretch>
        </p:blipFill>
        <p:spPr>
          <a:xfrm>
            <a:off x="1" y="2"/>
            <a:ext cx="6058746" cy="6066366"/>
          </a:xfrm>
          <a:prstGeom prst="rect">
            <a:avLst/>
          </a:prstGeom>
        </p:spPr>
      </p:pic>
    </p:spTree>
    <p:extLst>
      <p:ext uri="{BB962C8B-B14F-4D97-AF65-F5344CB8AC3E}">
        <p14:creationId xmlns:p14="http://schemas.microsoft.com/office/powerpoint/2010/main" val="10996095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F224A0-1C71-84EA-8358-B08EFA126B9D}"/>
              </a:ext>
            </a:extLst>
          </p:cNvPr>
          <p:cNvPicPr>
            <a:picLocks noChangeAspect="1"/>
          </p:cNvPicPr>
          <p:nvPr/>
        </p:nvPicPr>
        <p:blipFill>
          <a:blip r:embed="rId3"/>
          <a:stretch>
            <a:fillRect/>
          </a:stretch>
        </p:blipFill>
        <p:spPr>
          <a:xfrm>
            <a:off x="7544" y="0"/>
            <a:ext cx="12176912" cy="6858000"/>
          </a:xfrm>
          <a:prstGeom prst="rect">
            <a:avLst/>
          </a:prstGeom>
        </p:spPr>
      </p:pic>
      <p:pic>
        <p:nvPicPr>
          <p:cNvPr id="6" name="Picture 5">
            <a:extLst>
              <a:ext uri="{FF2B5EF4-FFF2-40B4-BE49-F238E27FC236}">
                <a16:creationId xmlns:a16="http://schemas.microsoft.com/office/drawing/2014/main" id="{96E33A07-610E-6E40-F0E0-FE6EAE8AE950}"/>
              </a:ext>
            </a:extLst>
          </p:cNvPr>
          <p:cNvPicPr>
            <a:picLocks noChangeAspect="1"/>
          </p:cNvPicPr>
          <p:nvPr/>
        </p:nvPicPr>
        <p:blipFill>
          <a:blip r:embed="rId4"/>
          <a:srcRect l="47065" t="31268" r="21878" b="59140"/>
          <a:stretch>
            <a:fillRect/>
          </a:stretch>
        </p:blipFill>
        <p:spPr>
          <a:xfrm>
            <a:off x="5063205" y="4171474"/>
            <a:ext cx="2352081" cy="727358"/>
          </a:xfrm>
          <a:prstGeom prst="rect">
            <a:avLst/>
          </a:prstGeom>
        </p:spPr>
      </p:pic>
      <p:cxnSp>
        <p:nvCxnSpPr>
          <p:cNvPr id="8" name="Straight Arrow Connector 7">
            <a:extLst>
              <a:ext uri="{FF2B5EF4-FFF2-40B4-BE49-F238E27FC236}">
                <a16:creationId xmlns:a16="http://schemas.microsoft.com/office/drawing/2014/main" id="{3C480D48-0587-5196-FC55-477CEF7313EA}"/>
              </a:ext>
            </a:extLst>
          </p:cNvPr>
          <p:cNvCxnSpPr>
            <a:stCxn id="6" idx="1"/>
          </p:cNvCxnSpPr>
          <p:nvPr/>
        </p:nvCxnSpPr>
        <p:spPr>
          <a:xfrm flipH="1" flipV="1">
            <a:off x="3151279" y="4420860"/>
            <a:ext cx="1911926" cy="11429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BBDE16A6-1370-9075-014F-D0C138A8F5D0}"/>
              </a:ext>
            </a:extLst>
          </p:cNvPr>
          <p:cNvCxnSpPr>
            <a:cxnSpLocks/>
          </p:cNvCxnSpPr>
          <p:nvPr/>
        </p:nvCxnSpPr>
        <p:spPr>
          <a:xfrm flipH="1" flipV="1">
            <a:off x="3942080" y="3129280"/>
            <a:ext cx="1800878" cy="1731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F640A224-95FE-0EF8-4120-8AEDADBB9F98}"/>
              </a:ext>
            </a:extLst>
          </p:cNvPr>
          <p:cNvPicPr>
            <a:picLocks noChangeAspect="1"/>
          </p:cNvPicPr>
          <p:nvPr/>
        </p:nvPicPr>
        <p:blipFill>
          <a:blip r:embed="rId5"/>
          <a:srcRect l="24322" t="23966" r="26168" b="63096"/>
          <a:stretch>
            <a:fillRect/>
          </a:stretch>
        </p:blipFill>
        <p:spPr>
          <a:xfrm>
            <a:off x="5742958" y="2817227"/>
            <a:ext cx="2999759" cy="784879"/>
          </a:xfrm>
          <a:prstGeom prst="rect">
            <a:avLst/>
          </a:prstGeom>
        </p:spPr>
      </p:pic>
    </p:spTree>
    <p:extLst>
      <p:ext uri="{BB962C8B-B14F-4D97-AF65-F5344CB8AC3E}">
        <p14:creationId xmlns:p14="http://schemas.microsoft.com/office/powerpoint/2010/main" val="42488717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6F08E7-5E8C-9F36-4DE6-371AFB9A5AD5}"/>
              </a:ext>
            </a:extLst>
          </p:cNvPr>
          <p:cNvPicPr>
            <a:picLocks noChangeAspect="1"/>
          </p:cNvPicPr>
          <p:nvPr/>
        </p:nvPicPr>
        <p:blipFill>
          <a:blip r:embed="rId3"/>
          <a:stretch>
            <a:fillRect/>
          </a:stretch>
        </p:blipFill>
        <p:spPr>
          <a:xfrm>
            <a:off x="9619" y="0"/>
            <a:ext cx="12172762" cy="6858000"/>
          </a:xfrm>
          <a:prstGeom prst="rect">
            <a:avLst/>
          </a:prstGeom>
        </p:spPr>
      </p:pic>
    </p:spTree>
    <p:extLst>
      <p:ext uri="{BB962C8B-B14F-4D97-AF65-F5344CB8AC3E}">
        <p14:creationId xmlns:p14="http://schemas.microsoft.com/office/powerpoint/2010/main" val="17487283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8003F11-A2A5-8535-C8BB-1FB67AF51F65}"/>
              </a:ext>
            </a:extLst>
          </p:cNvPr>
          <p:cNvPicPr>
            <a:picLocks noChangeAspect="1"/>
          </p:cNvPicPr>
          <p:nvPr/>
        </p:nvPicPr>
        <p:blipFill>
          <a:blip r:embed="rId3"/>
          <a:stretch>
            <a:fillRect/>
          </a:stretch>
        </p:blipFill>
        <p:spPr>
          <a:xfrm>
            <a:off x="4615" y="0"/>
            <a:ext cx="12182769" cy="6858000"/>
          </a:xfrm>
          <a:prstGeom prst="rect">
            <a:avLst/>
          </a:prstGeom>
        </p:spPr>
      </p:pic>
      <p:cxnSp>
        <p:nvCxnSpPr>
          <p:cNvPr id="2" name="Straight Arrow Connector 1">
            <a:extLst>
              <a:ext uri="{FF2B5EF4-FFF2-40B4-BE49-F238E27FC236}">
                <a16:creationId xmlns:a16="http://schemas.microsoft.com/office/drawing/2014/main" id="{A7BA7648-F812-42B3-18A1-7CC13FBE9FFB}"/>
              </a:ext>
            </a:extLst>
          </p:cNvPr>
          <p:cNvCxnSpPr>
            <a:cxnSpLocks/>
          </p:cNvCxnSpPr>
          <p:nvPr/>
        </p:nvCxnSpPr>
        <p:spPr>
          <a:xfrm flipH="1" flipV="1">
            <a:off x="5831840" y="2082800"/>
            <a:ext cx="1940560" cy="2235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B2A62E10-0A65-4DFF-7322-EBEF3772466D}"/>
              </a:ext>
            </a:extLst>
          </p:cNvPr>
          <p:cNvCxnSpPr>
            <a:cxnSpLocks/>
          </p:cNvCxnSpPr>
          <p:nvPr/>
        </p:nvCxnSpPr>
        <p:spPr>
          <a:xfrm flipH="1" flipV="1">
            <a:off x="4405870" y="5334715"/>
            <a:ext cx="1984770" cy="27360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6538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EF562-3148-FAEB-3E7E-66133F1D413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3EB710F-AC97-0D15-7AA5-C65445D10F8A}"/>
              </a:ext>
            </a:extLst>
          </p:cNvPr>
          <p:cNvPicPr>
            <a:picLocks noChangeAspect="1"/>
          </p:cNvPicPr>
          <p:nvPr/>
        </p:nvPicPr>
        <p:blipFill>
          <a:blip r:embed="rId3"/>
          <a:stretch>
            <a:fillRect/>
          </a:stretch>
        </p:blipFill>
        <p:spPr>
          <a:xfrm>
            <a:off x="608094" y="0"/>
            <a:ext cx="10975811" cy="6858000"/>
          </a:xfrm>
          <a:prstGeom prst="rect">
            <a:avLst/>
          </a:prstGeom>
        </p:spPr>
      </p:pic>
    </p:spTree>
    <p:extLst>
      <p:ext uri="{BB962C8B-B14F-4D97-AF65-F5344CB8AC3E}">
        <p14:creationId xmlns:p14="http://schemas.microsoft.com/office/powerpoint/2010/main" val="22174720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D52E6-4370-B0CB-BE1B-932EDE40E4B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C4ED1BE-2FCC-B2F3-6802-ACB0C2C03D12}"/>
              </a:ext>
            </a:extLst>
          </p:cNvPr>
          <p:cNvPicPr>
            <a:picLocks noChangeAspect="1"/>
          </p:cNvPicPr>
          <p:nvPr/>
        </p:nvPicPr>
        <p:blipFill>
          <a:blip r:embed="rId3"/>
          <a:stretch>
            <a:fillRect/>
          </a:stretch>
        </p:blipFill>
        <p:spPr>
          <a:xfrm>
            <a:off x="14235" y="0"/>
            <a:ext cx="12163530" cy="6858000"/>
          </a:xfrm>
          <a:prstGeom prst="rect">
            <a:avLst/>
          </a:prstGeom>
        </p:spPr>
      </p:pic>
      <p:cxnSp>
        <p:nvCxnSpPr>
          <p:cNvPr id="2" name="Straight Arrow Connector 1">
            <a:extLst>
              <a:ext uri="{FF2B5EF4-FFF2-40B4-BE49-F238E27FC236}">
                <a16:creationId xmlns:a16="http://schemas.microsoft.com/office/drawing/2014/main" id="{4CF8A9C5-2F7E-C4C2-8766-5B9DD84221A8}"/>
              </a:ext>
            </a:extLst>
          </p:cNvPr>
          <p:cNvCxnSpPr>
            <a:cxnSpLocks/>
          </p:cNvCxnSpPr>
          <p:nvPr/>
        </p:nvCxnSpPr>
        <p:spPr>
          <a:xfrm flipH="1" flipV="1">
            <a:off x="4257040" y="1127760"/>
            <a:ext cx="4704080" cy="1727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E1A3271-48BF-EFF4-7D33-47374ACB3FC7}"/>
              </a:ext>
            </a:extLst>
          </p:cNvPr>
          <p:cNvCxnSpPr>
            <a:cxnSpLocks/>
          </p:cNvCxnSpPr>
          <p:nvPr/>
        </p:nvCxnSpPr>
        <p:spPr>
          <a:xfrm flipH="1" flipV="1">
            <a:off x="4826000" y="2976880"/>
            <a:ext cx="4368800" cy="1727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66A92D6-C884-31DA-0D0A-69AA1550242A}"/>
              </a:ext>
            </a:extLst>
          </p:cNvPr>
          <p:cNvCxnSpPr>
            <a:cxnSpLocks/>
          </p:cNvCxnSpPr>
          <p:nvPr/>
        </p:nvCxnSpPr>
        <p:spPr>
          <a:xfrm flipH="1" flipV="1">
            <a:off x="5716510" y="3429000"/>
            <a:ext cx="3478290" cy="2082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70728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36DF4-9B74-BF47-2A16-10ED58534AC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E980F99-F673-2AAE-83CC-86CAB06D36B7}"/>
              </a:ext>
            </a:extLst>
          </p:cNvPr>
          <p:cNvPicPr>
            <a:picLocks noChangeAspect="1"/>
          </p:cNvPicPr>
          <p:nvPr/>
        </p:nvPicPr>
        <p:blipFill>
          <a:blip r:embed="rId3"/>
          <a:stretch>
            <a:fillRect/>
          </a:stretch>
        </p:blipFill>
        <p:spPr>
          <a:xfrm>
            <a:off x="8392" y="0"/>
            <a:ext cx="12175216" cy="6858000"/>
          </a:xfrm>
          <a:prstGeom prst="rect">
            <a:avLst/>
          </a:prstGeom>
        </p:spPr>
      </p:pic>
    </p:spTree>
    <p:extLst>
      <p:ext uri="{BB962C8B-B14F-4D97-AF65-F5344CB8AC3E}">
        <p14:creationId xmlns:p14="http://schemas.microsoft.com/office/powerpoint/2010/main" val="22736623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5BE30-4834-104C-B9C9-7E011E4ADF7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DF447D2-283C-6FC7-38C8-C03CC7FD1B26}"/>
              </a:ext>
            </a:extLst>
          </p:cNvPr>
          <p:cNvPicPr>
            <a:picLocks noChangeAspect="1"/>
          </p:cNvPicPr>
          <p:nvPr/>
        </p:nvPicPr>
        <p:blipFill>
          <a:blip r:embed="rId3"/>
          <a:stretch>
            <a:fillRect/>
          </a:stretch>
        </p:blipFill>
        <p:spPr>
          <a:xfrm>
            <a:off x="0" y="3772"/>
            <a:ext cx="12192000" cy="6850456"/>
          </a:xfrm>
          <a:prstGeom prst="rect">
            <a:avLst/>
          </a:prstGeom>
        </p:spPr>
      </p:pic>
      <p:cxnSp>
        <p:nvCxnSpPr>
          <p:cNvPr id="2" name="Straight Arrow Connector 1">
            <a:extLst>
              <a:ext uri="{FF2B5EF4-FFF2-40B4-BE49-F238E27FC236}">
                <a16:creationId xmlns:a16="http://schemas.microsoft.com/office/drawing/2014/main" id="{86179570-E709-8ADF-E68B-B95BBCD8DFA7}"/>
              </a:ext>
            </a:extLst>
          </p:cNvPr>
          <p:cNvCxnSpPr>
            <a:cxnSpLocks/>
          </p:cNvCxnSpPr>
          <p:nvPr/>
        </p:nvCxnSpPr>
        <p:spPr>
          <a:xfrm flipH="1">
            <a:off x="4286553" y="1911927"/>
            <a:ext cx="2424085" cy="2184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87739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F5204-8CC9-4FE4-2AEF-398D7B0B887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287BE26-9542-DC82-0EB0-ABB3C3AB0A44}"/>
              </a:ext>
            </a:extLst>
          </p:cNvPr>
          <p:cNvPicPr>
            <a:picLocks noChangeAspect="1"/>
          </p:cNvPicPr>
          <p:nvPr/>
        </p:nvPicPr>
        <p:blipFill>
          <a:blip r:embed="rId3"/>
          <a:stretch>
            <a:fillRect/>
          </a:stretch>
        </p:blipFill>
        <p:spPr>
          <a:xfrm>
            <a:off x="0" y="6618"/>
            <a:ext cx="12192000" cy="6844764"/>
          </a:xfrm>
          <a:prstGeom prst="rect">
            <a:avLst/>
          </a:prstGeom>
        </p:spPr>
      </p:pic>
    </p:spTree>
    <p:extLst>
      <p:ext uri="{BB962C8B-B14F-4D97-AF65-F5344CB8AC3E}">
        <p14:creationId xmlns:p14="http://schemas.microsoft.com/office/powerpoint/2010/main" val="29030879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FA868-92BA-5262-870C-165327805D6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4957192-A333-9069-010D-A454D8B270A5}"/>
              </a:ext>
            </a:extLst>
          </p:cNvPr>
          <p:cNvPicPr>
            <a:picLocks noChangeAspect="1"/>
          </p:cNvPicPr>
          <p:nvPr/>
        </p:nvPicPr>
        <p:blipFill>
          <a:blip r:embed="rId3"/>
          <a:stretch>
            <a:fillRect/>
          </a:stretch>
        </p:blipFill>
        <p:spPr>
          <a:xfrm>
            <a:off x="21771" y="0"/>
            <a:ext cx="12148457" cy="6858000"/>
          </a:xfrm>
          <a:prstGeom prst="rect">
            <a:avLst/>
          </a:prstGeom>
        </p:spPr>
      </p:pic>
    </p:spTree>
    <p:extLst>
      <p:ext uri="{BB962C8B-B14F-4D97-AF65-F5344CB8AC3E}">
        <p14:creationId xmlns:p14="http://schemas.microsoft.com/office/powerpoint/2010/main" val="27037797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9F9B7-B705-486B-39D7-1BF2DEBFAC1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D89577F-D3F0-C349-C87E-55CD877444A1}"/>
              </a:ext>
            </a:extLst>
          </p:cNvPr>
          <p:cNvPicPr>
            <a:picLocks noChangeAspect="1"/>
          </p:cNvPicPr>
          <p:nvPr/>
        </p:nvPicPr>
        <p:blipFill>
          <a:blip r:embed="rId3"/>
          <a:stretch>
            <a:fillRect/>
          </a:stretch>
        </p:blipFill>
        <p:spPr>
          <a:xfrm>
            <a:off x="21771" y="0"/>
            <a:ext cx="12148457" cy="6858000"/>
          </a:xfrm>
          <a:prstGeom prst="rect">
            <a:avLst/>
          </a:prstGeom>
        </p:spPr>
      </p:pic>
    </p:spTree>
    <p:extLst>
      <p:ext uri="{BB962C8B-B14F-4D97-AF65-F5344CB8AC3E}">
        <p14:creationId xmlns:p14="http://schemas.microsoft.com/office/powerpoint/2010/main" val="7428930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5CD6A-A4B9-FF5A-9521-599EAF89BD7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78529F9-1BE5-933E-CFF0-4A1B159C8D2B}"/>
              </a:ext>
            </a:extLst>
          </p:cNvPr>
          <p:cNvPicPr>
            <a:picLocks noChangeAspect="1"/>
          </p:cNvPicPr>
          <p:nvPr/>
        </p:nvPicPr>
        <p:blipFill>
          <a:blip r:embed="rId3"/>
          <a:stretch>
            <a:fillRect/>
          </a:stretch>
        </p:blipFill>
        <p:spPr>
          <a:xfrm>
            <a:off x="21771" y="0"/>
            <a:ext cx="12148457" cy="6858000"/>
          </a:xfrm>
          <a:prstGeom prst="rect">
            <a:avLst/>
          </a:prstGeom>
        </p:spPr>
      </p:pic>
    </p:spTree>
    <p:extLst>
      <p:ext uri="{BB962C8B-B14F-4D97-AF65-F5344CB8AC3E}">
        <p14:creationId xmlns:p14="http://schemas.microsoft.com/office/powerpoint/2010/main" val="20284591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1B0FB-FB8D-F14F-23B9-D9FE1ADD934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D344B24-1329-0C11-15D7-3FAC9F960B5C}"/>
              </a:ext>
            </a:extLst>
          </p:cNvPr>
          <p:cNvPicPr>
            <a:picLocks noChangeAspect="1"/>
          </p:cNvPicPr>
          <p:nvPr/>
        </p:nvPicPr>
        <p:blipFill>
          <a:blip r:embed="rId3"/>
          <a:stretch>
            <a:fillRect/>
          </a:stretch>
        </p:blipFill>
        <p:spPr>
          <a:xfrm>
            <a:off x="21771" y="0"/>
            <a:ext cx="12148457" cy="6858000"/>
          </a:xfrm>
          <a:prstGeom prst="rect">
            <a:avLst/>
          </a:prstGeom>
        </p:spPr>
      </p:pic>
    </p:spTree>
    <p:extLst>
      <p:ext uri="{BB962C8B-B14F-4D97-AF65-F5344CB8AC3E}">
        <p14:creationId xmlns:p14="http://schemas.microsoft.com/office/powerpoint/2010/main" val="1872011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C13EC-675F-5720-3184-44B9727E2E9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AFE10C7-8B06-10A0-4230-BF9C294BB11D}"/>
              </a:ext>
            </a:extLst>
          </p:cNvPr>
          <p:cNvPicPr>
            <a:picLocks noChangeAspect="1"/>
          </p:cNvPicPr>
          <p:nvPr/>
        </p:nvPicPr>
        <p:blipFill>
          <a:blip r:embed="rId3"/>
          <a:stretch>
            <a:fillRect/>
          </a:stretch>
        </p:blipFill>
        <p:spPr>
          <a:xfrm>
            <a:off x="21771" y="0"/>
            <a:ext cx="12148457" cy="6858000"/>
          </a:xfrm>
          <a:prstGeom prst="rect">
            <a:avLst/>
          </a:prstGeom>
        </p:spPr>
      </p:pic>
    </p:spTree>
    <p:extLst>
      <p:ext uri="{BB962C8B-B14F-4D97-AF65-F5344CB8AC3E}">
        <p14:creationId xmlns:p14="http://schemas.microsoft.com/office/powerpoint/2010/main" val="35710043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0F97B-6E7C-306B-2371-7F134E06748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61137CC-04F9-D97E-5A9D-FE4E86DBE75D}"/>
              </a:ext>
            </a:extLst>
          </p:cNvPr>
          <p:cNvPicPr>
            <a:picLocks noChangeAspect="1"/>
          </p:cNvPicPr>
          <p:nvPr/>
        </p:nvPicPr>
        <p:blipFill>
          <a:blip r:embed="rId3"/>
          <a:stretch>
            <a:fillRect/>
          </a:stretch>
        </p:blipFill>
        <p:spPr>
          <a:xfrm>
            <a:off x="0" y="20077"/>
            <a:ext cx="12192000" cy="6817845"/>
          </a:xfrm>
          <a:prstGeom prst="rect">
            <a:avLst/>
          </a:prstGeom>
        </p:spPr>
      </p:pic>
    </p:spTree>
    <p:extLst>
      <p:ext uri="{BB962C8B-B14F-4D97-AF65-F5344CB8AC3E}">
        <p14:creationId xmlns:p14="http://schemas.microsoft.com/office/powerpoint/2010/main" val="15503113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EEB41-D634-1FE5-EF07-384EEB41B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FFC9E8-85F0-9535-0929-3EF5C7172A16}"/>
              </a:ext>
            </a:extLst>
          </p:cNvPr>
          <p:cNvSpPr>
            <a:spLocks noGrp="1"/>
          </p:cNvSpPr>
          <p:nvPr>
            <p:ph type="title"/>
          </p:nvPr>
        </p:nvSpPr>
        <p:spPr/>
        <p:txBody>
          <a:bodyPr/>
          <a:lstStyle/>
          <a:p>
            <a:r>
              <a:rPr lang="en-US" dirty="0"/>
              <a:t>Structure of the Talk</a:t>
            </a:r>
          </a:p>
        </p:txBody>
      </p:sp>
      <p:sp>
        <p:nvSpPr>
          <p:cNvPr id="3" name="Content Placeholder 2">
            <a:extLst>
              <a:ext uri="{FF2B5EF4-FFF2-40B4-BE49-F238E27FC236}">
                <a16:creationId xmlns:a16="http://schemas.microsoft.com/office/drawing/2014/main" id="{2153D2E3-E82D-07F7-7077-43394AB7E26E}"/>
              </a:ext>
            </a:extLst>
          </p:cNvPr>
          <p:cNvSpPr>
            <a:spLocks noGrp="1"/>
          </p:cNvSpPr>
          <p:nvPr>
            <p:ph idx="1"/>
          </p:nvPr>
        </p:nvSpPr>
        <p:spPr/>
        <p:txBody>
          <a:bodyPr>
            <a:normAutofit fontScale="92500" lnSpcReduction="10000"/>
          </a:bodyPr>
          <a:lstStyle/>
          <a:p>
            <a:r>
              <a:rPr lang="en-US" dirty="0"/>
              <a:t>Unit 1: Basics</a:t>
            </a:r>
          </a:p>
          <a:p>
            <a:pPr lvl="1"/>
            <a:r>
              <a:rPr lang="en-US" dirty="0"/>
              <a:t>What is            ?</a:t>
            </a:r>
          </a:p>
          <a:p>
            <a:pPr lvl="1"/>
            <a:r>
              <a:rPr lang="en-US" dirty="0"/>
              <a:t>How do I use it?</a:t>
            </a:r>
          </a:p>
          <a:p>
            <a:pPr lvl="1"/>
            <a:r>
              <a:rPr lang="en-US" dirty="0"/>
              <a:t>Sample profile design workflow</a:t>
            </a:r>
          </a:p>
          <a:p>
            <a:r>
              <a:rPr lang="en-US" dirty="0">
                <a:solidFill>
                  <a:schemeClr val="accent5"/>
                </a:solidFill>
              </a:rPr>
              <a:t>Unit 2: Deeper Dive</a:t>
            </a:r>
          </a:p>
          <a:p>
            <a:pPr lvl="1"/>
            <a:r>
              <a:rPr lang="en-US" dirty="0"/>
              <a:t>Preamble</a:t>
            </a:r>
          </a:p>
          <a:p>
            <a:pPr lvl="1"/>
            <a:r>
              <a:rPr lang="en-US" dirty="0"/>
              <a:t>Structure</a:t>
            </a:r>
          </a:p>
          <a:p>
            <a:pPr lvl="1"/>
            <a:r>
              <a:rPr lang="en-US" dirty="0"/>
              <a:t>Text sizes &amp; styles</a:t>
            </a:r>
          </a:p>
          <a:p>
            <a:pPr lvl="1"/>
            <a:r>
              <a:rPr lang="en-US" dirty="0"/>
              <a:t>Environments</a:t>
            </a:r>
          </a:p>
          <a:p>
            <a:pPr lvl="1"/>
            <a:r>
              <a:rPr lang="en-US" dirty="0"/>
              <a:t>Lengths</a:t>
            </a:r>
          </a:p>
          <a:p>
            <a:pPr lvl="1"/>
            <a:r>
              <a:rPr lang="en-US" dirty="0"/>
              <a:t>Spacing</a:t>
            </a:r>
          </a:p>
          <a:p>
            <a:r>
              <a:rPr lang="en-US" dirty="0"/>
              <a:t>Unit 3: </a:t>
            </a:r>
            <a:r>
              <a:rPr lang="en-US" dirty="0" err="1"/>
              <a:t>LaTable</a:t>
            </a:r>
            <a:r>
              <a:rPr lang="en-US" dirty="0"/>
              <a:t>: a Stata table generator for data factsheets</a:t>
            </a:r>
          </a:p>
          <a:p>
            <a:pPr lvl="1"/>
            <a:endParaRPr lang="en-US" dirty="0"/>
          </a:p>
          <a:p>
            <a:pPr lvl="1"/>
            <a:endParaRPr lang="en-US" dirty="0"/>
          </a:p>
        </p:txBody>
      </p:sp>
      <p:pic>
        <p:nvPicPr>
          <p:cNvPr id="4" name="Picture 6">
            <a:extLst>
              <a:ext uri="{FF2B5EF4-FFF2-40B4-BE49-F238E27FC236}">
                <a16:creationId xmlns:a16="http://schemas.microsoft.com/office/drawing/2014/main" id="{CEC8B15E-3D59-705F-72AF-412FE8CD27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6088" y="2226945"/>
            <a:ext cx="731520" cy="304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11827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Quick Review of </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fontScale="92500" lnSpcReduction="20000"/>
          </a:bodyPr>
          <a:lstStyle/>
          <a:p>
            <a:r>
              <a:rPr lang="en-US" dirty="0"/>
              <a:t>Markup language for typesetting</a:t>
            </a:r>
          </a:p>
          <a:p>
            <a:r>
              <a:rPr lang="en-US" dirty="0"/>
              <a:t>Commands</a:t>
            </a:r>
          </a:p>
          <a:p>
            <a:pPr lvl="1"/>
            <a:r>
              <a:rPr lang="en-US" dirty="0"/>
              <a:t>\command[options]{required stuff}</a:t>
            </a:r>
          </a:p>
          <a:p>
            <a:pPr lvl="1"/>
            <a:r>
              <a:rPr lang="en-US" dirty="0"/>
              <a:t>\command*[options]{required stuff}</a:t>
            </a:r>
          </a:p>
          <a:p>
            <a:r>
              <a:rPr lang="en-US" dirty="0"/>
              <a:t>File consists of:</a:t>
            </a:r>
          </a:p>
          <a:p>
            <a:pPr lvl="1"/>
            <a:r>
              <a:rPr lang="en-US" dirty="0"/>
              <a:t>Preamble</a:t>
            </a:r>
          </a:p>
          <a:p>
            <a:pPr lvl="2"/>
            <a:r>
              <a:rPr lang="en-US" dirty="0"/>
              <a:t>Class of document </a:t>
            </a:r>
            <a:r>
              <a:rPr lang="en-US" dirty="0">
                <a:solidFill>
                  <a:srgbClr val="00B0F0"/>
                </a:solidFill>
              </a:rPr>
              <a:t>{required!}</a:t>
            </a:r>
          </a:p>
          <a:p>
            <a:pPr lvl="2"/>
            <a:r>
              <a:rPr lang="en-US" dirty="0"/>
              <a:t>Attributes such as author</a:t>
            </a:r>
          </a:p>
          <a:p>
            <a:pPr lvl="2"/>
            <a:r>
              <a:rPr lang="en-US" dirty="0"/>
              <a:t>Load packages</a:t>
            </a:r>
          </a:p>
          <a:p>
            <a:pPr lvl="2"/>
            <a:r>
              <a:rPr lang="en-US" dirty="0"/>
              <a:t>Define commands, colors, etc.</a:t>
            </a:r>
          </a:p>
          <a:p>
            <a:pPr lvl="1"/>
            <a:r>
              <a:rPr lang="en-US" dirty="0"/>
              <a:t>Document itself</a:t>
            </a:r>
          </a:p>
          <a:p>
            <a:pPr lvl="2"/>
            <a:r>
              <a:rPr lang="en-US" dirty="0"/>
              <a:t>\begin{document}</a:t>
            </a:r>
          </a:p>
          <a:p>
            <a:pPr lvl="2"/>
            <a:r>
              <a:rPr lang="en-US" dirty="0"/>
              <a:t>\end{document}</a:t>
            </a:r>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9265" y="7683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6563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Quick Review of </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a:bodyPr>
          <a:lstStyle/>
          <a:p>
            <a:r>
              <a:rPr lang="en-US" dirty="0"/>
              <a:t>Reserved Characters:</a:t>
            </a:r>
          </a:p>
          <a:p>
            <a:pPr marL="457200" lvl="1" indent="0">
              <a:buNone/>
            </a:pPr>
            <a:r>
              <a:rPr lang="en-US" dirty="0"/>
              <a:t>\		Starts command [\</a:t>
            </a:r>
            <a:r>
              <a:rPr lang="en-US" dirty="0" err="1"/>
              <a:t>textbackslash</a:t>
            </a:r>
            <a:r>
              <a:rPr lang="en-US" dirty="0"/>
              <a:t>]</a:t>
            </a:r>
          </a:p>
          <a:p>
            <a:pPr marL="457200" lvl="1" indent="0">
              <a:buNone/>
            </a:pPr>
            <a:r>
              <a:rPr lang="en-US" dirty="0"/>
              <a:t>{ </a:t>
            </a:r>
            <a:r>
              <a:rPr lang="en-US" dirty="0">
                <a:solidFill>
                  <a:srgbClr val="00B0F0"/>
                </a:solidFill>
              </a:rPr>
              <a:t>and</a:t>
            </a:r>
            <a:r>
              <a:rPr lang="en-US" dirty="0"/>
              <a:t> }	Start/end command argument</a:t>
            </a:r>
          </a:p>
          <a:p>
            <a:pPr marL="457200" lvl="1" indent="0">
              <a:buNone/>
            </a:pPr>
            <a:r>
              <a:rPr lang="en-US" dirty="0"/>
              <a:t>&amp;		Alignment character (primarily for tables)</a:t>
            </a:r>
          </a:p>
          <a:p>
            <a:pPr marL="457200" lvl="1" indent="0">
              <a:buNone/>
            </a:pPr>
            <a:r>
              <a:rPr lang="en-US" dirty="0"/>
              <a:t>% 		Starts comment</a:t>
            </a:r>
          </a:p>
          <a:p>
            <a:pPr marL="457200" lvl="1" indent="0">
              <a:buNone/>
            </a:pPr>
            <a:r>
              <a:rPr lang="en-US" dirty="0"/>
              <a:t>$ 		Starts/ends math mode</a:t>
            </a:r>
          </a:p>
          <a:p>
            <a:pPr marL="457200" lvl="1" indent="0">
              <a:buNone/>
            </a:pPr>
            <a:r>
              <a:rPr lang="en-US" dirty="0"/>
              <a:t>_ </a:t>
            </a:r>
            <a:r>
              <a:rPr lang="en-US" dirty="0">
                <a:solidFill>
                  <a:srgbClr val="00B0F0"/>
                </a:solidFill>
              </a:rPr>
              <a:t>and</a:t>
            </a:r>
            <a:r>
              <a:rPr lang="en-US" dirty="0"/>
              <a:t> ^	Superscripts and subscripts in math mode</a:t>
            </a:r>
          </a:p>
          <a:p>
            <a:pPr marL="457200" lvl="1" indent="0">
              <a:buNone/>
            </a:pPr>
            <a:r>
              <a:rPr lang="en-US" dirty="0"/>
              <a:t># 		Arguments in macro </a:t>
            </a:r>
          </a:p>
          <a:p>
            <a:pPr marL="457200" lvl="1" indent="0">
              <a:buNone/>
            </a:pPr>
            <a:r>
              <a:rPr lang="en-US" dirty="0"/>
              <a:t>~ 		Non-breakable space (similar to &amp;</a:t>
            </a:r>
            <a:r>
              <a:rPr lang="en-US" dirty="0" err="1"/>
              <a:t>nbsp</a:t>
            </a:r>
            <a:r>
              <a:rPr lang="en-US" dirty="0"/>
              <a:t>; in HTML)</a:t>
            </a:r>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9265" y="7683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82652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 – The Preamble</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a:bodyPr>
          <a:lstStyle/>
          <a:p>
            <a:r>
              <a:rPr lang="en-US" dirty="0">
                <a:effectLst/>
              </a:rPr>
              <a:t>\</a:t>
            </a:r>
            <a:r>
              <a:rPr lang="en-US" dirty="0" err="1">
                <a:effectLst/>
              </a:rPr>
              <a:t>documentclass</a:t>
            </a:r>
            <a:r>
              <a:rPr lang="en-US" dirty="0">
                <a:effectLst/>
              </a:rPr>
              <a:t>[options]{</a:t>
            </a:r>
            <a:r>
              <a:rPr lang="en-US" dirty="0" err="1">
                <a:solidFill>
                  <a:srgbClr val="00B0F0"/>
                </a:solidFill>
                <a:effectLst/>
              </a:rPr>
              <a:t>classname</a:t>
            </a:r>
            <a:r>
              <a:rPr lang="en-US" dirty="0">
                <a:effectLst/>
              </a:rPr>
              <a:t>}</a:t>
            </a:r>
            <a:endParaRPr lang="en-US" dirty="0"/>
          </a:p>
          <a:p>
            <a:r>
              <a:rPr lang="en-US" dirty="0"/>
              <a:t>Built-in document classes:</a:t>
            </a:r>
          </a:p>
          <a:p>
            <a:pPr lvl="1"/>
            <a:r>
              <a:rPr lang="en-US" dirty="0"/>
              <a:t>article - journal article (but also good default)</a:t>
            </a:r>
          </a:p>
          <a:p>
            <a:pPr lvl="1"/>
            <a:r>
              <a:rPr lang="en-US" dirty="0"/>
              <a:t>report - intermediate between article and book</a:t>
            </a:r>
          </a:p>
          <a:p>
            <a:pPr lvl="1"/>
            <a:r>
              <a:rPr lang="en-US" dirty="0"/>
              <a:t>book - full length book (chapters, appendices)</a:t>
            </a:r>
          </a:p>
          <a:p>
            <a:pPr lvl="1"/>
            <a:r>
              <a:rPr lang="en-US" dirty="0"/>
              <a:t>letter - includes option for mailing labels</a:t>
            </a:r>
          </a:p>
          <a:p>
            <a:pPr lvl="1"/>
            <a:r>
              <a:rPr lang="en-US" dirty="0"/>
              <a:t>slides - slides (but not as good as beamer!)</a:t>
            </a:r>
          </a:p>
          <a:p>
            <a:r>
              <a:rPr lang="en-US" dirty="0"/>
              <a:t>Commonly used custom classes:</a:t>
            </a:r>
          </a:p>
          <a:p>
            <a:pPr lvl="1"/>
            <a:r>
              <a:rPr lang="en-US" dirty="0"/>
              <a:t>beamer - slides</a:t>
            </a:r>
          </a:p>
          <a:p>
            <a:pPr lvl="1"/>
            <a:r>
              <a:rPr lang="en-US" dirty="0" err="1"/>
              <a:t>cvmodern</a:t>
            </a:r>
            <a:r>
              <a:rPr lang="en-US" dirty="0"/>
              <a:t> - resume/CV </a:t>
            </a:r>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48722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 – The Preamble</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a:bodyPr>
          <a:lstStyle/>
          <a:p>
            <a:r>
              <a:rPr lang="en-US" dirty="0">
                <a:effectLst/>
              </a:rPr>
              <a:t>\</a:t>
            </a:r>
            <a:r>
              <a:rPr lang="en-US" dirty="0" err="1">
                <a:effectLst/>
              </a:rPr>
              <a:t>documentclass</a:t>
            </a:r>
            <a:r>
              <a:rPr lang="en-US" dirty="0">
                <a:effectLst/>
              </a:rPr>
              <a:t>[</a:t>
            </a:r>
            <a:r>
              <a:rPr lang="en-US" dirty="0">
                <a:solidFill>
                  <a:srgbClr val="00B0F0"/>
                </a:solidFill>
                <a:effectLst/>
              </a:rPr>
              <a:t>options</a:t>
            </a:r>
            <a:r>
              <a:rPr lang="en-US" dirty="0">
                <a:effectLst/>
              </a:rPr>
              <a:t>]{</a:t>
            </a:r>
            <a:r>
              <a:rPr lang="en-US" dirty="0" err="1">
                <a:effectLst/>
              </a:rPr>
              <a:t>classname</a:t>
            </a:r>
            <a:r>
              <a:rPr lang="en-US" dirty="0">
                <a:effectLst/>
              </a:rPr>
              <a:t>}</a:t>
            </a:r>
            <a:endParaRPr lang="en-US" dirty="0"/>
          </a:p>
          <a:p>
            <a:pPr lvl="1"/>
            <a:r>
              <a:rPr lang="en-US" sz="2000" dirty="0"/>
              <a:t>base typeface size: 10pt, 11pt, 12pt</a:t>
            </a:r>
          </a:p>
          <a:p>
            <a:pPr lvl="1"/>
            <a:r>
              <a:rPr lang="en-US" sz="2000" dirty="0"/>
              <a:t>paper size: a4paper, a5paper, b5paper, </a:t>
            </a:r>
            <a:r>
              <a:rPr lang="en-US" sz="2000" dirty="0" err="1"/>
              <a:t>executivepaper</a:t>
            </a:r>
            <a:r>
              <a:rPr lang="en-US" sz="2000" dirty="0"/>
              <a:t>, </a:t>
            </a:r>
            <a:r>
              <a:rPr lang="en-US" sz="2000" dirty="0" err="1"/>
              <a:t>legalpaper</a:t>
            </a:r>
            <a:r>
              <a:rPr lang="en-US" sz="2000" dirty="0"/>
              <a:t>, </a:t>
            </a:r>
            <a:r>
              <a:rPr lang="en-US" sz="2000" dirty="0" err="1"/>
              <a:t>letterpaper</a:t>
            </a:r>
            <a:endParaRPr lang="en-US" sz="2000" dirty="0"/>
          </a:p>
          <a:p>
            <a:pPr lvl="1"/>
            <a:r>
              <a:rPr lang="en-US" sz="2000" dirty="0"/>
              <a:t>draft or final: draft, final</a:t>
            </a:r>
          </a:p>
          <a:p>
            <a:pPr lvl="1"/>
            <a:r>
              <a:rPr lang="en-US" sz="2000" dirty="0"/>
              <a:t>orientation: landscape</a:t>
            </a:r>
          </a:p>
          <a:p>
            <a:pPr lvl="1"/>
            <a:r>
              <a:rPr lang="en-US" sz="2000" dirty="0"/>
              <a:t>title page: titlepage or </a:t>
            </a:r>
            <a:r>
              <a:rPr lang="en-US" sz="2000" dirty="0" err="1"/>
              <a:t>notitlepage</a:t>
            </a:r>
            <a:endParaRPr lang="en-US" sz="2000" dirty="0"/>
          </a:p>
          <a:p>
            <a:pPr lvl="1"/>
            <a:r>
              <a:rPr lang="en-US" sz="2000" dirty="0" err="1"/>
              <a:t>onecolumn</a:t>
            </a:r>
            <a:r>
              <a:rPr lang="en-US" sz="2000" dirty="0"/>
              <a:t>, </a:t>
            </a:r>
            <a:r>
              <a:rPr lang="en-US" sz="2000" dirty="0" err="1"/>
              <a:t>twocolumn</a:t>
            </a:r>
            <a:r>
              <a:rPr lang="en-US" sz="2000" dirty="0"/>
              <a:t> </a:t>
            </a:r>
          </a:p>
          <a:p>
            <a:pPr lvl="1"/>
            <a:r>
              <a:rPr lang="en-US" sz="2000" dirty="0" err="1"/>
              <a:t>oneside</a:t>
            </a:r>
            <a:r>
              <a:rPr lang="en-US" sz="2000" dirty="0"/>
              <a:t>, </a:t>
            </a:r>
            <a:r>
              <a:rPr lang="en-US" sz="2000" dirty="0" err="1"/>
              <a:t>twoside</a:t>
            </a:r>
            <a:endParaRPr lang="en-US" sz="2000" dirty="0"/>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03468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 – The Preamble</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lnSpcReduction="10000"/>
          </a:bodyPr>
          <a:lstStyle/>
          <a:p>
            <a:r>
              <a:rPr lang="en-US" dirty="0"/>
              <a:t>\</a:t>
            </a:r>
            <a:r>
              <a:rPr lang="en-US" dirty="0" err="1"/>
              <a:t>pagenumbering</a:t>
            </a:r>
            <a:r>
              <a:rPr lang="en-US" dirty="0"/>
              <a:t>{}</a:t>
            </a:r>
          </a:p>
          <a:p>
            <a:pPr lvl="1"/>
            <a:r>
              <a:rPr lang="en-US" dirty="0" err="1"/>
              <a:t>arabic</a:t>
            </a:r>
            <a:endParaRPr lang="en-US" dirty="0"/>
          </a:p>
          <a:p>
            <a:pPr lvl="1"/>
            <a:r>
              <a:rPr lang="en-US" dirty="0"/>
              <a:t>roman</a:t>
            </a:r>
          </a:p>
          <a:p>
            <a:pPr lvl="1"/>
            <a:r>
              <a:rPr lang="en-US" dirty="0" err="1"/>
              <a:t>Alph</a:t>
            </a:r>
            <a:endParaRPr lang="en-US" dirty="0"/>
          </a:p>
          <a:p>
            <a:pPr lvl="1"/>
            <a:r>
              <a:rPr lang="en-US" dirty="0" err="1"/>
              <a:t>alph</a:t>
            </a:r>
            <a:endParaRPr lang="en-US" dirty="0"/>
          </a:p>
          <a:p>
            <a:pPr lvl="1"/>
            <a:r>
              <a:rPr lang="en-US" dirty="0"/>
              <a:t>gobble </a:t>
            </a:r>
            <a:r>
              <a:rPr lang="en-US" dirty="0">
                <a:solidFill>
                  <a:srgbClr val="00B0F0"/>
                </a:solidFill>
              </a:rPr>
              <a:t>(suppresses page numbers; incompatible with </a:t>
            </a:r>
            <a:r>
              <a:rPr lang="en-US" dirty="0" err="1">
                <a:solidFill>
                  <a:srgbClr val="00B0F0"/>
                </a:solidFill>
              </a:rPr>
              <a:t>hyperref</a:t>
            </a:r>
            <a:r>
              <a:rPr lang="en-US" dirty="0">
                <a:solidFill>
                  <a:srgbClr val="00B0F0"/>
                </a:solidFill>
              </a:rPr>
              <a:t>)</a:t>
            </a:r>
            <a:endParaRPr lang="en-US" dirty="0"/>
          </a:p>
          <a:p>
            <a:r>
              <a:rPr lang="en-US" dirty="0"/>
              <a:t>\</a:t>
            </a:r>
            <a:r>
              <a:rPr lang="en-US" dirty="0" err="1"/>
              <a:t>pagestyle</a:t>
            </a:r>
            <a:r>
              <a:rPr lang="en-US" dirty="0"/>
              <a:t>{}</a:t>
            </a:r>
          </a:p>
          <a:p>
            <a:pPr lvl="1"/>
            <a:r>
              <a:rPr lang="en-US" dirty="0"/>
              <a:t>plain</a:t>
            </a:r>
          </a:p>
          <a:p>
            <a:pPr lvl="1"/>
            <a:r>
              <a:rPr lang="en-US" dirty="0"/>
              <a:t>empty</a:t>
            </a:r>
          </a:p>
          <a:p>
            <a:pPr lvl="1"/>
            <a:r>
              <a:rPr lang="en-US" dirty="0"/>
              <a:t>headings</a:t>
            </a:r>
          </a:p>
          <a:p>
            <a:r>
              <a:rPr lang="en-US" dirty="0"/>
              <a:t>In document, use \</a:t>
            </a:r>
            <a:r>
              <a:rPr lang="en-US" dirty="0" err="1"/>
              <a:t>thispagestyle</a:t>
            </a:r>
            <a:r>
              <a:rPr lang="en-US" dirty="0"/>
              <a:t>{} to change style for current page</a:t>
            </a:r>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25200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 – The Preamble</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a:bodyPr>
          <a:lstStyle/>
          <a:p>
            <a:r>
              <a:rPr lang="en-US" dirty="0"/>
              <a:t>Optional attributes:</a:t>
            </a:r>
          </a:p>
          <a:p>
            <a:pPr lvl="1"/>
            <a:r>
              <a:rPr lang="en-US" dirty="0"/>
              <a:t>\title{}</a:t>
            </a:r>
          </a:p>
          <a:p>
            <a:pPr lvl="1"/>
            <a:r>
              <a:rPr lang="en-US" dirty="0"/>
              <a:t>\author{}</a:t>
            </a:r>
          </a:p>
          <a:p>
            <a:pPr lvl="1"/>
            <a:r>
              <a:rPr lang="en-US" dirty="0"/>
              <a:t>\thanks{}</a:t>
            </a:r>
          </a:p>
          <a:p>
            <a:pPr lvl="1"/>
            <a:r>
              <a:rPr lang="en-US" dirty="0"/>
              <a:t>\date{}</a:t>
            </a:r>
          </a:p>
          <a:p>
            <a:r>
              <a:rPr lang="en-US" dirty="0"/>
              <a:t>In document:</a:t>
            </a:r>
          </a:p>
          <a:p>
            <a:pPr lvl="1"/>
            <a:r>
              <a:rPr lang="en-US" dirty="0"/>
              <a:t>\</a:t>
            </a:r>
            <a:r>
              <a:rPr lang="en-US" dirty="0" err="1"/>
              <a:t>maketitle</a:t>
            </a:r>
            <a:r>
              <a:rPr lang="en-US" dirty="0"/>
              <a:t>{}</a:t>
            </a:r>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92140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 – The Preamble</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fontScale="70000" lnSpcReduction="20000"/>
          </a:bodyPr>
          <a:lstStyle/>
          <a:p>
            <a:r>
              <a:rPr lang="en-US" dirty="0"/>
              <a:t>\</a:t>
            </a:r>
            <a:r>
              <a:rPr lang="en-US" dirty="0" err="1"/>
              <a:t>usepackage</a:t>
            </a:r>
            <a:r>
              <a:rPr lang="en-US" dirty="0"/>
              <a:t>[options] {</a:t>
            </a:r>
            <a:r>
              <a:rPr lang="en-US" dirty="0" err="1">
                <a:solidFill>
                  <a:srgbClr val="00B0F0"/>
                </a:solidFill>
              </a:rPr>
              <a:t>packagename</a:t>
            </a:r>
            <a:r>
              <a:rPr lang="en-US" dirty="0"/>
              <a:t>}</a:t>
            </a:r>
          </a:p>
          <a:p>
            <a:pPr lvl="1"/>
            <a:r>
              <a:rPr lang="en-US" dirty="0"/>
              <a:t>geometry: control paper size, margins</a:t>
            </a:r>
          </a:p>
          <a:p>
            <a:pPr lvl="1"/>
            <a:r>
              <a:rPr lang="en-US" dirty="0" err="1"/>
              <a:t>fontspec</a:t>
            </a:r>
            <a:r>
              <a:rPr lang="en-US" dirty="0"/>
              <a:t>: use TrueType fonts</a:t>
            </a:r>
          </a:p>
          <a:p>
            <a:pPr lvl="1"/>
            <a:r>
              <a:rPr lang="en-US" dirty="0" err="1"/>
              <a:t>fancyhdr</a:t>
            </a:r>
            <a:r>
              <a:rPr lang="en-US" dirty="0"/>
              <a:t>: customize headers and footers</a:t>
            </a:r>
          </a:p>
          <a:p>
            <a:pPr lvl="1"/>
            <a:r>
              <a:rPr lang="en-US" dirty="0" err="1"/>
              <a:t>xcolor</a:t>
            </a:r>
            <a:r>
              <a:rPr lang="en-US" dirty="0"/>
              <a:t>: colors in document</a:t>
            </a:r>
          </a:p>
          <a:p>
            <a:pPr lvl="1"/>
            <a:r>
              <a:rPr lang="en-US" dirty="0" err="1"/>
              <a:t>hyperref</a:t>
            </a:r>
            <a:r>
              <a:rPr lang="en-US" dirty="0"/>
              <a:t>: hyperlinks in document</a:t>
            </a:r>
          </a:p>
          <a:p>
            <a:pPr lvl="1"/>
            <a:r>
              <a:rPr lang="en-US" dirty="0"/>
              <a:t>endnote: endnotes instead of footnotes</a:t>
            </a:r>
          </a:p>
          <a:p>
            <a:pPr lvl="1"/>
            <a:r>
              <a:rPr lang="en-US" dirty="0" err="1"/>
              <a:t>graphicx</a:t>
            </a:r>
            <a:r>
              <a:rPr lang="en-US" dirty="0"/>
              <a:t>: import images</a:t>
            </a:r>
          </a:p>
          <a:p>
            <a:pPr lvl="1"/>
            <a:r>
              <a:rPr lang="en-US" dirty="0" err="1"/>
              <a:t>pifont</a:t>
            </a:r>
            <a:r>
              <a:rPr lang="en-US" dirty="0"/>
              <a:t>, </a:t>
            </a:r>
            <a:r>
              <a:rPr lang="en-US" dirty="0" err="1"/>
              <a:t>marvosym</a:t>
            </a:r>
            <a:r>
              <a:rPr lang="en-US" dirty="0"/>
              <a:t>, </a:t>
            </a:r>
            <a:r>
              <a:rPr lang="en-US" dirty="0" err="1"/>
              <a:t>wasysym</a:t>
            </a:r>
            <a:r>
              <a:rPr lang="en-US" dirty="0"/>
              <a:t>, </a:t>
            </a:r>
            <a:r>
              <a:rPr lang="en-US" dirty="0" err="1"/>
              <a:t>tikzsymbols</a:t>
            </a:r>
            <a:r>
              <a:rPr lang="en-US" dirty="0"/>
              <a:t>, and </a:t>
            </a:r>
            <a:r>
              <a:rPr lang="en-US" dirty="0" err="1"/>
              <a:t>fontawesome</a:t>
            </a:r>
            <a:r>
              <a:rPr lang="en-US" dirty="0"/>
              <a:t>: special symbols</a:t>
            </a:r>
          </a:p>
          <a:p>
            <a:pPr lvl="1"/>
            <a:r>
              <a:rPr lang="en-US" dirty="0"/>
              <a:t>multirow, </a:t>
            </a:r>
            <a:r>
              <a:rPr lang="en-US" dirty="0" err="1"/>
              <a:t>multicol</a:t>
            </a:r>
            <a:r>
              <a:rPr lang="en-US" dirty="0"/>
              <a:t>, </a:t>
            </a:r>
            <a:r>
              <a:rPr lang="en-US" dirty="0" err="1"/>
              <a:t>longtable</a:t>
            </a:r>
            <a:r>
              <a:rPr lang="en-US" dirty="0"/>
              <a:t>, </a:t>
            </a:r>
            <a:r>
              <a:rPr lang="en-US" dirty="0" err="1"/>
              <a:t>booktabs</a:t>
            </a:r>
            <a:r>
              <a:rPr lang="en-US" dirty="0"/>
              <a:t>, </a:t>
            </a:r>
            <a:r>
              <a:rPr lang="en-US" dirty="0" err="1"/>
              <a:t>colortbl</a:t>
            </a:r>
            <a:r>
              <a:rPr lang="en-US" dirty="0"/>
              <a:t>: more control of tables</a:t>
            </a:r>
          </a:p>
          <a:p>
            <a:pPr lvl="1"/>
            <a:r>
              <a:rPr lang="en-US" dirty="0" err="1"/>
              <a:t>tcolorbox</a:t>
            </a:r>
            <a:r>
              <a:rPr lang="en-US" dirty="0"/>
              <a:t>, </a:t>
            </a:r>
            <a:r>
              <a:rPr lang="en-US" dirty="0" err="1"/>
              <a:t>fancybox</a:t>
            </a:r>
            <a:r>
              <a:rPr lang="en-US" dirty="0"/>
              <a:t>: fancy boxes </a:t>
            </a:r>
          </a:p>
          <a:p>
            <a:pPr lvl="1"/>
            <a:r>
              <a:rPr lang="en-US" dirty="0" err="1"/>
              <a:t>hyphenat</a:t>
            </a:r>
            <a:r>
              <a:rPr lang="en-US" dirty="0"/>
              <a:t>: control hyphenation</a:t>
            </a:r>
          </a:p>
          <a:p>
            <a:pPr lvl="1"/>
            <a:r>
              <a:rPr lang="en-US" dirty="0" err="1"/>
              <a:t>tikz</a:t>
            </a:r>
            <a:r>
              <a:rPr lang="en-US" dirty="0"/>
              <a:t>, </a:t>
            </a:r>
            <a:r>
              <a:rPr lang="en-US" dirty="0" err="1"/>
              <a:t>pgfplotstable</a:t>
            </a:r>
            <a:r>
              <a:rPr lang="en-US" dirty="0"/>
              <a:t>,  </a:t>
            </a:r>
            <a:r>
              <a:rPr lang="en-US" dirty="0" err="1"/>
              <a:t>pgf</a:t>
            </a:r>
            <a:r>
              <a:rPr lang="en-US" dirty="0"/>
              <a:t>-pie, </a:t>
            </a:r>
            <a:r>
              <a:rPr lang="en-US" dirty="0" err="1"/>
              <a:t>wheelchart</a:t>
            </a:r>
            <a:r>
              <a:rPr lang="en-US" dirty="0"/>
              <a:t>, sparklines: make charts and drawings</a:t>
            </a:r>
          </a:p>
          <a:p>
            <a:pPr lvl="1"/>
            <a:r>
              <a:rPr lang="en-US" dirty="0" err="1"/>
              <a:t>stackengine</a:t>
            </a:r>
            <a:r>
              <a:rPr lang="en-US" dirty="0"/>
              <a:t> : overlap images</a:t>
            </a:r>
          </a:p>
          <a:p>
            <a:pPr lvl="1"/>
            <a:r>
              <a:rPr lang="en-US" dirty="0"/>
              <a:t>hanging: hanging indents for paragraphs</a:t>
            </a:r>
          </a:p>
          <a:p>
            <a:pPr lvl="1"/>
            <a:r>
              <a:rPr lang="en-US" dirty="0" err="1"/>
              <a:t>adjustbox</a:t>
            </a:r>
            <a:r>
              <a:rPr lang="en-US" dirty="0"/>
              <a:t>: scaling of figure or plot</a:t>
            </a:r>
          </a:p>
          <a:p>
            <a:pPr lvl="1"/>
            <a:r>
              <a:rPr lang="en-US" dirty="0" err="1"/>
              <a:t>amsmath</a:t>
            </a:r>
            <a:r>
              <a:rPr lang="en-US" dirty="0"/>
              <a:t>, </a:t>
            </a:r>
            <a:r>
              <a:rPr lang="en-US" dirty="0" err="1"/>
              <a:t>amssymb</a:t>
            </a:r>
            <a:r>
              <a:rPr lang="en-US" dirty="0"/>
              <a:t>: formatting of mathematics</a:t>
            </a:r>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5422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 – The Preamble</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a:bodyPr>
          <a:lstStyle/>
          <a:p>
            <a:r>
              <a:rPr lang="en-US" dirty="0"/>
              <a:t>\</a:t>
            </a:r>
            <a:r>
              <a:rPr lang="en-US" dirty="0" err="1"/>
              <a:t>usepackage</a:t>
            </a:r>
            <a:r>
              <a:rPr lang="en-US" dirty="0"/>
              <a:t> {</a:t>
            </a:r>
            <a:r>
              <a:rPr lang="en-US" dirty="0" err="1">
                <a:solidFill>
                  <a:srgbClr val="00B0F0"/>
                </a:solidFill>
              </a:rPr>
              <a:t>fontawesome</a:t>
            </a:r>
            <a:r>
              <a:rPr lang="en-US" dirty="0"/>
              <a:t>}</a:t>
            </a:r>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0B91641-AA98-B96A-9DC7-BE064B1EF606}"/>
              </a:ext>
            </a:extLst>
          </p:cNvPr>
          <p:cNvPicPr>
            <a:picLocks noChangeAspect="1"/>
          </p:cNvPicPr>
          <p:nvPr/>
        </p:nvPicPr>
        <p:blipFill>
          <a:blip r:embed="rId4"/>
          <a:stretch>
            <a:fillRect/>
          </a:stretch>
        </p:blipFill>
        <p:spPr>
          <a:xfrm>
            <a:off x="6451326" y="1350071"/>
            <a:ext cx="5323408" cy="4999322"/>
          </a:xfrm>
          <a:prstGeom prst="rect">
            <a:avLst/>
          </a:prstGeom>
        </p:spPr>
      </p:pic>
    </p:spTree>
    <p:extLst>
      <p:ext uri="{BB962C8B-B14F-4D97-AF65-F5344CB8AC3E}">
        <p14:creationId xmlns:p14="http://schemas.microsoft.com/office/powerpoint/2010/main" val="28138009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 – The Preamble</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a:bodyPr>
          <a:lstStyle/>
          <a:p>
            <a:r>
              <a:rPr lang="en-US" dirty="0"/>
              <a:t>\</a:t>
            </a:r>
            <a:r>
              <a:rPr lang="en-US" dirty="0" err="1"/>
              <a:t>usepackage</a:t>
            </a:r>
            <a:r>
              <a:rPr lang="en-US" dirty="0"/>
              <a:t> {</a:t>
            </a:r>
            <a:r>
              <a:rPr lang="en-US" dirty="0" err="1">
                <a:solidFill>
                  <a:srgbClr val="00B0F0"/>
                </a:solidFill>
              </a:rPr>
              <a:t>tcolorbox</a:t>
            </a:r>
            <a:r>
              <a:rPr lang="en-US" dirty="0"/>
              <a:t>}</a:t>
            </a:r>
          </a:p>
          <a:p>
            <a:r>
              <a:rPr lang="en-US" dirty="0"/>
              <a:t>\</a:t>
            </a:r>
            <a:r>
              <a:rPr lang="en-US" dirty="0" err="1"/>
              <a:t>usepackage</a:t>
            </a:r>
            <a:r>
              <a:rPr lang="en-US" dirty="0"/>
              <a:t>{</a:t>
            </a:r>
            <a:r>
              <a:rPr lang="en-US" dirty="0" err="1">
                <a:solidFill>
                  <a:srgbClr val="00B0F0"/>
                </a:solidFill>
              </a:rPr>
              <a:t>graphicx</a:t>
            </a:r>
            <a:r>
              <a:rPr lang="en-US" dirty="0"/>
              <a:t>}</a:t>
            </a:r>
          </a:p>
          <a:p>
            <a:r>
              <a:rPr lang="en-US" dirty="0"/>
              <a:t>\</a:t>
            </a:r>
            <a:r>
              <a:rPr lang="en-US" dirty="0" err="1"/>
              <a:t>usepackage</a:t>
            </a:r>
            <a:r>
              <a:rPr lang="en-US" dirty="0"/>
              <a:t>{</a:t>
            </a:r>
            <a:r>
              <a:rPr lang="en-US" dirty="0">
                <a:solidFill>
                  <a:schemeClr val="accent5"/>
                </a:solidFill>
              </a:rPr>
              <a:t>endnote</a:t>
            </a:r>
            <a:r>
              <a:rPr lang="en-US" dirty="0"/>
              <a:t>}</a:t>
            </a:r>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E37AED2-438D-6654-6E91-E0DB31D64E55}"/>
              </a:ext>
            </a:extLst>
          </p:cNvPr>
          <p:cNvPicPr>
            <a:picLocks noChangeAspect="1"/>
          </p:cNvPicPr>
          <p:nvPr/>
        </p:nvPicPr>
        <p:blipFill>
          <a:blip r:embed="rId4"/>
          <a:stretch>
            <a:fillRect/>
          </a:stretch>
        </p:blipFill>
        <p:spPr>
          <a:xfrm>
            <a:off x="6651033" y="1309153"/>
            <a:ext cx="4981318" cy="5384282"/>
          </a:xfrm>
          <a:prstGeom prst="rect">
            <a:avLst/>
          </a:prstGeom>
        </p:spPr>
      </p:pic>
    </p:spTree>
    <p:extLst>
      <p:ext uri="{BB962C8B-B14F-4D97-AF65-F5344CB8AC3E}">
        <p14:creationId xmlns:p14="http://schemas.microsoft.com/office/powerpoint/2010/main" val="39672876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 – The Preamble</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a:bodyPr>
          <a:lstStyle/>
          <a:p>
            <a:pPr marL="0" indent="0">
              <a:buNone/>
            </a:pPr>
            <a:r>
              <a:rPr lang="en-US" dirty="0"/>
              <a:t>www.ctan.org</a:t>
            </a:r>
          </a:p>
          <a:p>
            <a:pPr marL="0" indent="0">
              <a:buNone/>
            </a:pPr>
            <a:endParaRPr lang="en-US" dirty="0"/>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34A6C0C-87E7-191E-1C7F-EC95BD1C6FCF}"/>
              </a:ext>
            </a:extLst>
          </p:cNvPr>
          <p:cNvPicPr>
            <a:picLocks noChangeAspect="1"/>
          </p:cNvPicPr>
          <p:nvPr/>
        </p:nvPicPr>
        <p:blipFill rotWithShape="1">
          <a:blip r:embed="rId4"/>
          <a:srcRect b="11208"/>
          <a:stretch/>
        </p:blipFill>
        <p:spPr>
          <a:xfrm>
            <a:off x="877870" y="2316480"/>
            <a:ext cx="5041334" cy="4411168"/>
          </a:xfrm>
          <a:prstGeom prst="rect">
            <a:avLst/>
          </a:prstGeom>
        </p:spPr>
      </p:pic>
      <p:pic>
        <p:nvPicPr>
          <p:cNvPr id="9" name="Picture 8">
            <a:extLst>
              <a:ext uri="{FF2B5EF4-FFF2-40B4-BE49-F238E27FC236}">
                <a16:creationId xmlns:a16="http://schemas.microsoft.com/office/drawing/2014/main" id="{47A4A270-A023-E946-1D39-805285208DB3}"/>
              </a:ext>
            </a:extLst>
          </p:cNvPr>
          <p:cNvPicPr>
            <a:picLocks noChangeAspect="1"/>
          </p:cNvPicPr>
          <p:nvPr/>
        </p:nvPicPr>
        <p:blipFill>
          <a:blip r:embed="rId5"/>
          <a:stretch>
            <a:fillRect/>
          </a:stretch>
        </p:blipFill>
        <p:spPr>
          <a:xfrm>
            <a:off x="6323765" y="2316480"/>
            <a:ext cx="5094681" cy="4411167"/>
          </a:xfrm>
          <a:prstGeom prst="rect">
            <a:avLst/>
          </a:prstGeom>
        </p:spPr>
      </p:pic>
    </p:spTree>
    <p:extLst>
      <p:ext uri="{BB962C8B-B14F-4D97-AF65-F5344CB8AC3E}">
        <p14:creationId xmlns:p14="http://schemas.microsoft.com/office/powerpoint/2010/main" val="36370405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a:xfrm>
            <a:off x="838201" y="1825625"/>
            <a:ext cx="5257800" cy="4351338"/>
          </a:xfrm>
        </p:spPr>
        <p:txBody>
          <a:bodyPr>
            <a:normAutofit/>
          </a:bodyPr>
          <a:lstStyle/>
          <a:p>
            <a:pPr marL="0" indent="0">
              <a:buNone/>
            </a:pPr>
            <a:r>
              <a:rPr lang="en-US" dirty="0"/>
              <a:t>https://tug.ctan.org/info/symbols/comprehensive/symbols-letter.pdf</a:t>
            </a:r>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7B73B0FD-EB43-2639-C3AB-42D9B1D95446}"/>
              </a:ext>
            </a:extLst>
          </p:cNvPr>
          <p:cNvPicPr>
            <a:picLocks noChangeAspect="1"/>
          </p:cNvPicPr>
          <p:nvPr/>
        </p:nvPicPr>
        <p:blipFill>
          <a:blip r:embed="rId4"/>
          <a:stretch>
            <a:fillRect/>
          </a:stretch>
        </p:blipFill>
        <p:spPr>
          <a:xfrm>
            <a:off x="6976632" y="640715"/>
            <a:ext cx="4529736" cy="5852160"/>
          </a:xfrm>
          <a:prstGeom prst="rect">
            <a:avLst/>
          </a:prstGeom>
        </p:spPr>
      </p:pic>
    </p:spTree>
    <p:extLst>
      <p:ext uri="{BB962C8B-B14F-4D97-AF65-F5344CB8AC3E}">
        <p14:creationId xmlns:p14="http://schemas.microsoft.com/office/powerpoint/2010/main" val="17785939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 – Structure</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a:xfrm>
            <a:off x="838200" y="1769862"/>
            <a:ext cx="10515600" cy="4351338"/>
          </a:xfrm>
        </p:spPr>
        <p:txBody>
          <a:bodyPr>
            <a:normAutofit/>
          </a:bodyPr>
          <a:lstStyle/>
          <a:p>
            <a:r>
              <a:rPr lang="en-US" dirty="0">
                <a:effectLst/>
              </a:rPr>
              <a:t>Sectioning</a:t>
            </a:r>
          </a:p>
          <a:p>
            <a:pPr lvl="1"/>
            <a:r>
              <a:rPr lang="en-US" dirty="0"/>
              <a:t>Starred version of command suppresses numbering</a:t>
            </a:r>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0662E82-0121-5398-6CB5-6D6B21D3AA68}"/>
              </a:ext>
            </a:extLst>
          </p:cNvPr>
          <p:cNvPicPr>
            <a:picLocks noChangeAspect="1"/>
          </p:cNvPicPr>
          <p:nvPr/>
        </p:nvPicPr>
        <p:blipFill>
          <a:blip r:embed="rId4"/>
          <a:stretch>
            <a:fillRect/>
          </a:stretch>
        </p:blipFill>
        <p:spPr>
          <a:xfrm>
            <a:off x="590595" y="2791838"/>
            <a:ext cx="11345858" cy="3200847"/>
          </a:xfrm>
          <a:prstGeom prst="rect">
            <a:avLst/>
          </a:prstGeom>
        </p:spPr>
      </p:pic>
    </p:spTree>
    <p:extLst>
      <p:ext uri="{BB962C8B-B14F-4D97-AF65-F5344CB8AC3E}">
        <p14:creationId xmlns:p14="http://schemas.microsoft.com/office/powerpoint/2010/main" val="12892075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 – Text size and style</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a:bodyPr>
          <a:lstStyle/>
          <a:p>
            <a:r>
              <a:rPr lang="en-US" dirty="0"/>
              <a:t>Text sizes are relative to base font size:</a:t>
            </a:r>
          </a:p>
          <a:p>
            <a:endParaRPr lang="en-US" dirty="0"/>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91C6682-A50D-2A45-258B-FFADF8BF2E77}"/>
              </a:ext>
            </a:extLst>
          </p:cNvPr>
          <p:cNvPicPr>
            <a:picLocks noChangeAspect="1"/>
          </p:cNvPicPr>
          <p:nvPr/>
        </p:nvPicPr>
        <p:blipFill rotWithShape="1">
          <a:blip r:embed="rId4"/>
          <a:srcRect t="2191"/>
          <a:stretch/>
        </p:blipFill>
        <p:spPr>
          <a:xfrm>
            <a:off x="2265845" y="2349082"/>
            <a:ext cx="7506748" cy="4351338"/>
          </a:xfrm>
          <a:prstGeom prst="rect">
            <a:avLst/>
          </a:prstGeom>
        </p:spPr>
      </p:pic>
    </p:spTree>
    <p:extLst>
      <p:ext uri="{BB962C8B-B14F-4D97-AF65-F5344CB8AC3E}">
        <p14:creationId xmlns:p14="http://schemas.microsoft.com/office/powerpoint/2010/main" val="38086439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 Text size and style</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a:bodyPr>
          <a:lstStyle/>
          <a:p>
            <a:r>
              <a:rPr lang="en-US" dirty="0"/>
              <a:t>Text styles can be implemented as a command or a declaration:</a:t>
            </a:r>
          </a:p>
          <a:p>
            <a:endParaRPr lang="en-US" dirty="0"/>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507077FB-A21A-BF07-4046-47749BDD2D48}"/>
              </a:ext>
            </a:extLst>
          </p:cNvPr>
          <p:cNvPicPr>
            <a:picLocks noChangeAspect="1"/>
          </p:cNvPicPr>
          <p:nvPr/>
        </p:nvPicPr>
        <p:blipFill>
          <a:blip r:embed="rId4"/>
          <a:stretch>
            <a:fillRect/>
          </a:stretch>
        </p:blipFill>
        <p:spPr>
          <a:xfrm>
            <a:off x="1500344" y="2302115"/>
            <a:ext cx="8785657" cy="4348293"/>
          </a:xfrm>
          <a:prstGeom prst="rect">
            <a:avLst/>
          </a:prstGeom>
        </p:spPr>
      </p:pic>
    </p:spTree>
    <p:extLst>
      <p:ext uri="{BB962C8B-B14F-4D97-AF65-F5344CB8AC3E}">
        <p14:creationId xmlns:p14="http://schemas.microsoft.com/office/powerpoint/2010/main" val="32740844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 Environments</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fontScale="70000" lnSpcReduction="20000"/>
          </a:bodyPr>
          <a:lstStyle/>
          <a:p>
            <a:r>
              <a:rPr lang="en-US" dirty="0"/>
              <a:t>\begin{</a:t>
            </a:r>
            <a:r>
              <a:rPr lang="en-US" dirty="0">
                <a:solidFill>
                  <a:srgbClr val="00B0F0"/>
                </a:solidFill>
              </a:rPr>
              <a:t>environment name</a:t>
            </a:r>
            <a:r>
              <a:rPr lang="en-US" dirty="0"/>
              <a:t>}</a:t>
            </a:r>
          </a:p>
          <a:p>
            <a:r>
              <a:rPr lang="en-US" dirty="0"/>
              <a:t>\end{</a:t>
            </a:r>
            <a:r>
              <a:rPr lang="en-US" dirty="0">
                <a:solidFill>
                  <a:srgbClr val="00B0F0"/>
                </a:solidFill>
              </a:rPr>
              <a:t>environment name</a:t>
            </a:r>
            <a:r>
              <a:rPr lang="en-US" dirty="0"/>
              <a:t>}</a:t>
            </a:r>
          </a:p>
          <a:p>
            <a:pPr lvl="1"/>
            <a:r>
              <a:rPr lang="en-US" dirty="0"/>
              <a:t>tabular: tables</a:t>
            </a:r>
          </a:p>
          <a:p>
            <a:pPr lvl="1"/>
            <a:r>
              <a:rPr lang="en-US" dirty="0"/>
              <a:t>enumerate: numbered list</a:t>
            </a:r>
          </a:p>
          <a:p>
            <a:pPr lvl="1"/>
            <a:r>
              <a:rPr lang="en-US" dirty="0"/>
              <a:t>itemize: bulletized list</a:t>
            </a:r>
          </a:p>
          <a:p>
            <a:pPr lvl="1"/>
            <a:r>
              <a:rPr lang="en-US" dirty="0"/>
              <a:t>description: list of labeled items </a:t>
            </a:r>
          </a:p>
          <a:p>
            <a:pPr lvl="1"/>
            <a:r>
              <a:rPr lang="en-US" dirty="0" err="1"/>
              <a:t>flushleft</a:t>
            </a:r>
            <a:r>
              <a:rPr lang="en-US" dirty="0"/>
              <a:t>, </a:t>
            </a:r>
            <a:r>
              <a:rPr lang="en-US" dirty="0" err="1"/>
              <a:t>flushright</a:t>
            </a:r>
            <a:r>
              <a:rPr lang="en-US" dirty="0"/>
              <a:t>, center: justification</a:t>
            </a:r>
          </a:p>
          <a:p>
            <a:pPr lvl="1"/>
            <a:r>
              <a:rPr lang="en-US" dirty="0"/>
              <a:t>quotation, quote: quotations</a:t>
            </a:r>
          </a:p>
          <a:p>
            <a:pPr lvl="1"/>
            <a:r>
              <a:rPr lang="en-US" dirty="0"/>
              <a:t>verse: poetry</a:t>
            </a:r>
          </a:p>
          <a:p>
            <a:pPr lvl="1"/>
            <a:r>
              <a:rPr lang="en-US" dirty="0"/>
              <a:t>abstract: article abstract</a:t>
            </a:r>
          </a:p>
          <a:p>
            <a:pPr lvl="1"/>
            <a:r>
              <a:rPr lang="en-US" dirty="0"/>
              <a:t>equation: number equation</a:t>
            </a:r>
          </a:p>
          <a:p>
            <a:pPr lvl="1"/>
            <a:r>
              <a:rPr lang="en-US" dirty="0"/>
              <a:t>figure: number, caption figures </a:t>
            </a:r>
          </a:p>
          <a:p>
            <a:pPr lvl="1"/>
            <a:r>
              <a:rPr lang="en-US" dirty="0"/>
              <a:t>letter: creating letters</a:t>
            </a:r>
          </a:p>
          <a:p>
            <a:pPr lvl="1"/>
            <a:r>
              <a:rPr lang="en-US" dirty="0" err="1"/>
              <a:t>minipage</a:t>
            </a:r>
            <a:r>
              <a:rPr lang="en-US" dirty="0"/>
              <a:t>: invisible box around objects</a:t>
            </a:r>
          </a:p>
          <a:p>
            <a:pPr lvl="1"/>
            <a:r>
              <a:rPr lang="en-US" dirty="0"/>
              <a:t>picture: simple drawings</a:t>
            </a:r>
          </a:p>
          <a:p>
            <a:pPr lvl="1"/>
            <a:r>
              <a:rPr lang="en-US" dirty="0"/>
              <a:t>verbatim, verb: verbatim text</a:t>
            </a:r>
          </a:p>
          <a:p>
            <a:pPr lvl="1"/>
            <a:r>
              <a:rPr lang="en-US" dirty="0"/>
              <a:t>footnote, endnote: footnotes and endnotes</a:t>
            </a:r>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50665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A3B7-378F-8409-0FDB-86800257661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4769C0A-7844-8895-FEFD-1D54E3C3268D}"/>
              </a:ext>
            </a:extLst>
          </p:cNvPr>
          <p:cNvSpPr>
            <a:spLocks noGrp="1"/>
          </p:cNvSpPr>
          <p:nvPr>
            <p:ph idx="1"/>
          </p:nvPr>
        </p:nvSpPr>
        <p:spPr/>
        <p:txBody>
          <a:bodyPr/>
          <a:lstStyle/>
          <a:p>
            <a:endParaRPr lang="en-US" dirty="0"/>
          </a:p>
        </p:txBody>
      </p:sp>
      <p:pic>
        <p:nvPicPr>
          <p:cNvPr id="7" name="Picture 6">
            <a:extLst>
              <a:ext uri="{FF2B5EF4-FFF2-40B4-BE49-F238E27FC236}">
                <a16:creationId xmlns:a16="http://schemas.microsoft.com/office/drawing/2014/main" id="{4CBDC6B4-B05E-4865-C653-67135D6C4196}"/>
              </a:ext>
            </a:extLst>
          </p:cNvPr>
          <p:cNvPicPr>
            <a:picLocks noChangeAspect="1"/>
          </p:cNvPicPr>
          <p:nvPr/>
        </p:nvPicPr>
        <p:blipFill>
          <a:blip r:embed="rId3"/>
          <a:stretch>
            <a:fillRect/>
          </a:stretch>
        </p:blipFill>
        <p:spPr>
          <a:xfrm>
            <a:off x="0" y="45863"/>
            <a:ext cx="12192000" cy="6766274"/>
          </a:xfrm>
          <a:prstGeom prst="rect">
            <a:avLst/>
          </a:prstGeom>
        </p:spPr>
      </p:pic>
      <p:cxnSp>
        <p:nvCxnSpPr>
          <p:cNvPr id="4" name="Straight Arrow Connector 3">
            <a:extLst>
              <a:ext uri="{FF2B5EF4-FFF2-40B4-BE49-F238E27FC236}">
                <a16:creationId xmlns:a16="http://schemas.microsoft.com/office/drawing/2014/main" id="{5354309C-6204-5CCB-387C-EB568912B2B1}"/>
              </a:ext>
            </a:extLst>
          </p:cNvPr>
          <p:cNvCxnSpPr>
            <a:cxnSpLocks/>
          </p:cNvCxnSpPr>
          <p:nvPr/>
        </p:nvCxnSpPr>
        <p:spPr>
          <a:xfrm flipH="1">
            <a:off x="2087627" y="2841441"/>
            <a:ext cx="4199818" cy="68951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D719551-E98C-C732-4CBA-C5A66827F70B}"/>
              </a:ext>
            </a:extLst>
          </p:cNvPr>
          <p:cNvCxnSpPr>
            <a:cxnSpLocks/>
          </p:cNvCxnSpPr>
          <p:nvPr/>
        </p:nvCxnSpPr>
        <p:spPr>
          <a:xfrm flipH="1">
            <a:off x="4748959" y="3258337"/>
            <a:ext cx="4199818" cy="68951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78C0857-DF52-F731-0691-74B0E41437BA}"/>
              </a:ext>
            </a:extLst>
          </p:cNvPr>
          <p:cNvSpPr txBox="1"/>
          <p:nvPr/>
        </p:nvSpPr>
        <p:spPr>
          <a:xfrm>
            <a:off x="6232289" y="2636871"/>
            <a:ext cx="616579" cy="369332"/>
          </a:xfrm>
          <a:prstGeom prst="rect">
            <a:avLst/>
          </a:prstGeom>
          <a:noFill/>
        </p:spPr>
        <p:txBody>
          <a:bodyPr wrap="none" rtlCol="0">
            <a:spAutoFit/>
          </a:bodyPr>
          <a:lstStyle/>
          <a:p>
            <a:r>
              <a:rPr lang="en-US" dirty="0"/>
              <a:t>Item</a:t>
            </a:r>
          </a:p>
        </p:txBody>
      </p:sp>
      <p:sp>
        <p:nvSpPr>
          <p:cNvPr id="10" name="TextBox 9">
            <a:extLst>
              <a:ext uri="{FF2B5EF4-FFF2-40B4-BE49-F238E27FC236}">
                <a16:creationId xmlns:a16="http://schemas.microsoft.com/office/drawing/2014/main" id="{95115F85-2BC6-B0FC-9B4B-91FDE0894CED}"/>
              </a:ext>
            </a:extLst>
          </p:cNvPr>
          <p:cNvSpPr txBox="1"/>
          <p:nvPr/>
        </p:nvSpPr>
        <p:spPr>
          <a:xfrm>
            <a:off x="8893636" y="3073671"/>
            <a:ext cx="1257652" cy="369332"/>
          </a:xfrm>
          <a:prstGeom prst="rect">
            <a:avLst/>
          </a:prstGeom>
          <a:noFill/>
        </p:spPr>
        <p:txBody>
          <a:bodyPr wrap="none" rtlCol="0">
            <a:spAutoFit/>
          </a:bodyPr>
          <a:lstStyle/>
          <a:p>
            <a:r>
              <a:rPr lang="en-US" dirty="0"/>
              <a:t>Description</a:t>
            </a:r>
          </a:p>
        </p:txBody>
      </p:sp>
    </p:spTree>
    <p:extLst>
      <p:ext uri="{BB962C8B-B14F-4D97-AF65-F5344CB8AC3E}">
        <p14:creationId xmlns:p14="http://schemas.microsoft.com/office/powerpoint/2010/main" val="34408896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A3B7-378F-8409-0FDB-86800257661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4769C0A-7844-8895-FEFD-1D54E3C3268D}"/>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40974FC9-CC4D-9F88-F326-481BD819A3C5}"/>
              </a:ext>
            </a:extLst>
          </p:cNvPr>
          <p:cNvPicPr>
            <a:picLocks noChangeAspect="1"/>
          </p:cNvPicPr>
          <p:nvPr/>
        </p:nvPicPr>
        <p:blipFill>
          <a:blip r:embed="rId3"/>
          <a:stretch>
            <a:fillRect/>
          </a:stretch>
        </p:blipFill>
        <p:spPr>
          <a:xfrm>
            <a:off x="0" y="226508"/>
            <a:ext cx="12192000" cy="6404984"/>
          </a:xfrm>
          <a:prstGeom prst="rect">
            <a:avLst/>
          </a:prstGeom>
        </p:spPr>
      </p:pic>
    </p:spTree>
    <p:extLst>
      <p:ext uri="{BB962C8B-B14F-4D97-AF65-F5344CB8AC3E}">
        <p14:creationId xmlns:p14="http://schemas.microsoft.com/office/powerpoint/2010/main" val="324322450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7652-BAA0-F4E5-151C-8B68A48530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38D1A22-967C-48B3-9E9B-09B147C6486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D61F243-A6BB-1D1A-D26E-378C998B3313}"/>
              </a:ext>
            </a:extLst>
          </p:cNvPr>
          <p:cNvPicPr>
            <a:picLocks noChangeAspect="1"/>
          </p:cNvPicPr>
          <p:nvPr/>
        </p:nvPicPr>
        <p:blipFill>
          <a:blip r:embed="rId3"/>
          <a:stretch>
            <a:fillRect/>
          </a:stretch>
        </p:blipFill>
        <p:spPr>
          <a:xfrm>
            <a:off x="0" y="135065"/>
            <a:ext cx="12192000" cy="6587869"/>
          </a:xfrm>
          <a:prstGeom prst="rect">
            <a:avLst/>
          </a:prstGeom>
        </p:spPr>
      </p:pic>
    </p:spTree>
    <p:extLst>
      <p:ext uri="{BB962C8B-B14F-4D97-AF65-F5344CB8AC3E}">
        <p14:creationId xmlns:p14="http://schemas.microsoft.com/office/powerpoint/2010/main" val="28854775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E94A906-B316-E155-DA7C-AD695D046A14}"/>
              </a:ext>
            </a:extLst>
          </p:cNvPr>
          <p:cNvPicPr>
            <a:picLocks noChangeAspect="1"/>
          </p:cNvPicPr>
          <p:nvPr/>
        </p:nvPicPr>
        <p:blipFill>
          <a:blip r:embed="rId3"/>
          <a:stretch>
            <a:fillRect/>
          </a:stretch>
        </p:blipFill>
        <p:spPr>
          <a:xfrm>
            <a:off x="1059905" y="0"/>
            <a:ext cx="10072190" cy="6858000"/>
          </a:xfrm>
          <a:prstGeom prst="rect">
            <a:avLst/>
          </a:prstGeom>
        </p:spPr>
      </p:pic>
    </p:spTree>
    <p:extLst>
      <p:ext uri="{BB962C8B-B14F-4D97-AF65-F5344CB8AC3E}">
        <p14:creationId xmlns:p14="http://schemas.microsoft.com/office/powerpoint/2010/main" val="28555047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8D1A22-967C-48B3-9E9B-09B147C6486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6171846-B46C-AA8A-FB57-F7E5550EBB7F}"/>
              </a:ext>
            </a:extLst>
          </p:cNvPr>
          <p:cNvPicPr>
            <a:picLocks noChangeAspect="1"/>
          </p:cNvPicPr>
          <p:nvPr/>
        </p:nvPicPr>
        <p:blipFill>
          <a:blip r:embed="rId3"/>
          <a:stretch>
            <a:fillRect/>
          </a:stretch>
        </p:blipFill>
        <p:spPr>
          <a:xfrm>
            <a:off x="0" y="451069"/>
            <a:ext cx="12192000" cy="5955862"/>
          </a:xfrm>
          <a:prstGeom prst="rect">
            <a:avLst/>
          </a:prstGeom>
        </p:spPr>
      </p:pic>
    </p:spTree>
    <p:extLst>
      <p:ext uri="{BB962C8B-B14F-4D97-AF65-F5344CB8AC3E}">
        <p14:creationId xmlns:p14="http://schemas.microsoft.com/office/powerpoint/2010/main" val="20157272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91D65C-757F-3800-7A25-4FA6BB3AA14C}"/>
              </a:ext>
            </a:extLst>
          </p:cNvPr>
          <p:cNvPicPr>
            <a:picLocks noChangeAspect="1"/>
          </p:cNvPicPr>
          <p:nvPr/>
        </p:nvPicPr>
        <p:blipFill>
          <a:blip r:embed="rId3"/>
          <a:stretch>
            <a:fillRect/>
          </a:stretch>
        </p:blipFill>
        <p:spPr>
          <a:xfrm>
            <a:off x="1272708" y="0"/>
            <a:ext cx="9646584" cy="6858000"/>
          </a:xfrm>
          <a:prstGeom prst="rect">
            <a:avLst/>
          </a:prstGeom>
        </p:spPr>
      </p:pic>
    </p:spTree>
    <p:extLst>
      <p:ext uri="{BB962C8B-B14F-4D97-AF65-F5344CB8AC3E}">
        <p14:creationId xmlns:p14="http://schemas.microsoft.com/office/powerpoint/2010/main" val="250619644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E0B4E1-20D2-84D5-FA4D-D2DD12753A18}"/>
              </a:ext>
            </a:extLst>
          </p:cNvPr>
          <p:cNvPicPr>
            <a:picLocks noChangeAspect="1"/>
          </p:cNvPicPr>
          <p:nvPr/>
        </p:nvPicPr>
        <p:blipFill>
          <a:blip r:embed="rId3"/>
          <a:stretch>
            <a:fillRect/>
          </a:stretch>
        </p:blipFill>
        <p:spPr>
          <a:xfrm>
            <a:off x="1485499" y="0"/>
            <a:ext cx="9221002" cy="6858000"/>
          </a:xfrm>
          <a:prstGeom prst="rect">
            <a:avLst/>
          </a:prstGeom>
        </p:spPr>
      </p:pic>
    </p:spTree>
    <p:extLst>
      <p:ext uri="{BB962C8B-B14F-4D97-AF65-F5344CB8AC3E}">
        <p14:creationId xmlns:p14="http://schemas.microsoft.com/office/powerpoint/2010/main" val="1220223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BBEEF1-EB52-107D-C8A3-95E5A5F01BBE}"/>
              </a:ext>
            </a:extLst>
          </p:cNvPr>
          <p:cNvPicPr>
            <a:picLocks noChangeAspect="1"/>
          </p:cNvPicPr>
          <p:nvPr/>
        </p:nvPicPr>
        <p:blipFill>
          <a:blip r:embed="rId3"/>
          <a:stretch>
            <a:fillRect/>
          </a:stretch>
        </p:blipFill>
        <p:spPr>
          <a:xfrm>
            <a:off x="2487915" y="0"/>
            <a:ext cx="7216170" cy="6858000"/>
          </a:xfrm>
          <a:prstGeom prst="rect">
            <a:avLst/>
          </a:prstGeom>
        </p:spPr>
      </p:pic>
    </p:spTree>
    <p:extLst>
      <p:ext uri="{BB962C8B-B14F-4D97-AF65-F5344CB8AC3E}">
        <p14:creationId xmlns:p14="http://schemas.microsoft.com/office/powerpoint/2010/main" val="394510569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 Lengths</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a:bodyPr>
          <a:lstStyle/>
          <a:p>
            <a:r>
              <a:rPr lang="en-US" dirty="0"/>
              <a:t>\</a:t>
            </a:r>
            <a:r>
              <a:rPr lang="en-US" dirty="0" err="1"/>
              <a:t>setlength</a:t>
            </a:r>
            <a:r>
              <a:rPr lang="en-US" dirty="0"/>
              <a:t>{</a:t>
            </a:r>
            <a:r>
              <a:rPr lang="en-US" dirty="0">
                <a:solidFill>
                  <a:srgbClr val="00B0F0"/>
                </a:solidFill>
              </a:rPr>
              <a:t>\</a:t>
            </a:r>
            <a:r>
              <a:rPr lang="en-US" dirty="0" err="1">
                <a:solidFill>
                  <a:srgbClr val="00B0F0"/>
                </a:solidFill>
              </a:rPr>
              <a:t>thing_getting_set</a:t>
            </a:r>
            <a:r>
              <a:rPr lang="en-US" dirty="0"/>
              <a:t>}{amount}</a:t>
            </a:r>
          </a:p>
          <a:p>
            <a:pPr marL="457200" lvl="1" indent="0">
              <a:buNone/>
            </a:pPr>
            <a:endParaRPr lang="en-US" dirty="0"/>
          </a:p>
          <a:p>
            <a:pPr lvl="1"/>
            <a:r>
              <a:rPr lang="en-US" dirty="0"/>
              <a:t>\</a:t>
            </a:r>
            <a:r>
              <a:rPr lang="en-US" dirty="0" err="1"/>
              <a:t>parindent</a:t>
            </a:r>
            <a:r>
              <a:rPr lang="en-US" dirty="0"/>
              <a:t>: amount each paragraph is indented</a:t>
            </a:r>
          </a:p>
          <a:p>
            <a:pPr lvl="1"/>
            <a:r>
              <a:rPr lang="en-US" dirty="0"/>
              <a:t>\</a:t>
            </a:r>
            <a:r>
              <a:rPr lang="en-US" dirty="0" err="1"/>
              <a:t>baselineskip</a:t>
            </a:r>
            <a:r>
              <a:rPr lang="en-US" dirty="0"/>
              <a:t>: spacing between lines in paragraph</a:t>
            </a:r>
          </a:p>
          <a:p>
            <a:pPr lvl="1"/>
            <a:r>
              <a:rPr lang="en-US" dirty="0"/>
              <a:t>\</a:t>
            </a:r>
            <a:r>
              <a:rPr lang="en-US" dirty="0" err="1"/>
              <a:t>parskip</a:t>
            </a:r>
            <a:r>
              <a:rPr lang="en-US" dirty="0"/>
              <a:t>: spacing between paragraphs </a:t>
            </a:r>
          </a:p>
          <a:p>
            <a:pPr lvl="1"/>
            <a:r>
              <a:rPr lang="en-US" dirty="0"/>
              <a:t>\</a:t>
            </a:r>
            <a:r>
              <a:rPr lang="en-US" dirty="0" err="1"/>
              <a:t>arraystretch</a:t>
            </a:r>
            <a:r>
              <a:rPr lang="en-US" dirty="0"/>
              <a:t>: buffer between table rows</a:t>
            </a:r>
          </a:p>
          <a:p>
            <a:pPr lvl="1"/>
            <a:r>
              <a:rPr lang="en-US" dirty="0"/>
              <a:t>\</a:t>
            </a:r>
            <a:r>
              <a:rPr lang="en-US" dirty="0" err="1"/>
              <a:t>tabcolsep</a:t>
            </a:r>
            <a:r>
              <a:rPr lang="en-US" dirty="0"/>
              <a:t>: buffer between table columns</a:t>
            </a:r>
          </a:p>
          <a:p>
            <a:pPr lvl="1"/>
            <a:r>
              <a:rPr lang="en-US" dirty="0"/>
              <a:t>\</a:t>
            </a:r>
            <a:r>
              <a:rPr lang="en-US" dirty="0" err="1"/>
              <a:t>columnsep</a:t>
            </a:r>
            <a:r>
              <a:rPr lang="en-US" dirty="0"/>
              <a:t>: buffer between columns of text (</a:t>
            </a:r>
            <a:r>
              <a:rPr lang="en-US" dirty="0" err="1"/>
              <a:t>multicol</a:t>
            </a:r>
            <a:r>
              <a:rPr lang="en-US" dirty="0"/>
              <a:t> doc)</a:t>
            </a:r>
          </a:p>
          <a:p>
            <a:pPr lvl="1"/>
            <a:r>
              <a:rPr lang="en-US" dirty="0"/>
              <a:t>\</a:t>
            </a:r>
            <a:r>
              <a:rPr lang="en-US" dirty="0" err="1"/>
              <a:t>columnseprule</a:t>
            </a:r>
            <a:r>
              <a:rPr lang="en-US" dirty="0"/>
              <a:t>: width rule between columns of text</a:t>
            </a:r>
          </a:p>
          <a:p>
            <a:pPr lvl="1"/>
            <a:endParaRPr lang="en-US" dirty="0"/>
          </a:p>
          <a:p>
            <a:pPr lvl="1"/>
            <a:endParaRPr lang="en-US" dirty="0"/>
          </a:p>
          <a:p>
            <a:pPr lvl="1"/>
            <a:endParaRPr lang="en-US" dirty="0"/>
          </a:p>
          <a:p>
            <a:pPr lvl="1"/>
            <a:endParaRPr lang="en-US" dirty="0"/>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30193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 Lengths</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a:bodyPr>
          <a:lstStyle/>
          <a:p>
            <a:r>
              <a:rPr lang="en-US" dirty="0"/>
              <a:t>\</a:t>
            </a:r>
            <a:r>
              <a:rPr lang="en-US" dirty="0" err="1"/>
              <a:t>setlength</a:t>
            </a:r>
            <a:r>
              <a:rPr lang="en-US" dirty="0"/>
              <a:t>{\</a:t>
            </a:r>
            <a:r>
              <a:rPr lang="en-US" dirty="0" err="1"/>
              <a:t>thing_getting_set</a:t>
            </a:r>
            <a:r>
              <a:rPr lang="en-US" dirty="0"/>
              <a:t>}{</a:t>
            </a:r>
            <a:r>
              <a:rPr lang="en-US" dirty="0">
                <a:solidFill>
                  <a:srgbClr val="00B0F0"/>
                </a:solidFill>
              </a:rPr>
              <a:t>amount</a:t>
            </a:r>
            <a:r>
              <a:rPr lang="en-US" dirty="0"/>
              <a:t>}</a:t>
            </a:r>
          </a:p>
          <a:p>
            <a:pPr marL="457200" lvl="1" indent="0">
              <a:buNone/>
            </a:pPr>
            <a:endParaRPr lang="en-US" dirty="0"/>
          </a:p>
          <a:p>
            <a:pPr marL="457200" lvl="1" indent="0">
              <a:buNone/>
            </a:pPr>
            <a:endParaRPr lang="en-US" dirty="0"/>
          </a:p>
          <a:p>
            <a:pPr lvl="1"/>
            <a:endParaRPr lang="en-US" dirty="0"/>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560A8DE7-526B-FA66-624B-CF54255DEE67}"/>
              </a:ext>
            </a:extLst>
          </p:cNvPr>
          <p:cNvGraphicFramePr>
            <a:graphicFrameLocks noGrp="1"/>
          </p:cNvGraphicFramePr>
          <p:nvPr/>
        </p:nvGraphicFramePr>
        <p:xfrm>
          <a:off x="1424727" y="2515235"/>
          <a:ext cx="8836097" cy="3337560"/>
        </p:xfrm>
        <a:graphic>
          <a:graphicData uri="http://schemas.openxmlformats.org/drawingml/2006/table">
            <a:tbl>
              <a:tblPr firstRow="1" bandRow="1">
                <a:tableStyleId>{5C22544A-7EE6-4342-B048-85BDC9FD1C3A}</a:tableStyleId>
              </a:tblPr>
              <a:tblGrid>
                <a:gridCol w="727628">
                  <a:extLst>
                    <a:ext uri="{9D8B030D-6E8A-4147-A177-3AD203B41FA5}">
                      <a16:colId xmlns:a16="http://schemas.microsoft.com/office/drawing/2014/main" val="337222035"/>
                    </a:ext>
                  </a:extLst>
                </a:gridCol>
                <a:gridCol w="1881887">
                  <a:extLst>
                    <a:ext uri="{9D8B030D-6E8A-4147-A177-3AD203B41FA5}">
                      <a16:colId xmlns:a16="http://schemas.microsoft.com/office/drawing/2014/main" val="2962175070"/>
                    </a:ext>
                  </a:extLst>
                </a:gridCol>
                <a:gridCol w="6226582">
                  <a:extLst>
                    <a:ext uri="{9D8B030D-6E8A-4147-A177-3AD203B41FA5}">
                      <a16:colId xmlns:a16="http://schemas.microsoft.com/office/drawing/2014/main" val="4121167214"/>
                    </a:ext>
                  </a:extLst>
                </a:gridCol>
              </a:tblGrid>
              <a:tr h="370840">
                <a:tc>
                  <a:txBody>
                    <a:bodyPr/>
                    <a:lstStyle/>
                    <a:p>
                      <a:r>
                        <a:rPr lang="en-US" dirty="0"/>
                        <a:t>Unit</a:t>
                      </a:r>
                    </a:p>
                  </a:txBody>
                  <a:tcPr/>
                </a:tc>
                <a:tc>
                  <a:txBody>
                    <a:bodyPr/>
                    <a:lstStyle/>
                    <a:p>
                      <a:r>
                        <a:rPr lang="en-US" dirty="0"/>
                        <a:t>Name</a:t>
                      </a:r>
                    </a:p>
                  </a:txBody>
                  <a:tcPr/>
                </a:tc>
                <a:tc>
                  <a:txBody>
                    <a:bodyPr/>
                    <a:lstStyle/>
                    <a:p>
                      <a:r>
                        <a:rPr lang="en-US" dirty="0"/>
                        <a:t>Description</a:t>
                      </a:r>
                    </a:p>
                  </a:txBody>
                  <a:tcPr/>
                </a:tc>
                <a:extLst>
                  <a:ext uri="{0D108BD9-81ED-4DB2-BD59-A6C34878D82A}">
                    <a16:rowId xmlns:a16="http://schemas.microsoft.com/office/drawing/2014/main" val="2245604177"/>
                  </a:ext>
                </a:extLst>
              </a:tr>
              <a:tr h="370840">
                <a:tc>
                  <a:txBody>
                    <a:bodyPr/>
                    <a:lstStyle/>
                    <a:p>
                      <a:r>
                        <a:rPr lang="en-US" dirty="0"/>
                        <a:t>pt</a:t>
                      </a:r>
                    </a:p>
                  </a:txBody>
                  <a:tcPr/>
                </a:tc>
                <a:tc>
                  <a:txBody>
                    <a:bodyPr/>
                    <a:lstStyle/>
                    <a:p>
                      <a:r>
                        <a:rPr lang="en-US" dirty="0"/>
                        <a:t>Point</a:t>
                      </a:r>
                    </a:p>
                  </a:txBody>
                  <a:tcPr/>
                </a:tc>
                <a:tc>
                  <a:txBody>
                    <a:bodyPr/>
                    <a:lstStyle/>
                    <a:p>
                      <a:r>
                        <a:rPr lang="en-US" dirty="0"/>
                        <a:t>1/72.27”</a:t>
                      </a:r>
                    </a:p>
                  </a:txBody>
                  <a:tcPr/>
                </a:tc>
                <a:extLst>
                  <a:ext uri="{0D108BD9-81ED-4DB2-BD59-A6C34878D82A}">
                    <a16:rowId xmlns:a16="http://schemas.microsoft.com/office/drawing/2014/main" val="2153360731"/>
                  </a:ext>
                </a:extLst>
              </a:tr>
              <a:tr h="370840">
                <a:tc>
                  <a:txBody>
                    <a:bodyPr/>
                    <a:lstStyle/>
                    <a:p>
                      <a:r>
                        <a:rPr lang="en-US" dirty="0"/>
                        <a:t>pc</a:t>
                      </a:r>
                    </a:p>
                  </a:txBody>
                  <a:tcPr/>
                </a:tc>
                <a:tc>
                  <a:txBody>
                    <a:bodyPr/>
                    <a:lstStyle/>
                    <a:p>
                      <a:r>
                        <a:rPr lang="en-US" dirty="0"/>
                        <a:t>Pica</a:t>
                      </a:r>
                    </a:p>
                  </a:txBody>
                  <a:tcPr/>
                </a:tc>
                <a:tc>
                  <a:txBody>
                    <a:bodyPr/>
                    <a:lstStyle/>
                    <a:p>
                      <a:r>
                        <a:rPr lang="en-US" dirty="0"/>
                        <a:t>12 pt</a:t>
                      </a:r>
                    </a:p>
                  </a:txBody>
                  <a:tcPr/>
                </a:tc>
                <a:extLst>
                  <a:ext uri="{0D108BD9-81ED-4DB2-BD59-A6C34878D82A}">
                    <a16:rowId xmlns:a16="http://schemas.microsoft.com/office/drawing/2014/main" val="698854428"/>
                  </a:ext>
                </a:extLst>
              </a:tr>
              <a:tr h="370840">
                <a:tc>
                  <a:txBody>
                    <a:bodyPr/>
                    <a:lstStyle/>
                    <a:p>
                      <a:r>
                        <a:rPr lang="en-US" dirty="0"/>
                        <a:t>In</a:t>
                      </a:r>
                    </a:p>
                  </a:txBody>
                  <a:tcPr/>
                </a:tc>
                <a:tc>
                  <a:txBody>
                    <a:bodyPr/>
                    <a:lstStyle/>
                    <a:p>
                      <a:r>
                        <a:rPr lang="en-US" dirty="0"/>
                        <a:t>Inch</a:t>
                      </a:r>
                    </a:p>
                  </a:txBody>
                  <a:tcPr/>
                </a:tc>
                <a:tc>
                  <a:txBody>
                    <a:bodyPr/>
                    <a:lstStyle/>
                    <a:p>
                      <a:endParaRPr lang="en-US" dirty="0"/>
                    </a:p>
                  </a:txBody>
                  <a:tcPr/>
                </a:tc>
                <a:extLst>
                  <a:ext uri="{0D108BD9-81ED-4DB2-BD59-A6C34878D82A}">
                    <a16:rowId xmlns:a16="http://schemas.microsoft.com/office/drawing/2014/main" val="2266616682"/>
                  </a:ext>
                </a:extLst>
              </a:tr>
              <a:tr h="370840">
                <a:tc>
                  <a:txBody>
                    <a:bodyPr/>
                    <a:lstStyle/>
                    <a:p>
                      <a:r>
                        <a:rPr lang="en-US" dirty="0"/>
                        <a:t>bp</a:t>
                      </a:r>
                    </a:p>
                  </a:txBody>
                  <a:tcPr/>
                </a:tc>
                <a:tc>
                  <a:txBody>
                    <a:bodyPr/>
                    <a:lstStyle/>
                    <a:p>
                      <a:r>
                        <a:rPr lang="en-US" dirty="0"/>
                        <a:t>Big Point</a:t>
                      </a:r>
                    </a:p>
                  </a:txBody>
                  <a:tcPr/>
                </a:tc>
                <a:tc>
                  <a:txBody>
                    <a:bodyPr/>
                    <a:lstStyle/>
                    <a:p>
                      <a:r>
                        <a:rPr lang="en-US" dirty="0"/>
                        <a:t>1/72”</a:t>
                      </a:r>
                    </a:p>
                  </a:txBody>
                  <a:tcPr/>
                </a:tc>
                <a:extLst>
                  <a:ext uri="{0D108BD9-81ED-4DB2-BD59-A6C34878D82A}">
                    <a16:rowId xmlns:a16="http://schemas.microsoft.com/office/drawing/2014/main" val="3897267460"/>
                  </a:ext>
                </a:extLst>
              </a:tr>
              <a:tr h="370840">
                <a:tc>
                  <a:txBody>
                    <a:bodyPr/>
                    <a:lstStyle/>
                    <a:p>
                      <a:r>
                        <a:rPr lang="en-US" dirty="0"/>
                        <a:t>mm</a:t>
                      </a:r>
                    </a:p>
                  </a:txBody>
                  <a:tcPr/>
                </a:tc>
                <a:tc>
                  <a:txBody>
                    <a:bodyPr/>
                    <a:lstStyle/>
                    <a:p>
                      <a:r>
                        <a:rPr lang="en-US" dirty="0"/>
                        <a:t>Millimeter</a:t>
                      </a:r>
                    </a:p>
                  </a:txBody>
                  <a:tcPr/>
                </a:tc>
                <a:tc>
                  <a:txBody>
                    <a:bodyPr/>
                    <a:lstStyle/>
                    <a:p>
                      <a:endParaRPr lang="en-US" dirty="0"/>
                    </a:p>
                  </a:txBody>
                  <a:tcPr/>
                </a:tc>
                <a:extLst>
                  <a:ext uri="{0D108BD9-81ED-4DB2-BD59-A6C34878D82A}">
                    <a16:rowId xmlns:a16="http://schemas.microsoft.com/office/drawing/2014/main" val="3946910571"/>
                  </a:ext>
                </a:extLst>
              </a:tr>
              <a:tr h="370840">
                <a:tc>
                  <a:txBody>
                    <a:bodyPr/>
                    <a:lstStyle/>
                    <a:p>
                      <a:r>
                        <a:rPr lang="en-US" dirty="0"/>
                        <a:t>cm</a:t>
                      </a:r>
                    </a:p>
                  </a:txBody>
                  <a:tcPr/>
                </a:tc>
                <a:tc>
                  <a:txBody>
                    <a:bodyPr/>
                    <a:lstStyle/>
                    <a:p>
                      <a:r>
                        <a:rPr lang="en-US" dirty="0"/>
                        <a:t>Centimeter</a:t>
                      </a:r>
                    </a:p>
                  </a:txBody>
                  <a:tcPr/>
                </a:tc>
                <a:tc>
                  <a:txBody>
                    <a:bodyPr/>
                    <a:lstStyle/>
                    <a:p>
                      <a:endParaRPr lang="en-US" dirty="0"/>
                    </a:p>
                  </a:txBody>
                  <a:tcPr/>
                </a:tc>
                <a:extLst>
                  <a:ext uri="{0D108BD9-81ED-4DB2-BD59-A6C34878D82A}">
                    <a16:rowId xmlns:a16="http://schemas.microsoft.com/office/drawing/2014/main" val="2956606264"/>
                  </a:ext>
                </a:extLst>
              </a:tr>
              <a:tr h="370840">
                <a:tc>
                  <a:txBody>
                    <a:bodyPr/>
                    <a:lstStyle/>
                    <a:p>
                      <a:r>
                        <a:rPr lang="en-US" dirty="0"/>
                        <a:t>ex</a:t>
                      </a:r>
                    </a:p>
                  </a:txBody>
                  <a:tcPr/>
                </a:tc>
                <a:tc>
                  <a:txBody>
                    <a:bodyPr/>
                    <a:lstStyle/>
                    <a:p>
                      <a:r>
                        <a:rPr lang="en-US" dirty="0"/>
                        <a:t>ex</a:t>
                      </a:r>
                    </a:p>
                  </a:txBody>
                  <a:tcPr/>
                </a:tc>
                <a:tc>
                  <a:txBody>
                    <a:bodyPr/>
                    <a:lstStyle/>
                    <a:p>
                      <a:r>
                        <a:rPr lang="en-US" dirty="0"/>
                        <a:t>Approximately the height of the lower case x in the current font</a:t>
                      </a:r>
                    </a:p>
                  </a:txBody>
                  <a:tcPr/>
                </a:tc>
                <a:extLst>
                  <a:ext uri="{0D108BD9-81ED-4DB2-BD59-A6C34878D82A}">
                    <a16:rowId xmlns:a16="http://schemas.microsoft.com/office/drawing/2014/main" val="2131182874"/>
                  </a:ext>
                </a:extLst>
              </a:tr>
              <a:tr h="370840">
                <a:tc>
                  <a:txBody>
                    <a:bodyPr/>
                    <a:lstStyle/>
                    <a:p>
                      <a:r>
                        <a:rPr lang="en-US" dirty="0" err="1"/>
                        <a:t>em</a:t>
                      </a:r>
                      <a:endParaRPr lang="en-US" dirty="0"/>
                    </a:p>
                  </a:txBody>
                  <a:tcPr/>
                </a:tc>
                <a:tc>
                  <a:txBody>
                    <a:bodyPr/>
                    <a:lstStyle/>
                    <a:p>
                      <a:r>
                        <a:rPr lang="en-US" dirty="0" err="1"/>
                        <a:t>em</a:t>
                      </a:r>
                      <a:endParaRPr lang="en-US" dirty="0"/>
                    </a:p>
                  </a:txBody>
                  <a:tcPr/>
                </a:tc>
                <a:tc>
                  <a:txBody>
                    <a:bodyPr/>
                    <a:lstStyle/>
                    <a:p>
                      <a:r>
                        <a:rPr lang="en-US" dirty="0"/>
                        <a:t>Approximately the width of upper case M in the current font</a:t>
                      </a:r>
                    </a:p>
                  </a:txBody>
                  <a:tcPr/>
                </a:tc>
                <a:extLst>
                  <a:ext uri="{0D108BD9-81ED-4DB2-BD59-A6C34878D82A}">
                    <a16:rowId xmlns:a16="http://schemas.microsoft.com/office/drawing/2014/main" val="989324464"/>
                  </a:ext>
                </a:extLst>
              </a:tr>
            </a:tbl>
          </a:graphicData>
        </a:graphic>
      </p:graphicFrame>
    </p:spTree>
    <p:extLst>
      <p:ext uri="{BB962C8B-B14F-4D97-AF65-F5344CB8AC3E}">
        <p14:creationId xmlns:p14="http://schemas.microsoft.com/office/powerpoint/2010/main" val="387326559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D398-5B36-C3F3-F772-7BA63D69D8FB}"/>
              </a:ext>
            </a:extLst>
          </p:cNvPr>
          <p:cNvSpPr>
            <a:spLocks noGrp="1"/>
          </p:cNvSpPr>
          <p:nvPr>
            <p:ph type="title"/>
          </p:nvPr>
        </p:nvSpPr>
        <p:spPr/>
        <p:txBody>
          <a:bodyPr/>
          <a:lstStyle/>
          <a:p>
            <a:r>
              <a:rPr lang="en-US" dirty="0"/>
              <a:t>           : Deeper Dive– Spacing</a:t>
            </a:r>
          </a:p>
        </p:txBody>
      </p:sp>
      <p:sp>
        <p:nvSpPr>
          <p:cNvPr id="3" name="Content Placeholder 2">
            <a:extLst>
              <a:ext uri="{FF2B5EF4-FFF2-40B4-BE49-F238E27FC236}">
                <a16:creationId xmlns:a16="http://schemas.microsoft.com/office/drawing/2014/main" id="{A234D795-4F69-9F46-9C82-0E88DFD31E04}"/>
              </a:ext>
            </a:extLst>
          </p:cNvPr>
          <p:cNvSpPr>
            <a:spLocks noGrp="1"/>
          </p:cNvSpPr>
          <p:nvPr>
            <p:ph idx="1"/>
          </p:nvPr>
        </p:nvSpPr>
        <p:spPr/>
        <p:txBody>
          <a:bodyPr>
            <a:normAutofit/>
          </a:bodyPr>
          <a:lstStyle/>
          <a:p>
            <a:r>
              <a:rPr lang="en-US" dirty="0"/>
              <a:t>\</a:t>
            </a:r>
            <a:r>
              <a:rPr lang="en-US" dirty="0" err="1"/>
              <a:t>vspace</a:t>
            </a:r>
            <a:r>
              <a:rPr lang="en-US" dirty="0"/>
              <a:t>{amount}</a:t>
            </a:r>
          </a:p>
          <a:p>
            <a:r>
              <a:rPr lang="en-US" dirty="0"/>
              <a:t>\</a:t>
            </a:r>
            <a:r>
              <a:rPr lang="en-US" dirty="0" err="1"/>
              <a:t>hspace</a:t>
            </a:r>
            <a:r>
              <a:rPr lang="en-US" dirty="0"/>
              <a:t>{amount}</a:t>
            </a:r>
          </a:p>
          <a:p>
            <a:r>
              <a:rPr lang="en-US" dirty="0"/>
              <a:t>\</a:t>
            </a:r>
            <a:r>
              <a:rPr lang="en-US" dirty="0" err="1"/>
              <a:t>enspace</a:t>
            </a:r>
            <a:r>
              <a:rPr lang="en-US" dirty="0"/>
              <a:t> (1/2 </a:t>
            </a:r>
            <a:r>
              <a:rPr lang="en-US" dirty="0" err="1"/>
              <a:t>em</a:t>
            </a:r>
            <a:r>
              <a:rPr lang="en-US" dirty="0"/>
              <a:t>)</a:t>
            </a:r>
          </a:p>
          <a:p>
            <a:r>
              <a:rPr lang="en-US" dirty="0"/>
              <a:t>\quad (1 </a:t>
            </a:r>
            <a:r>
              <a:rPr lang="en-US" dirty="0" err="1"/>
              <a:t>em</a:t>
            </a:r>
            <a:r>
              <a:rPr lang="en-US" dirty="0"/>
              <a:t>)</a:t>
            </a:r>
          </a:p>
          <a:p>
            <a:r>
              <a:rPr lang="en-US" dirty="0"/>
              <a:t>\</a:t>
            </a:r>
            <a:r>
              <a:rPr lang="en-US" dirty="0" err="1"/>
              <a:t>qquad</a:t>
            </a:r>
            <a:r>
              <a:rPr lang="en-US" dirty="0"/>
              <a:t> (2 </a:t>
            </a:r>
            <a:r>
              <a:rPr lang="en-US" dirty="0" err="1"/>
              <a:t>em</a:t>
            </a:r>
            <a:r>
              <a:rPr lang="en-US" dirty="0"/>
              <a:t>)</a:t>
            </a:r>
          </a:p>
          <a:p>
            <a:r>
              <a:rPr lang="en-US" dirty="0"/>
              <a:t>\</a:t>
            </a:r>
            <a:r>
              <a:rPr lang="en-US" dirty="0" err="1"/>
              <a:t>hfill</a:t>
            </a:r>
            <a:r>
              <a:rPr lang="en-US" dirty="0"/>
              <a:t> (stretch as needed to fill line)</a:t>
            </a:r>
          </a:p>
          <a:p>
            <a:r>
              <a:rPr lang="en-US" dirty="0"/>
              <a:t>\</a:t>
            </a:r>
            <a:r>
              <a:rPr lang="en-US" dirty="0" err="1"/>
              <a:t>hrulefill</a:t>
            </a:r>
            <a:r>
              <a:rPr lang="en-US" dirty="0"/>
              <a:t> (</a:t>
            </a:r>
            <a:r>
              <a:rPr lang="en-US" dirty="0" err="1"/>
              <a:t>hfill</a:t>
            </a:r>
            <a:r>
              <a:rPr lang="en-US" dirty="0"/>
              <a:t> but with a line filling the space)</a:t>
            </a:r>
          </a:p>
          <a:p>
            <a:r>
              <a:rPr lang="en-US" dirty="0"/>
              <a:t>\</a:t>
            </a:r>
            <a:r>
              <a:rPr lang="en-US" dirty="0" err="1"/>
              <a:t>dotfill</a:t>
            </a:r>
            <a:r>
              <a:rPr lang="en-US" dirty="0"/>
              <a:t> (</a:t>
            </a:r>
            <a:r>
              <a:rPr lang="en-US" dirty="0" err="1"/>
              <a:t>hfill</a:t>
            </a:r>
            <a:r>
              <a:rPr lang="en-US" dirty="0"/>
              <a:t> but with dots filling the space)</a:t>
            </a:r>
          </a:p>
          <a:p>
            <a:pPr marL="0" indent="0">
              <a:buNone/>
            </a:pPr>
            <a:endParaRPr lang="en-US" dirty="0"/>
          </a:p>
          <a:p>
            <a:pPr marL="457200" lvl="1" indent="0">
              <a:buNone/>
            </a:pPr>
            <a:endParaRPr lang="en-US" dirty="0"/>
          </a:p>
          <a:p>
            <a:pPr marL="457200" lvl="1" indent="0">
              <a:buNone/>
            </a:pPr>
            <a:endParaRPr lang="en-US" dirty="0"/>
          </a:p>
          <a:p>
            <a:pPr lvl="1"/>
            <a:endParaRPr lang="en-US" dirty="0"/>
          </a:p>
        </p:txBody>
      </p:sp>
      <p:pic>
        <p:nvPicPr>
          <p:cNvPr id="4" name="Picture 6">
            <a:extLst>
              <a:ext uri="{FF2B5EF4-FFF2-40B4-BE49-F238E27FC236}">
                <a16:creationId xmlns:a16="http://schemas.microsoft.com/office/drawing/2014/main" id="{F9F15146-E805-0F3D-497F-3630825E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768" y="768350"/>
            <a:ext cx="1395694" cy="581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781395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1B73DBA-5135-7369-1583-644B9C72D447}"/>
              </a:ext>
            </a:extLst>
          </p:cNvPr>
          <p:cNvPicPr>
            <a:picLocks noChangeAspect="1"/>
          </p:cNvPicPr>
          <p:nvPr/>
        </p:nvPicPr>
        <p:blipFill>
          <a:blip r:embed="rId3"/>
          <a:stretch>
            <a:fillRect/>
          </a:stretch>
        </p:blipFill>
        <p:spPr>
          <a:xfrm>
            <a:off x="0" y="1200150"/>
            <a:ext cx="12192000" cy="4457700"/>
          </a:xfrm>
          <a:prstGeom prst="rect">
            <a:avLst/>
          </a:prstGeom>
        </p:spPr>
      </p:pic>
    </p:spTree>
    <p:extLst>
      <p:ext uri="{BB962C8B-B14F-4D97-AF65-F5344CB8AC3E}">
        <p14:creationId xmlns:p14="http://schemas.microsoft.com/office/powerpoint/2010/main" val="141834596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07CBF9-AF02-4F0C-B0A4-D9247723C3D5}"/>
              </a:ext>
            </a:extLst>
          </p:cNvPr>
          <p:cNvPicPr>
            <a:picLocks noChangeAspect="1"/>
          </p:cNvPicPr>
          <p:nvPr/>
        </p:nvPicPr>
        <p:blipFill>
          <a:blip r:embed="rId3"/>
          <a:stretch>
            <a:fillRect/>
          </a:stretch>
        </p:blipFill>
        <p:spPr>
          <a:xfrm>
            <a:off x="0" y="1423527"/>
            <a:ext cx="12192000" cy="4010945"/>
          </a:xfrm>
          <a:prstGeom prst="rect">
            <a:avLst/>
          </a:prstGeom>
        </p:spPr>
      </p:pic>
    </p:spTree>
    <p:extLst>
      <p:ext uri="{BB962C8B-B14F-4D97-AF65-F5344CB8AC3E}">
        <p14:creationId xmlns:p14="http://schemas.microsoft.com/office/powerpoint/2010/main" val="26989160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AACD70A-DDF9-4542-A61F-B16CE183C0E2}"/>
              </a:ext>
            </a:extLst>
          </p:cNvPr>
          <p:cNvPicPr>
            <a:picLocks noChangeAspect="1"/>
          </p:cNvPicPr>
          <p:nvPr/>
        </p:nvPicPr>
        <p:blipFill>
          <a:blip r:embed="rId3"/>
          <a:stretch>
            <a:fillRect/>
          </a:stretch>
        </p:blipFill>
        <p:spPr>
          <a:xfrm>
            <a:off x="5833" y="0"/>
            <a:ext cx="12180333" cy="6858000"/>
          </a:xfrm>
          <a:prstGeom prst="rect">
            <a:avLst/>
          </a:prstGeom>
        </p:spPr>
      </p:pic>
    </p:spTree>
    <p:extLst>
      <p:ext uri="{BB962C8B-B14F-4D97-AF65-F5344CB8AC3E}">
        <p14:creationId xmlns:p14="http://schemas.microsoft.com/office/powerpoint/2010/main" val="362348044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934D22-0C76-CF2E-5654-FB3EBCE06764}"/>
              </a:ext>
            </a:extLst>
          </p:cNvPr>
          <p:cNvPicPr>
            <a:picLocks noChangeAspect="1"/>
          </p:cNvPicPr>
          <p:nvPr/>
        </p:nvPicPr>
        <p:blipFill>
          <a:blip r:embed="rId2"/>
          <a:stretch>
            <a:fillRect/>
          </a:stretch>
        </p:blipFill>
        <p:spPr>
          <a:xfrm>
            <a:off x="3449147" y="0"/>
            <a:ext cx="5293705" cy="6858000"/>
          </a:xfrm>
          <a:prstGeom prst="rect">
            <a:avLst/>
          </a:prstGeom>
        </p:spPr>
      </p:pic>
    </p:spTree>
    <p:extLst>
      <p:ext uri="{BB962C8B-B14F-4D97-AF65-F5344CB8AC3E}">
        <p14:creationId xmlns:p14="http://schemas.microsoft.com/office/powerpoint/2010/main" val="288720392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C0A45-4032-B52F-5FAF-0C3E5594F8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FA229-2006-513F-D99F-3E9E45F1CD4C}"/>
              </a:ext>
            </a:extLst>
          </p:cNvPr>
          <p:cNvSpPr>
            <a:spLocks noGrp="1"/>
          </p:cNvSpPr>
          <p:nvPr>
            <p:ph type="title"/>
          </p:nvPr>
        </p:nvSpPr>
        <p:spPr/>
        <p:txBody>
          <a:bodyPr/>
          <a:lstStyle/>
          <a:p>
            <a:r>
              <a:rPr lang="en-US" dirty="0"/>
              <a:t>Structure of the Talk</a:t>
            </a:r>
          </a:p>
        </p:txBody>
      </p:sp>
      <p:sp>
        <p:nvSpPr>
          <p:cNvPr id="3" name="Content Placeholder 2">
            <a:extLst>
              <a:ext uri="{FF2B5EF4-FFF2-40B4-BE49-F238E27FC236}">
                <a16:creationId xmlns:a16="http://schemas.microsoft.com/office/drawing/2014/main" id="{FA6B2F30-6406-0878-7BD8-D78960682620}"/>
              </a:ext>
            </a:extLst>
          </p:cNvPr>
          <p:cNvSpPr>
            <a:spLocks noGrp="1"/>
          </p:cNvSpPr>
          <p:nvPr>
            <p:ph idx="1"/>
          </p:nvPr>
        </p:nvSpPr>
        <p:spPr/>
        <p:txBody>
          <a:bodyPr>
            <a:normAutofit fontScale="92500" lnSpcReduction="10000"/>
          </a:bodyPr>
          <a:lstStyle/>
          <a:p>
            <a:r>
              <a:rPr lang="en-US" dirty="0"/>
              <a:t>Unit 1: Basics</a:t>
            </a:r>
          </a:p>
          <a:p>
            <a:pPr lvl="1"/>
            <a:r>
              <a:rPr lang="en-US" dirty="0"/>
              <a:t>What is            ?</a:t>
            </a:r>
          </a:p>
          <a:p>
            <a:pPr lvl="1"/>
            <a:r>
              <a:rPr lang="en-US" dirty="0"/>
              <a:t>How do I use it?</a:t>
            </a:r>
          </a:p>
          <a:p>
            <a:pPr lvl="1"/>
            <a:r>
              <a:rPr lang="en-US" dirty="0"/>
              <a:t>Sample profile design workflow</a:t>
            </a:r>
          </a:p>
          <a:p>
            <a:r>
              <a:rPr lang="en-US" dirty="0"/>
              <a:t>Unit 2: Deeper Dive</a:t>
            </a:r>
          </a:p>
          <a:p>
            <a:pPr lvl="1"/>
            <a:r>
              <a:rPr lang="en-US" dirty="0"/>
              <a:t>Preamble</a:t>
            </a:r>
          </a:p>
          <a:p>
            <a:pPr lvl="1"/>
            <a:r>
              <a:rPr lang="en-US" dirty="0"/>
              <a:t>Structure</a:t>
            </a:r>
          </a:p>
          <a:p>
            <a:pPr lvl="1"/>
            <a:r>
              <a:rPr lang="en-US" dirty="0"/>
              <a:t>Text sizes &amp; styles</a:t>
            </a:r>
          </a:p>
          <a:p>
            <a:pPr lvl="1"/>
            <a:r>
              <a:rPr lang="en-US" dirty="0"/>
              <a:t>Environments</a:t>
            </a:r>
          </a:p>
          <a:p>
            <a:pPr lvl="1"/>
            <a:r>
              <a:rPr lang="en-US" dirty="0"/>
              <a:t>Lengths</a:t>
            </a:r>
          </a:p>
          <a:p>
            <a:pPr lvl="1"/>
            <a:r>
              <a:rPr lang="en-US" dirty="0"/>
              <a:t>Spacing</a:t>
            </a:r>
          </a:p>
          <a:p>
            <a:r>
              <a:rPr lang="en-US" dirty="0">
                <a:solidFill>
                  <a:schemeClr val="accent5"/>
                </a:solidFill>
              </a:rPr>
              <a:t>Unit 3: </a:t>
            </a:r>
            <a:r>
              <a:rPr lang="en-US" dirty="0" err="1">
                <a:solidFill>
                  <a:schemeClr val="accent5"/>
                </a:solidFill>
              </a:rPr>
              <a:t>LaTable</a:t>
            </a:r>
            <a:r>
              <a:rPr lang="en-US" dirty="0">
                <a:solidFill>
                  <a:schemeClr val="accent5"/>
                </a:solidFill>
              </a:rPr>
              <a:t>: a Stata table generator for data factsheets</a:t>
            </a:r>
          </a:p>
          <a:p>
            <a:pPr lvl="1"/>
            <a:endParaRPr lang="en-US" dirty="0"/>
          </a:p>
        </p:txBody>
      </p:sp>
      <p:pic>
        <p:nvPicPr>
          <p:cNvPr id="4" name="Picture 6">
            <a:extLst>
              <a:ext uri="{FF2B5EF4-FFF2-40B4-BE49-F238E27FC236}">
                <a16:creationId xmlns:a16="http://schemas.microsoft.com/office/drawing/2014/main" id="{45D40326-C20A-2357-D72A-42E767861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6088" y="2226945"/>
            <a:ext cx="731520" cy="304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39279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9D8B5-8820-0BD0-ED7C-B20EB7E72E4D}"/>
              </a:ext>
            </a:extLst>
          </p:cNvPr>
          <p:cNvSpPr>
            <a:spLocks noGrp="1"/>
          </p:cNvSpPr>
          <p:nvPr>
            <p:ph type="title"/>
          </p:nvPr>
        </p:nvSpPr>
        <p:spPr/>
        <p:txBody>
          <a:bodyPr/>
          <a:lstStyle/>
          <a:p>
            <a:r>
              <a:rPr lang="en-US" dirty="0" err="1"/>
              <a:t>LaTable</a:t>
            </a:r>
            <a:endParaRPr lang="en-US" dirty="0"/>
          </a:p>
        </p:txBody>
      </p:sp>
      <p:sp>
        <p:nvSpPr>
          <p:cNvPr id="3" name="Content Placeholder 2">
            <a:extLst>
              <a:ext uri="{FF2B5EF4-FFF2-40B4-BE49-F238E27FC236}">
                <a16:creationId xmlns:a16="http://schemas.microsoft.com/office/drawing/2014/main" id="{CC499D7A-6682-1518-2C1C-80BA33C452C9}"/>
              </a:ext>
            </a:extLst>
          </p:cNvPr>
          <p:cNvSpPr>
            <a:spLocks noGrp="1"/>
          </p:cNvSpPr>
          <p:nvPr>
            <p:ph idx="1"/>
          </p:nvPr>
        </p:nvSpPr>
        <p:spPr/>
        <p:txBody>
          <a:bodyPr/>
          <a:lstStyle/>
          <a:p>
            <a:r>
              <a:rPr lang="en-US" dirty="0"/>
              <a:t>The motivation:</a:t>
            </a:r>
          </a:p>
          <a:p>
            <a:pPr lvl="1"/>
            <a:r>
              <a:rPr lang="en-US" dirty="0"/>
              <a:t>Creating tables of numbers is a PITA</a:t>
            </a:r>
          </a:p>
          <a:p>
            <a:pPr lvl="1"/>
            <a:r>
              <a:rPr lang="en-US" dirty="0"/>
              <a:t>This is especially true when you have to format different numbers differently:</a:t>
            </a:r>
          </a:p>
          <a:p>
            <a:pPr lvl="2"/>
            <a:r>
              <a:rPr lang="en-US" dirty="0"/>
              <a:t>Dollars</a:t>
            </a:r>
          </a:p>
          <a:p>
            <a:pPr lvl="2"/>
            <a:r>
              <a:rPr lang="en-US" dirty="0"/>
              <a:t>Percentages</a:t>
            </a:r>
          </a:p>
          <a:p>
            <a:pPr lvl="2"/>
            <a:r>
              <a:rPr lang="en-US" dirty="0"/>
              <a:t>Comma separated thousands</a:t>
            </a:r>
          </a:p>
          <a:p>
            <a:pPr lvl="2"/>
            <a:r>
              <a:rPr lang="en-US" dirty="0"/>
              <a:t>Different numbers of decimals, e.g.</a:t>
            </a:r>
          </a:p>
          <a:p>
            <a:pPr lvl="3"/>
            <a:r>
              <a:rPr lang="en-US" dirty="0"/>
              <a:t>Census reports median age to 1 decimal</a:t>
            </a:r>
          </a:p>
          <a:p>
            <a:pPr lvl="3"/>
            <a:r>
              <a:rPr lang="en-US" dirty="0"/>
              <a:t>Census reports household size to 2 decimals</a:t>
            </a:r>
          </a:p>
        </p:txBody>
      </p:sp>
    </p:spTree>
    <p:extLst>
      <p:ext uri="{BB962C8B-B14F-4D97-AF65-F5344CB8AC3E}">
        <p14:creationId xmlns:p14="http://schemas.microsoft.com/office/powerpoint/2010/main" val="193166351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E5A6C-6504-C17F-213A-8E6162D96058}"/>
              </a:ext>
            </a:extLst>
          </p:cNvPr>
          <p:cNvSpPr>
            <a:spLocks noGrp="1"/>
          </p:cNvSpPr>
          <p:nvPr>
            <p:ph type="title"/>
          </p:nvPr>
        </p:nvSpPr>
        <p:spPr/>
        <p:txBody>
          <a:bodyPr/>
          <a:lstStyle/>
          <a:p>
            <a:r>
              <a:rPr lang="en-US" dirty="0" err="1"/>
              <a:t>LaTable</a:t>
            </a:r>
            <a:endParaRPr lang="en-US" dirty="0"/>
          </a:p>
        </p:txBody>
      </p:sp>
      <p:sp>
        <p:nvSpPr>
          <p:cNvPr id="3" name="Content Placeholder 2">
            <a:extLst>
              <a:ext uri="{FF2B5EF4-FFF2-40B4-BE49-F238E27FC236}">
                <a16:creationId xmlns:a16="http://schemas.microsoft.com/office/drawing/2014/main" id="{836D8680-3E47-C957-DBA7-399E04ED356E}"/>
              </a:ext>
            </a:extLst>
          </p:cNvPr>
          <p:cNvSpPr>
            <a:spLocks noGrp="1"/>
          </p:cNvSpPr>
          <p:nvPr>
            <p:ph idx="1"/>
          </p:nvPr>
        </p:nvSpPr>
        <p:spPr/>
        <p:txBody>
          <a:bodyPr>
            <a:normAutofit/>
          </a:bodyPr>
          <a:lstStyle/>
          <a:p>
            <a:r>
              <a:rPr lang="en-US" dirty="0"/>
              <a:t>The solution:</a:t>
            </a:r>
          </a:p>
          <a:p>
            <a:pPr lvl="1"/>
            <a:r>
              <a:rPr lang="en-US" dirty="0"/>
              <a:t>Create a table of tables</a:t>
            </a:r>
          </a:p>
          <a:p>
            <a:pPr lvl="1"/>
            <a:r>
              <a:rPr lang="en-US" dirty="0" err="1"/>
              <a:t>LaTable</a:t>
            </a:r>
            <a:r>
              <a:rPr lang="en-US" dirty="0"/>
              <a:t> </a:t>
            </a:r>
          </a:p>
          <a:p>
            <a:pPr lvl="2"/>
            <a:r>
              <a:rPr lang="en-US" dirty="0"/>
              <a:t>Reads through the table information</a:t>
            </a:r>
          </a:p>
          <a:p>
            <a:pPr lvl="2"/>
            <a:r>
              <a:rPr lang="en-US" dirty="0"/>
              <a:t>Applies the necessary formatting to numbers</a:t>
            </a:r>
          </a:p>
          <a:p>
            <a:pPr lvl="2"/>
            <a:r>
              <a:rPr lang="en-US" dirty="0"/>
              <a:t>Places code around the numbers to define the table</a:t>
            </a:r>
          </a:p>
          <a:p>
            <a:pPr lvl="1"/>
            <a:r>
              <a:rPr lang="en-US" dirty="0"/>
              <a:t>Requires Stata 16 or higher (June 2019)</a:t>
            </a:r>
          </a:p>
        </p:txBody>
      </p:sp>
    </p:spTree>
    <p:extLst>
      <p:ext uri="{BB962C8B-B14F-4D97-AF65-F5344CB8AC3E}">
        <p14:creationId xmlns:p14="http://schemas.microsoft.com/office/powerpoint/2010/main" val="290596800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3D4BC-C9D3-3BE5-0DBC-1D4E3AFCC38D}"/>
              </a:ext>
            </a:extLst>
          </p:cNvPr>
          <p:cNvSpPr>
            <a:spLocks noGrp="1"/>
          </p:cNvSpPr>
          <p:nvPr>
            <p:ph type="title"/>
          </p:nvPr>
        </p:nvSpPr>
        <p:spPr/>
        <p:txBody>
          <a:bodyPr/>
          <a:lstStyle/>
          <a:p>
            <a:r>
              <a:rPr lang="en-US" dirty="0" err="1"/>
              <a:t>LaTable</a:t>
            </a:r>
            <a:endParaRPr lang="en-US" dirty="0"/>
          </a:p>
        </p:txBody>
      </p:sp>
      <p:sp>
        <p:nvSpPr>
          <p:cNvPr id="3" name="Content Placeholder 2">
            <a:extLst>
              <a:ext uri="{FF2B5EF4-FFF2-40B4-BE49-F238E27FC236}">
                <a16:creationId xmlns:a16="http://schemas.microsoft.com/office/drawing/2014/main" id="{C7C7B132-EFFF-55A6-A0C5-BFEA09B57919}"/>
              </a:ext>
            </a:extLst>
          </p:cNvPr>
          <p:cNvSpPr>
            <a:spLocks noGrp="1"/>
          </p:cNvSpPr>
          <p:nvPr>
            <p:ph idx="1"/>
          </p:nvPr>
        </p:nvSpPr>
        <p:spPr/>
        <p:txBody>
          <a:bodyPr/>
          <a:lstStyle/>
          <a:p>
            <a:r>
              <a:rPr lang="en-US" dirty="0"/>
              <a:t>What goes into the table of tables?</a:t>
            </a:r>
          </a:p>
          <a:p>
            <a:pPr lvl="1"/>
            <a:r>
              <a:rPr lang="en-US" dirty="0"/>
              <a:t>Each row of definitions corresponds with one row of actual table and is of one of these four types:</a:t>
            </a:r>
          </a:p>
          <a:p>
            <a:pPr lvl="2"/>
            <a:r>
              <a:rPr lang="en-US" dirty="0"/>
              <a:t>Title</a:t>
            </a:r>
          </a:p>
          <a:p>
            <a:pPr lvl="2"/>
            <a:r>
              <a:rPr lang="en-US" dirty="0"/>
              <a:t>Header</a:t>
            </a:r>
          </a:p>
          <a:p>
            <a:pPr lvl="2"/>
            <a:r>
              <a:rPr lang="en-US" dirty="0"/>
              <a:t>Data</a:t>
            </a:r>
          </a:p>
          <a:p>
            <a:pPr lvl="2"/>
            <a:r>
              <a:rPr lang="en-US" dirty="0"/>
              <a:t>Blank (space)</a:t>
            </a:r>
          </a:p>
        </p:txBody>
      </p:sp>
    </p:spTree>
    <p:extLst>
      <p:ext uri="{BB962C8B-B14F-4D97-AF65-F5344CB8AC3E}">
        <p14:creationId xmlns:p14="http://schemas.microsoft.com/office/powerpoint/2010/main" val="347488942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D536F-ACD7-850D-DC97-D2FB0A1402B2}"/>
              </a:ext>
            </a:extLst>
          </p:cNvPr>
          <p:cNvSpPr>
            <a:spLocks noGrp="1"/>
          </p:cNvSpPr>
          <p:nvPr>
            <p:ph type="title"/>
          </p:nvPr>
        </p:nvSpPr>
        <p:spPr/>
        <p:txBody>
          <a:bodyPr/>
          <a:lstStyle/>
          <a:p>
            <a:r>
              <a:rPr lang="en-US" dirty="0" err="1"/>
              <a:t>LaTable</a:t>
            </a:r>
            <a:endParaRPr lang="en-US" dirty="0"/>
          </a:p>
        </p:txBody>
      </p:sp>
      <p:sp>
        <p:nvSpPr>
          <p:cNvPr id="3" name="Content Placeholder 2">
            <a:extLst>
              <a:ext uri="{FF2B5EF4-FFF2-40B4-BE49-F238E27FC236}">
                <a16:creationId xmlns:a16="http://schemas.microsoft.com/office/drawing/2014/main" id="{578C840C-3E14-1CC9-B9CC-BBD19BD051B7}"/>
              </a:ext>
            </a:extLst>
          </p:cNvPr>
          <p:cNvSpPr>
            <a:spLocks noGrp="1"/>
          </p:cNvSpPr>
          <p:nvPr>
            <p:ph idx="1"/>
          </p:nvPr>
        </p:nvSpPr>
        <p:spPr/>
        <p:txBody>
          <a:bodyPr>
            <a:normAutofit fontScale="62500" lnSpcReduction="20000"/>
          </a:bodyPr>
          <a:lstStyle/>
          <a:p>
            <a:r>
              <a:rPr lang="en-US" dirty="0" err="1"/>
              <a:t>TableType</a:t>
            </a:r>
            <a:endParaRPr lang="en-US" dirty="0"/>
          </a:p>
          <a:p>
            <a:pPr lvl="1"/>
            <a:r>
              <a:rPr lang="en-US" dirty="0"/>
              <a:t>Table category</a:t>
            </a:r>
          </a:p>
          <a:p>
            <a:r>
              <a:rPr lang="en-US" dirty="0"/>
              <a:t>Table</a:t>
            </a:r>
          </a:p>
          <a:p>
            <a:pPr lvl="1"/>
            <a:r>
              <a:rPr lang="en-US" dirty="0"/>
              <a:t>Table name (how you invoke the table)</a:t>
            </a:r>
          </a:p>
          <a:p>
            <a:r>
              <a:rPr lang="en-US" dirty="0"/>
              <a:t>Indent</a:t>
            </a:r>
          </a:p>
          <a:p>
            <a:pPr lvl="1"/>
            <a:r>
              <a:rPr lang="en-US" dirty="0"/>
              <a:t>Number of indents (up to 3)</a:t>
            </a:r>
          </a:p>
          <a:p>
            <a:r>
              <a:rPr lang="en-US" dirty="0"/>
              <a:t>Col1Text</a:t>
            </a:r>
          </a:p>
          <a:p>
            <a:pPr lvl="1"/>
            <a:r>
              <a:rPr lang="en-US" dirty="0"/>
              <a:t>The text that goes in the row</a:t>
            </a:r>
          </a:p>
          <a:p>
            <a:r>
              <a:rPr lang="en-US" dirty="0"/>
              <a:t>Data1, Data2, Data3, Data4</a:t>
            </a:r>
          </a:p>
          <a:p>
            <a:pPr lvl="1"/>
            <a:r>
              <a:rPr lang="en-US" dirty="0"/>
              <a:t>Variable names (or text for headers if it is a header row)</a:t>
            </a:r>
          </a:p>
          <a:p>
            <a:r>
              <a:rPr lang="en-US" dirty="0"/>
              <a:t>Sig</a:t>
            </a:r>
          </a:p>
          <a:p>
            <a:pPr lvl="1"/>
            <a:r>
              <a:rPr lang="en-US" dirty="0"/>
              <a:t>Variable name if there is a significance flag</a:t>
            </a:r>
          </a:p>
          <a:p>
            <a:r>
              <a:rPr lang="en-US" dirty="0"/>
              <a:t>Type1, Type2, Type3, Type4</a:t>
            </a:r>
          </a:p>
          <a:p>
            <a:pPr lvl="1"/>
            <a:r>
              <a:rPr lang="en-US" dirty="0"/>
              <a:t>Data type for Data1-Data4 (Number, Percent, MOE, </a:t>
            </a:r>
            <a:r>
              <a:rPr lang="en-US" dirty="0" err="1"/>
              <a:t>pMOE</a:t>
            </a:r>
            <a:r>
              <a:rPr lang="en-US" dirty="0"/>
              <a:t>, D1, D2, d1MOE, d2MOE, Dollar, </a:t>
            </a:r>
            <a:r>
              <a:rPr lang="en-US" dirty="0" err="1"/>
              <a:t>DollarMOE</a:t>
            </a:r>
            <a:r>
              <a:rPr lang="en-US" dirty="0"/>
              <a:t>)</a:t>
            </a:r>
          </a:p>
          <a:p>
            <a:r>
              <a:rPr lang="en-US" dirty="0"/>
              <a:t>Notes</a:t>
            </a:r>
          </a:p>
          <a:p>
            <a:pPr lvl="1"/>
            <a:r>
              <a:rPr lang="en-US" dirty="0"/>
              <a:t>Notes Field (e.g., Source)</a:t>
            </a:r>
          </a:p>
          <a:p>
            <a:pPr lvl="1"/>
            <a:endParaRPr lang="en-US" dirty="0"/>
          </a:p>
          <a:p>
            <a:endParaRPr lang="en-US" dirty="0"/>
          </a:p>
        </p:txBody>
      </p:sp>
    </p:spTree>
    <p:extLst>
      <p:ext uri="{BB962C8B-B14F-4D97-AF65-F5344CB8AC3E}">
        <p14:creationId xmlns:p14="http://schemas.microsoft.com/office/powerpoint/2010/main" val="387106299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C3482-3619-8639-B109-450699D3B94D}"/>
              </a:ext>
            </a:extLst>
          </p:cNvPr>
          <p:cNvSpPr>
            <a:spLocks noGrp="1"/>
          </p:cNvSpPr>
          <p:nvPr>
            <p:ph type="title"/>
          </p:nvPr>
        </p:nvSpPr>
        <p:spPr/>
        <p:txBody>
          <a:bodyPr/>
          <a:lstStyle/>
          <a:p>
            <a:r>
              <a:rPr lang="en-US" dirty="0" err="1"/>
              <a:t>LaTable</a:t>
            </a:r>
            <a:endParaRPr lang="en-US" dirty="0"/>
          </a:p>
        </p:txBody>
      </p:sp>
      <p:pic>
        <p:nvPicPr>
          <p:cNvPr id="5" name="Content Placeholder 4">
            <a:extLst>
              <a:ext uri="{FF2B5EF4-FFF2-40B4-BE49-F238E27FC236}">
                <a16:creationId xmlns:a16="http://schemas.microsoft.com/office/drawing/2014/main" id="{FF9241C8-B38B-8414-A687-274641EE5721}"/>
              </a:ext>
            </a:extLst>
          </p:cNvPr>
          <p:cNvPicPr>
            <a:picLocks noGrp="1" noChangeAspect="1"/>
          </p:cNvPicPr>
          <p:nvPr>
            <p:ph idx="1"/>
          </p:nvPr>
        </p:nvPicPr>
        <p:blipFill>
          <a:blip r:embed="rId3"/>
          <a:stretch>
            <a:fillRect/>
          </a:stretch>
        </p:blipFill>
        <p:spPr>
          <a:xfrm>
            <a:off x="838200" y="2371165"/>
            <a:ext cx="10515600" cy="3260258"/>
          </a:xfrm>
          <a:prstGeom prst="rect">
            <a:avLst/>
          </a:prstGeom>
        </p:spPr>
      </p:pic>
    </p:spTree>
    <p:extLst>
      <p:ext uri="{BB962C8B-B14F-4D97-AF65-F5344CB8AC3E}">
        <p14:creationId xmlns:p14="http://schemas.microsoft.com/office/powerpoint/2010/main" val="3674064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4E5D9-41C8-EED7-6D86-C2EC6C20EE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E60D3-2945-E0AE-666A-11BCA370808C}"/>
              </a:ext>
            </a:extLst>
          </p:cNvPr>
          <p:cNvSpPr>
            <a:spLocks noGrp="1"/>
          </p:cNvSpPr>
          <p:nvPr>
            <p:ph type="title"/>
          </p:nvPr>
        </p:nvSpPr>
        <p:spPr/>
        <p:txBody>
          <a:bodyPr/>
          <a:lstStyle/>
          <a:p>
            <a:r>
              <a:rPr lang="en-US" dirty="0" err="1"/>
              <a:t>LaTable</a:t>
            </a:r>
            <a:endParaRPr lang="en-US" dirty="0"/>
          </a:p>
        </p:txBody>
      </p:sp>
      <p:pic>
        <p:nvPicPr>
          <p:cNvPr id="5" name="Content Placeholder 4">
            <a:extLst>
              <a:ext uri="{FF2B5EF4-FFF2-40B4-BE49-F238E27FC236}">
                <a16:creationId xmlns:a16="http://schemas.microsoft.com/office/drawing/2014/main" id="{4E48EAD9-4B19-E300-E1EC-279E12DF39D6}"/>
              </a:ext>
            </a:extLst>
          </p:cNvPr>
          <p:cNvPicPr>
            <a:picLocks noGrp="1" noChangeAspect="1"/>
          </p:cNvPicPr>
          <p:nvPr>
            <p:ph idx="1"/>
          </p:nvPr>
        </p:nvPicPr>
        <p:blipFill>
          <a:blip r:embed="rId3"/>
          <a:stretch>
            <a:fillRect/>
          </a:stretch>
        </p:blipFill>
        <p:spPr>
          <a:xfrm>
            <a:off x="838200" y="2371165"/>
            <a:ext cx="10515600" cy="3260258"/>
          </a:xfrm>
          <a:prstGeom prst="rect">
            <a:avLst/>
          </a:prstGeom>
        </p:spPr>
      </p:pic>
      <p:cxnSp>
        <p:nvCxnSpPr>
          <p:cNvPr id="8" name="Straight Arrow Connector 7">
            <a:extLst>
              <a:ext uri="{FF2B5EF4-FFF2-40B4-BE49-F238E27FC236}">
                <a16:creationId xmlns:a16="http://schemas.microsoft.com/office/drawing/2014/main" id="{7071977B-AD6C-BC8B-0B74-599A2369E0C2}"/>
              </a:ext>
            </a:extLst>
          </p:cNvPr>
          <p:cNvCxnSpPr>
            <a:cxnSpLocks/>
          </p:cNvCxnSpPr>
          <p:nvPr/>
        </p:nvCxnSpPr>
        <p:spPr>
          <a:xfrm>
            <a:off x="1072281" y="2188152"/>
            <a:ext cx="810743" cy="27875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2DA184A-7B9E-4F25-E942-DFA55C4FE7C9}"/>
              </a:ext>
            </a:extLst>
          </p:cNvPr>
          <p:cNvSpPr txBox="1"/>
          <p:nvPr/>
        </p:nvSpPr>
        <p:spPr>
          <a:xfrm>
            <a:off x="496123" y="1846260"/>
            <a:ext cx="684154" cy="369332"/>
          </a:xfrm>
          <a:prstGeom prst="rect">
            <a:avLst/>
          </a:prstGeom>
          <a:noFill/>
        </p:spPr>
        <p:txBody>
          <a:bodyPr wrap="square" rtlCol="0">
            <a:spAutoFit/>
          </a:bodyPr>
          <a:lstStyle/>
          <a:p>
            <a:r>
              <a:rPr lang="en-US" dirty="0"/>
              <a:t>Title</a:t>
            </a:r>
          </a:p>
        </p:txBody>
      </p:sp>
      <p:cxnSp>
        <p:nvCxnSpPr>
          <p:cNvPr id="12" name="Straight Arrow Connector 11">
            <a:extLst>
              <a:ext uri="{FF2B5EF4-FFF2-40B4-BE49-F238E27FC236}">
                <a16:creationId xmlns:a16="http://schemas.microsoft.com/office/drawing/2014/main" id="{7D864154-C42E-4A9A-4D4E-E098D2B617F2}"/>
              </a:ext>
            </a:extLst>
          </p:cNvPr>
          <p:cNvCxnSpPr>
            <a:cxnSpLocks/>
          </p:cNvCxnSpPr>
          <p:nvPr/>
        </p:nvCxnSpPr>
        <p:spPr>
          <a:xfrm flipH="1">
            <a:off x="3354993" y="2005139"/>
            <a:ext cx="908916" cy="46176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EBBB6E4-F433-60BC-6CE5-A2C81914AE01}"/>
              </a:ext>
            </a:extLst>
          </p:cNvPr>
          <p:cNvSpPr txBox="1"/>
          <p:nvPr/>
        </p:nvSpPr>
        <p:spPr>
          <a:xfrm>
            <a:off x="4207446" y="1710458"/>
            <a:ext cx="684154" cy="369332"/>
          </a:xfrm>
          <a:prstGeom prst="rect">
            <a:avLst/>
          </a:prstGeom>
          <a:noFill/>
        </p:spPr>
        <p:txBody>
          <a:bodyPr wrap="square" rtlCol="0">
            <a:spAutoFit/>
          </a:bodyPr>
          <a:lstStyle/>
          <a:p>
            <a:r>
              <a:rPr lang="en-US" dirty="0"/>
              <a:t>Date</a:t>
            </a:r>
          </a:p>
        </p:txBody>
      </p:sp>
      <p:cxnSp>
        <p:nvCxnSpPr>
          <p:cNvPr id="15" name="Straight Arrow Connector 14">
            <a:extLst>
              <a:ext uri="{FF2B5EF4-FFF2-40B4-BE49-F238E27FC236}">
                <a16:creationId xmlns:a16="http://schemas.microsoft.com/office/drawing/2014/main" id="{8E012D91-D0D1-093C-4D89-BC2D91270B86}"/>
              </a:ext>
            </a:extLst>
          </p:cNvPr>
          <p:cNvCxnSpPr>
            <a:cxnSpLocks/>
          </p:cNvCxnSpPr>
          <p:nvPr/>
        </p:nvCxnSpPr>
        <p:spPr>
          <a:xfrm flipH="1">
            <a:off x="3956919" y="2168382"/>
            <a:ext cx="1066201" cy="35773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91E2C29-6F97-67DB-9F21-F69C555C9B78}"/>
              </a:ext>
            </a:extLst>
          </p:cNvPr>
          <p:cNvSpPr txBox="1"/>
          <p:nvPr/>
        </p:nvSpPr>
        <p:spPr>
          <a:xfrm>
            <a:off x="4966656" y="1873701"/>
            <a:ext cx="1066201" cy="369332"/>
          </a:xfrm>
          <a:prstGeom prst="rect">
            <a:avLst/>
          </a:prstGeom>
          <a:noFill/>
        </p:spPr>
        <p:txBody>
          <a:bodyPr wrap="square" rtlCol="0">
            <a:spAutoFit/>
          </a:bodyPr>
          <a:lstStyle/>
          <a:p>
            <a:r>
              <a:rPr lang="en-US" dirty="0"/>
              <a:t>Endnote</a:t>
            </a:r>
          </a:p>
        </p:txBody>
      </p:sp>
      <p:cxnSp>
        <p:nvCxnSpPr>
          <p:cNvPr id="19" name="Straight Arrow Connector 18">
            <a:extLst>
              <a:ext uri="{FF2B5EF4-FFF2-40B4-BE49-F238E27FC236}">
                <a16:creationId xmlns:a16="http://schemas.microsoft.com/office/drawing/2014/main" id="{9EC2F6BE-1D44-45A5-80E9-85D5F33C61F9}"/>
              </a:ext>
            </a:extLst>
          </p:cNvPr>
          <p:cNvCxnSpPr>
            <a:cxnSpLocks/>
          </p:cNvCxnSpPr>
          <p:nvPr/>
        </p:nvCxnSpPr>
        <p:spPr>
          <a:xfrm flipH="1">
            <a:off x="9571597" y="2215592"/>
            <a:ext cx="493381" cy="61611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ADD8E98-7A4B-4568-F8EF-81ED7D04371B}"/>
              </a:ext>
            </a:extLst>
          </p:cNvPr>
          <p:cNvSpPr txBox="1"/>
          <p:nvPr/>
        </p:nvSpPr>
        <p:spPr>
          <a:xfrm>
            <a:off x="9780141" y="1570305"/>
            <a:ext cx="929248" cy="646331"/>
          </a:xfrm>
          <a:prstGeom prst="rect">
            <a:avLst/>
          </a:prstGeom>
          <a:noFill/>
        </p:spPr>
        <p:txBody>
          <a:bodyPr wrap="square" rtlCol="0">
            <a:spAutoFit/>
          </a:bodyPr>
          <a:lstStyle/>
          <a:p>
            <a:r>
              <a:rPr lang="en-US" dirty="0"/>
              <a:t>Column headers</a:t>
            </a:r>
          </a:p>
        </p:txBody>
      </p:sp>
      <p:cxnSp>
        <p:nvCxnSpPr>
          <p:cNvPr id="22" name="Straight Arrow Connector 21">
            <a:extLst>
              <a:ext uri="{FF2B5EF4-FFF2-40B4-BE49-F238E27FC236}">
                <a16:creationId xmlns:a16="http://schemas.microsoft.com/office/drawing/2014/main" id="{6AEA5DA0-9D87-9817-C839-F6779AF4ABBB}"/>
              </a:ext>
            </a:extLst>
          </p:cNvPr>
          <p:cNvCxnSpPr>
            <a:cxnSpLocks/>
          </p:cNvCxnSpPr>
          <p:nvPr/>
        </p:nvCxnSpPr>
        <p:spPr>
          <a:xfrm>
            <a:off x="10134569" y="2215592"/>
            <a:ext cx="387054" cy="6110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FFFA484-040D-726C-B17B-349E6E0294B7}"/>
              </a:ext>
            </a:extLst>
          </p:cNvPr>
          <p:cNvCxnSpPr>
            <a:cxnSpLocks/>
          </p:cNvCxnSpPr>
          <p:nvPr/>
        </p:nvCxnSpPr>
        <p:spPr>
          <a:xfrm>
            <a:off x="774905" y="3208773"/>
            <a:ext cx="297376" cy="30443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C120830-E64A-E2C8-626E-EF7D2D02EDDD}"/>
              </a:ext>
            </a:extLst>
          </p:cNvPr>
          <p:cNvSpPr txBox="1"/>
          <p:nvPr/>
        </p:nvSpPr>
        <p:spPr>
          <a:xfrm>
            <a:off x="198747" y="2866881"/>
            <a:ext cx="684154" cy="646331"/>
          </a:xfrm>
          <a:prstGeom prst="rect">
            <a:avLst/>
          </a:prstGeom>
          <a:noFill/>
        </p:spPr>
        <p:txBody>
          <a:bodyPr wrap="square" rtlCol="0">
            <a:spAutoFit/>
          </a:bodyPr>
          <a:lstStyle/>
          <a:p>
            <a:r>
              <a:rPr lang="en-US" dirty="0"/>
              <a:t>Total row</a:t>
            </a:r>
          </a:p>
        </p:txBody>
      </p:sp>
      <p:cxnSp>
        <p:nvCxnSpPr>
          <p:cNvPr id="30" name="Straight Arrow Connector 29">
            <a:extLst>
              <a:ext uri="{FF2B5EF4-FFF2-40B4-BE49-F238E27FC236}">
                <a16:creationId xmlns:a16="http://schemas.microsoft.com/office/drawing/2014/main" id="{C72E3BE9-55DC-4F89-1FFF-F63E7823F879}"/>
              </a:ext>
            </a:extLst>
          </p:cNvPr>
          <p:cNvCxnSpPr>
            <a:cxnSpLocks/>
          </p:cNvCxnSpPr>
          <p:nvPr/>
        </p:nvCxnSpPr>
        <p:spPr>
          <a:xfrm flipV="1">
            <a:off x="496123" y="4506216"/>
            <a:ext cx="747198" cy="127973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146164C-0895-A706-A721-E0965C6FA83E}"/>
              </a:ext>
            </a:extLst>
          </p:cNvPr>
          <p:cNvSpPr txBox="1"/>
          <p:nvPr/>
        </p:nvSpPr>
        <p:spPr>
          <a:xfrm>
            <a:off x="95980" y="5700020"/>
            <a:ext cx="3241892" cy="369332"/>
          </a:xfrm>
          <a:prstGeom prst="rect">
            <a:avLst/>
          </a:prstGeom>
          <a:noFill/>
        </p:spPr>
        <p:txBody>
          <a:bodyPr wrap="square" rtlCol="0">
            <a:spAutoFit/>
          </a:bodyPr>
          <a:lstStyle/>
          <a:p>
            <a:r>
              <a:rPr lang="en-US" dirty="0"/>
              <a:t>Indentation (to show hierarchy)</a:t>
            </a:r>
          </a:p>
        </p:txBody>
      </p:sp>
    </p:spTree>
    <p:extLst>
      <p:ext uri="{BB962C8B-B14F-4D97-AF65-F5344CB8AC3E}">
        <p14:creationId xmlns:p14="http://schemas.microsoft.com/office/powerpoint/2010/main" val="276227248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17630-2D01-8AD7-3170-DD88C3C3939C}"/>
              </a:ext>
            </a:extLst>
          </p:cNvPr>
          <p:cNvSpPr>
            <a:spLocks noGrp="1"/>
          </p:cNvSpPr>
          <p:nvPr>
            <p:ph type="title"/>
          </p:nvPr>
        </p:nvSpPr>
        <p:spPr/>
        <p:txBody>
          <a:bodyPr/>
          <a:lstStyle/>
          <a:p>
            <a:r>
              <a:rPr lang="en-US" dirty="0" err="1"/>
              <a:t>LaTable</a:t>
            </a:r>
            <a:endParaRPr lang="en-US" dirty="0"/>
          </a:p>
        </p:txBody>
      </p:sp>
      <p:pic>
        <p:nvPicPr>
          <p:cNvPr id="5" name="Picture 4">
            <a:extLst>
              <a:ext uri="{FF2B5EF4-FFF2-40B4-BE49-F238E27FC236}">
                <a16:creationId xmlns:a16="http://schemas.microsoft.com/office/drawing/2014/main" id="{02219669-8AA0-DD72-423F-13424BBEC5A3}"/>
              </a:ext>
            </a:extLst>
          </p:cNvPr>
          <p:cNvPicPr>
            <a:picLocks noChangeAspect="1"/>
          </p:cNvPicPr>
          <p:nvPr/>
        </p:nvPicPr>
        <p:blipFill>
          <a:blip r:embed="rId3"/>
          <a:stretch>
            <a:fillRect/>
          </a:stretch>
        </p:blipFill>
        <p:spPr>
          <a:xfrm>
            <a:off x="0" y="1690688"/>
            <a:ext cx="12192000" cy="2241426"/>
          </a:xfrm>
          <a:prstGeom prst="rect">
            <a:avLst/>
          </a:prstGeom>
        </p:spPr>
      </p:pic>
    </p:spTree>
    <p:extLst>
      <p:ext uri="{BB962C8B-B14F-4D97-AF65-F5344CB8AC3E}">
        <p14:creationId xmlns:p14="http://schemas.microsoft.com/office/powerpoint/2010/main" val="270479071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710CB-663C-B67C-77DE-49177754A309}"/>
              </a:ext>
            </a:extLst>
          </p:cNvPr>
          <p:cNvSpPr>
            <a:spLocks noGrp="1"/>
          </p:cNvSpPr>
          <p:nvPr>
            <p:ph type="title"/>
          </p:nvPr>
        </p:nvSpPr>
        <p:spPr/>
        <p:txBody>
          <a:bodyPr/>
          <a:lstStyle/>
          <a:p>
            <a:r>
              <a:rPr lang="en-US" dirty="0" err="1"/>
              <a:t>LaTable</a:t>
            </a:r>
            <a:endParaRPr lang="en-US" dirty="0"/>
          </a:p>
        </p:txBody>
      </p:sp>
      <p:sp>
        <p:nvSpPr>
          <p:cNvPr id="3" name="Content Placeholder 2">
            <a:extLst>
              <a:ext uri="{FF2B5EF4-FFF2-40B4-BE49-F238E27FC236}">
                <a16:creationId xmlns:a16="http://schemas.microsoft.com/office/drawing/2014/main" id="{976A30A8-100B-0304-AF72-F96A0E40BE65}"/>
              </a:ext>
            </a:extLst>
          </p:cNvPr>
          <p:cNvSpPr>
            <a:spLocks noGrp="1"/>
          </p:cNvSpPr>
          <p:nvPr>
            <p:ph idx="1"/>
          </p:nvPr>
        </p:nvSpPr>
        <p:spPr/>
        <p:txBody>
          <a:bodyPr>
            <a:normAutofit/>
          </a:bodyPr>
          <a:lstStyle/>
          <a:p>
            <a:pPr marL="0" indent="0">
              <a:buNone/>
            </a:pPr>
            <a:r>
              <a:rPr lang="en-US" sz="1600" dirty="0" err="1">
                <a:latin typeface="Courier New" panose="02070309020205020404" pitchFamily="49" charset="0"/>
                <a:cs typeface="Courier New" panose="02070309020205020404" pitchFamily="49" charset="0"/>
              </a:rPr>
              <a:t>latable</a:t>
            </a:r>
            <a:r>
              <a:rPr lang="en-US" sz="1600" dirty="0">
                <a:latin typeface="Courier New" panose="02070309020205020404" pitchFamily="49" charset="0"/>
                <a:cs typeface="Courier New" panose="02070309020205020404" pitchFamily="49" charset="0"/>
              </a:rPr>
              <a:t> using "Z:/LaTeX Tables/ACS 2020-24 Reports/Table </a:t>
            </a:r>
            <a:r>
              <a:rPr lang="en-US" sz="1600" dirty="0" err="1">
                <a:latin typeface="Courier New" panose="02070309020205020404" pitchFamily="49" charset="0"/>
                <a:cs typeface="Courier New" panose="02070309020205020404" pitchFamily="49" charset="0"/>
              </a:rPr>
              <a:t>Templates.dta</a:t>
            </a:r>
            <a:r>
              <a:rPr lang="en-US" sz="1600" dirty="0">
                <a:latin typeface="Courier New" panose="02070309020205020404" pitchFamily="49" charset="0"/>
                <a:cs typeface="Courier New" panose="02070309020205020404" pitchFamily="49" charset="0"/>
              </a:rPr>
              <a:t>", table(PlaceBirth2) </a:t>
            </a:r>
            <a:r>
              <a:rPr lang="en-US" sz="1600" dirty="0" err="1">
                <a:latin typeface="Courier New" panose="02070309020205020404" pitchFamily="49" charset="0"/>
                <a:cs typeface="Courier New" panose="02070309020205020404" pitchFamily="49" charset="0"/>
              </a:rPr>
              <a:t>rowcolors</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nnLtGray</a:t>
            </a:r>
            <a:r>
              <a:rPr lang="en-US" sz="1600" dirty="0">
                <a:latin typeface="Courier New" panose="02070309020205020404" pitchFamily="49" charset="0"/>
                <a:cs typeface="Courier New" panose="02070309020205020404" pitchFamily="49" charset="0"/>
              </a:rPr>
              <a:t> white) n(`</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printdate</a:t>
            </a:r>
            <a:r>
              <a:rPr lang="en-US" sz="1600" dirty="0">
                <a:latin typeface="Courier New" panose="02070309020205020404" pitchFamily="49" charset="0"/>
                <a:cs typeface="Courier New" panose="02070309020205020404" pitchFamily="49" charset="0"/>
              </a:rPr>
              <a:t>(2020-24)</a:t>
            </a:r>
          </a:p>
          <a:p>
            <a:endParaRPr lang="en-US" sz="1600" dirty="0"/>
          </a:p>
        </p:txBody>
      </p:sp>
      <p:cxnSp>
        <p:nvCxnSpPr>
          <p:cNvPr id="4" name="Straight Arrow Connector 3">
            <a:extLst>
              <a:ext uri="{FF2B5EF4-FFF2-40B4-BE49-F238E27FC236}">
                <a16:creationId xmlns:a16="http://schemas.microsoft.com/office/drawing/2014/main" id="{FF3BC731-F60B-B5BA-323C-BF6D108D3624}"/>
              </a:ext>
            </a:extLst>
          </p:cNvPr>
          <p:cNvCxnSpPr>
            <a:cxnSpLocks/>
          </p:cNvCxnSpPr>
          <p:nvPr/>
        </p:nvCxnSpPr>
        <p:spPr>
          <a:xfrm flipH="1">
            <a:off x="7903969" y="1467895"/>
            <a:ext cx="1066201" cy="35773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14E8CA8-596A-B233-88B4-223B01752800}"/>
              </a:ext>
            </a:extLst>
          </p:cNvPr>
          <p:cNvSpPr txBox="1"/>
          <p:nvPr/>
        </p:nvSpPr>
        <p:spPr>
          <a:xfrm>
            <a:off x="8913706" y="1173214"/>
            <a:ext cx="2309074" cy="646331"/>
          </a:xfrm>
          <a:prstGeom prst="rect">
            <a:avLst/>
          </a:prstGeom>
          <a:noFill/>
        </p:spPr>
        <p:txBody>
          <a:bodyPr wrap="square" rtlCol="0">
            <a:spAutoFit/>
          </a:bodyPr>
          <a:lstStyle/>
          <a:p>
            <a:r>
              <a:rPr lang="en-US" dirty="0"/>
              <a:t>Path to table templates file</a:t>
            </a:r>
          </a:p>
        </p:txBody>
      </p:sp>
      <p:cxnSp>
        <p:nvCxnSpPr>
          <p:cNvPr id="6" name="Straight Arrow Connector 5">
            <a:extLst>
              <a:ext uri="{FF2B5EF4-FFF2-40B4-BE49-F238E27FC236}">
                <a16:creationId xmlns:a16="http://schemas.microsoft.com/office/drawing/2014/main" id="{E4FA2E8C-2AB3-42BF-BC23-9DE0FE53D2CC}"/>
              </a:ext>
            </a:extLst>
          </p:cNvPr>
          <p:cNvCxnSpPr>
            <a:cxnSpLocks/>
          </p:cNvCxnSpPr>
          <p:nvPr/>
        </p:nvCxnSpPr>
        <p:spPr>
          <a:xfrm flipV="1">
            <a:off x="2260759" y="2361652"/>
            <a:ext cx="0" cy="5066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68F4F4F-ED88-E30D-F202-A4EDAC0397B9}"/>
              </a:ext>
            </a:extLst>
          </p:cNvPr>
          <p:cNvSpPr txBox="1"/>
          <p:nvPr/>
        </p:nvSpPr>
        <p:spPr>
          <a:xfrm>
            <a:off x="1691701" y="2868316"/>
            <a:ext cx="1446204" cy="646331"/>
          </a:xfrm>
          <a:prstGeom prst="rect">
            <a:avLst/>
          </a:prstGeom>
          <a:noFill/>
        </p:spPr>
        <p:txBody>
          <a:bodyPr wrap="square" rtlCol="0">
            <a:spAutoFit/>
          </a:bodyPr>
          <a:lstStyle/>
          <a:p>
            <a:pPr algn="ctr"/>
            <a:r>
              <a:rPr lang="en-US" dirty="0"/>
              <a:t>Name in template file</a:t>
            </a:r>
          </a:p>
        </p:txBody>
      </p:sp>
      <p:cxnSp>
        <p:nvCxnSpPr>
          <p:cNvPr id="10" name="Straight Arrow Connector 9">
            <a:extLst>
              <a:ext uri="{FF2B5EF4-FFF2-40B4-BE49-F238E27FC236}">
                <a16:creationId xmlns:a16="http://schemas.microsoft.com/office/drawing/2014/main" id="{3C6EDF09-E75E-7B03-1127-0F0B119B4D38}"/>
              </a:ext>
            </a:extLst>
          </p:cNvPr>
          <p:cNvCxnSpPr>
            <a:cxnSpLocks/>
          </p:cNvCxnSpPr>
          <p:nvPr/>
        </p:nvCxnSpPr>
        <p:spPr>
          <a:xfrm flipV="1">
            <a:off x="4432733" y="2361652"/>
            <a:ext cx="0" cy="5066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1E57A33-8336-A693-6037-BB5953827E91}"/>
              </a:ext>
            </a:extLst>
          </p:cNvPr>
          <p:cNvSpPr txBox="1"/>
          <p:nvPr/>
        </p:nvSpPr>
        <p:spPr>
          <a:xfrm>
            <a:off x="3802326" y="2868316"/>
            <a:ext cx="1138066" cy="923330"/>
          </a:xfrm>
          <a:prstGeom prst="rect">
            <a:avLst/>
          </a:prstGeom>
          <a:noFill/>
        </p:spPr>
        <p:txBody>
          <a:bodyPr wrap="square" rtlCol="0">
            <a:spAutoFit/>
          </a:bodyPr>
          <a:lstStyle/>
          <a:p>
            <a:pPr algn="ctr"/>
            <a:r>
              <a:rPr lang="en-US" dirty="0"/>
              <a:t>(optional)</a:t>
            </a:r>
            <a:br>
              <a:rPr lang="en-US" dirty="0"/>
            </a:br>
            <a:r>
              <a:rPr lang="en-US" dirty="0"/>
              <a:t>interleave</a:t>
            </a:r>
          </a:p>
          <a:p>
            <a:r>
              <a:rPr lang="en-US" dirty="0"/>
              <a:t>colors</a:t>
            </a:r>
          </a:p>
        </p:txBody>
      </p:sp>
      <p:cxnSp>
        <p:nvCxnSpPr>
          <p:cNvPr id="15" name="Straight Arrow Connector 14">
            <a:extLst>
              <a:ext uri="{FF2B5EF4-FFF2-40B4-BE49-F238E27FC236}">
                <a16:creationId xmlns:a16="http://schemas.microsoft.com/office/drawing/2014/main" id="{600C4311-77C2-41A6-57A9-E844147DBD26}"/>
              </a:ext>
            </a:extLst>
          </p:cNvPr>
          <p:cNvCxnSpPr>
            <a:cxnSpLocks/>
          </p:cNvCxnSpPr>
          <p:nvPr/>
        </p:nvCxnSpPr>
        <p:spPr>
          <a:xfrm flipV="1">
            <a:off x="8604546" y="2361652"/>
            <a:ext cx="0" cy="5066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82CDE09-CF5D-C7C8-D34E-CE4D2F983F01}"/>
              </a:ext>
            </a:extLst>
          </p:cNvPr>
          <p:cNvSpPr txBox="1"/>
          <p:nvPr/>
        </p:nvSpPr>
        <p:spPr>
          <a:xfrm>
            <a:off x="7974139" y="2868316"/>
            <a:ext cx="1138066" cy="1200329"/>
          </a:xfrm>
          <a:prstGeom prst="rect">
            <a:avLst/>
          </a:prstGeom>
          <a:noFill/>
        </p:spPr>
        <p:txBody>
          <a:bodyPr wrap="square" rtlCol="0">
            <a:spAutoFit/>
          </a:bodyPr>
          <a:lstStyle/>
          <a:p>
            <a:pPr algn="ctr"/>
            <a:r>
              <a:rPr lang="en-US" dirty="0"/>
              <a:t>(optional)</a:t>
            </a:r>
            <a:br>
              <a:rPr lang="en-US" dirty="0"/>
            </a:br>
            <a:r>
              <a:rPr lang="en-US" dirty="0"/>
              <a:t>Add data dates to table title</a:t>
            </a:r>
          </a:p>
        </p:txBody>
      </p:sp>
      <p:cxnSp>
        <p:nvCxnSpPr>
          <p:cNvPr id="17" name="Straight Arrow Connector 16">
            <a:extLst>
              <a:ext uri="{FF2B5EF4-FFF2-40B4-BE49-F238E27FC236}">
                <a16:creationId xmlns:a16="http://schemas.microsoft.com/office/drawing/2014/main" id="{3316F9E8-1DCA-473A-0E32-F0AF8333EB60}"/>
              </a:ext>
            </a:extLst>
          </p:cNvPr>
          <p:cNvCxnSpPr>
            <a:cxnSpLocks/>
          </p:cNvCxnSpPr>
          <p:nvPr/>
        </p:nvCxnSpPr>
        <p:spPr>
          <a:xfrm flipV="1">
            <a:off x="6740710" y="2448268"/>
            <a:ext cx="0" cy="5066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89BD30E-3B5F-F86E-9D2B-2E79F6F9C19D}"/>
              </a:ext>
            </a:extLst>
          </p:cNvPr>
          <p:cNvSpPr txBox="1"/>
          <p:nvPr/>
        </p:nvSpPr>
        <p:spPr>
          <a:xfrm>
            <a:off x="6171652" y="2954932"/>
            <a:ext cx="1446204" cy="1477328"/>
          </a:xfrm>
          <a:prstGeom prst="rect">
            <a:avLst/>
          </a:prstGeom>
          <a:noFill/>
        </p:spPr>
        <p:txBody>
          <a:bodyPr wrap="square" rtlCol="0">
            <a:spAutoFit/>
          </a:bodyPr>
          <a:lstStyle/>
          <a:p>
            <a:pPr algn="ctr"/>
            <a:r>
              <a:rPr lang="en-US" dirty="0"/>
              <a:t>Which observation?</a:t>
            </a:r>
            <a:br>
              <a:rPr lang="en-US" dirty="0"/>
            </a:br>
            <a:r>
              <a:rPr lang="en-US" dirty="0"/>
              <a:t>(looping</a:t>
            </a:r>
            <a:br>
              <a:rPr lang="en-US" dirty="0"/>
            </a:br>
            <a:r>
              <a:rPr lang="en-US" dirty="0"/>
              <a:t>through</a:t>
            </a:r>
          </a:p>
          <a:p>
            <a:pPr algn="ctr"/>
            <a:r>
              <a:rPr lang="en-US" dirty="0"/>
              <a:t>records)</a:t>
            </a:r>
          </a:p>
        </p:txBody>
      </p:sp>
    </p:spTree>
    <p:extLst>
      <p:ext uri="{BB962C8B-B14F-4D97-AF65-F5344CB8AC3E}">
        <p14:creationId xmlns:p14="http://schemas.microsoft.com/office/powerpoint/2010/main" val="287454417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ECB31-A9F3-C446-F970-7AA1ECB84721}"/>
              </a:ext>
            </a:extLst>
          </p:cNvPr>
          <p:cNvSpPr>
            <a:spLocks noGrp="1"/>
          </p:cNvSpPr>
          <p:nvPr>
            <p:ph type="title"/>
          </p:nvPr>
        </p:nvSpPr>
        <p:spPr/>
        <p:txBody>
          <a:bodyPr/>
          <a:lstStyle/>
          <a:p>
            <a:r>
              <a:rPr lang="en-US" dirty="0" err="1"/>
              <a:t>LaTable</a:t>
            </a:r>
            <a:endParaRPr lang="en-US" dirty="0"/>
          </a:p>
        </p:txBody>
      </p:sp>
      <p:pic>
        <p:nvPicPr>
          <p:cNvPr id="7" name="Content Placeholder 6">
            <a:extLst>
              <a:ext uri="{FF2B5EF4-FFF2-40B4-BE49-F238E27FC236}">
                <a16:creationId xmlns:a16="http://schemas.microsoft.com/office/drawing/2014/main" id="{2E2B0FA3-CEEA-4F68-8029-54250CE0E54F}"/>
              </a:ext>
            </a:extLst>
          </p:cNvPr>
          <p:cNvPicPr>
            <a:picLocks noGrp="1" noChangeAspect="1"/>
          </p:cNvPicPr>
          <p:nvPr>
            <p:ph idx="1"/>
          </p:nvPr>
        </p:nvPicPr>
        <p:blipFill>
          <a:blip r:embed="rId3"/>
          <a:stretch>
            <a:fillRect/>
          </a:stretch>
        </p:blipFill>
        <p:spPr>
          <a:xfrm>
            <a:off x="202543" y="1833794"/>
            <a:ext cx="11989457" cy="3408902"/>
          </a:xfrm>
          <a:prstGeom prst="rect">
            <a:avLst/>
          </a:prstGeom>
        </p:spPr>
      </p:pic>
    </p:spTree>
    <p:extLst>
      <p:ext uri="{BB962C8B-B14F-4D97-AF65-F5344CB8AC3E}">
        <p14:creationId xmlns:p14="http://schemas.microsoft.com/office/powerpoint/2010/main" val="201358633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21C6A-DFB7-3131-5252-3EB36A4B1E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333D51-54DA-7DD5-944C-83E251DBA4BD}"/>
              </a:ext>
            </a:extLst>
          </p:cNvPr>
          <p:cNvSpPr>
            <a:spLocks noGrp="1"/>
          </p:cNvSpPr>
          <p:nvPr>
            <p:ph type="title"/>
          </p:nvPr>
        </p:nvSpPr>
        <p:spPr/>
        <p:txBody>
          <a:bodyPr/>
          <a:lstStyle/>
          <a:p>
            <a:r>
              <a:rPr lang="en-US" dirty="0" err="1"/>
              <a:t>LaTable</a:t>
            </a:r>
            <a:endParaRPr lang="en-US" dirty="0"/>
          </a:p>
        </p:txBody>
      </p:sp>
      <p:pic>
        <p:nvPicPr>
          <p:cNvPr id="5" name="Content Placeholder 4">
            <a:extLst>
              <a:ext uri="{FF2B5EF4-FFF2-40B4-BE49-F238E27FC236}">
                <a16:creationId xmlns:a16="http://schemas.microsoft.com/office/drawing/2014/main" id="{05520F33-CEEE-5B9A-4BA8-094B2054E07E}"/>
              </a:ext>
            </a:extLst>
          </p:cNvPr>
          <p:cNvPicPr>
            <a:picLocks noGrp="1" noChangeAspect="1"/>
          </p:cNvPicPr>
          <p:nvPr>
            <p:ph idx="1"/>
          </p:nvPr>
        </p:nvPicPr>
        <p:blipFill>
          <a:blip r:embed="rId3"/>
          <a:stretch>
            <a:fillRect/>
          </a:stretch>
        </p:blipFill>
        <p:spPr>
          <a:xfrm>
            <a:off x="838200" y="2371165"/>
            <a:ext cx="10515600" cy="3260258"/>
          </a:xfrm>
          <a:prstGeom prst="rect">
            <a:avLst/>
          </a:prstGeom>
        </p:spPr>
      </p:pic>
    </p:spTree>
    <p:extLst>
      <p:ext uri="{BB962C8B-B14F-4D97-AF65-F5344CB8AC3E}">
        <p14:creationId xmlns:p14="http://schemas.microsoft.com/office/powerpoint/2010/main" val="56491142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704027-7866-9DA0-7592-BCD20784F2CE}"/>
              </a:ext>
            </a:extLst>
          </p:cNvPr>
          <p:cNvPicPr>
            <a:picLocks noChangeAspect="1"/>
          </p:cNvPicPr>
          <p:nvPr/>
        </p:nvPicPr>
        <p:blipFill>
          <a:blip r:embed="rId3"/>
          <a:stretch>
            <a:fillRect/>
          </a:stretch>
        </p:blipFill>
        <p:spPr>
          <a:xfrm>
            <a:off x="351775" y="0"/>
            <a:ext cx="7067753" cy="6858000"/>
          </a:xfrm>
          <a:prstGeom prst="rect">
            <a:avLst/>
          </a:prstGeom>
        </p:spPr>
      </p:pic>
      <p:sp>
        <p:nvSpPr>
          <p:cNvPr id="3" name="TextBox 2">
            <a:extLst>
              <a:ext uri="{FF2B5EF4-FFF2-40B4-BE49-F238E27FC236}">
                <a16:creationId xmlns:a16="http://schemas.microsoft.com/office/drawing/2014/main" id="{2E8181FB-20CC-9E64-1B43-2FDAE578AAF6}"/>
              </a:ext>
            </a:extLst>
          </p:cNvPr>
          <p:cNvSpPr txBox="1"/>
          <p:nvPr/>
        </p:nvSpPr>
        <p:spPr>
          <a:xfrm>
            <a:off x="7419528" y="2502265"/>
            <a:ext cx="4559770" cy="646331"/>
          </a:xfrm>
          <a:prstGeom prst="rect">
            <a:avLst/>
          </a:prstGeom>
          <a:noFill/>
        </p:spPr>
        <p:txBody>
          <a:bodyPr wrap="square">
            <a:spAutoFit/>
          </a:bodyPr>
          <a:lstStyle/>
          <a:p>
            <a:r>
              <a:rPr lang="en-US" dirty="0"/>
              <a:t>https://ctdatahaven.org/profiles/connecticut-city-neighborhood-profiles/</a:t>
            </a:r>
          </a:p>
        </p:txBody>
      </p:sp>
    </p:spTree>
    <p:extLst>
      <p:ext uri="{BB962C8B-B14F-4D97-AF65-F5344CB8AC3E}">
        <p14:creationId xmlns:p14="http://schemas.microsoft.com/office/powerpoint/2010/main" val="242003368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2C8AC0-6E8F-469C-2FCD-BD57DCF0C941}"/>
              </a:ext>
            </a:extLst>
          </p:cNvPr>
          <p:cNvPicPr>
            <a:picLocks noChangeAspect="1"/>
          </p:cNvPicPr>
          <p:nvPr/>
        </p:nvPicPr>
        <p:blipFill>
          <a:blip r:embed="rId3"/>
          <a:srcRect t="1" b="36960"/>
          <a:stretch>
            <a:fillRect/>
          </a:stretch>
        </p:blipFill>
        <p:spPr>
          <a:xfrm>
            <a:off x="60117" y="0"/>
            <a:ext cx="12071765" cy="6755980"/>
          </a:xfrm>
          <a:prstGeom prst="rect">
            <a:avLst/>
          </a:prstGeom>
        </p:spPr>
      </p:pic>
    </p:spTree>
    <p:extLst>
      <p:ext uri="{BB962C8B-B14F-4D97-AF65-F5344CB8AC3E}">
        <p14:creationId xmlns:p14="http://schemas.microsoft.com/office/powerpoint/2010/main" val="42823206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829A40-70FF-A15C-9225-8885EA4039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4094" y="0"/>
            <a:ext cx="5257353" cy="6858000"/>
          </a:xfrm>
          <a:prstGeom prst="rect">
            <a:avLst/>
          </a:prstGeom>
        </p:spPr>
      </p:pic>
      <p:pic>
        <p:nvPicPr>
          <p:cNvPr id="7" name="Picture 6">
            <a:extLst>
              <a:ext uri="{FF2B5EF4-FFF2-40B4-BE49-F238E27FC236}">
                <a16:creationId xmlns:a16="http://schemas.microsoft.com/office/drawing/2014/main" id="{8B95C3EC-D84F-B900-259C-E79CB05D0A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96430" y="1905000"/>
            <a:ext cx="2286000" cy="1524000"/>
          </a:xfrm>
          <a:prstGeom prst="rect">
            <a:avLst/>
          </a:prstGeom>
        </p:spPr>
      </p:pic>
    </p:spTree>
    <p:extLst>
      <p:ext uri="{BB962C8B-B14F-4D97-AF65-F5344CB8AC3E}">
        <p14:creationId xmlns:p14="http://schemas.microsoft.com/office/powerpoint/2010/main" val="55723992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649BF-2D87-916F-DA92-A44C224483F0}"/>
              </a:ext>
            </a:extLst>
          </p:cNvPr>
          <p:cNvPicPr>
            <a:picLocks noChangeAspect="1"/>
          </p:cNvPicPr>
          <p:nvPr/>
        </p:nvPicPr>
        <p:blipFill>
          <a:blip r:embed="rId3"/>
          <a:stretch>
            <a:fillRect/>
          </a:stretch>
        </p:blipFill>
        <p:spPr>
          <a:xfrm>
            <a:off x="1709615" y="0"/>
            <a:ext cx="8772769" cy="6858000"/>
          </a:xfrm>
          <a:prstGeom prst="rect">
            <a:avLst/>
          </a:prstGeom>
        </p:spPr>
      </p:pic>
    </p:spTree>
    <p:extLst>
      <p:ext uri="{BB962C8B-B14F-4D97-AF65-F5344CB8AC3E}">
        <p14:creationId xmlns:p14="http://schemas.microsoft.com/office/powerpoint/2010/main" val="341811453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124C548-EF6F-99B6-59C7-42DFAD28C98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4214448" cy="3924371"/>
          </a:xfrm>
        </p:spPr>
      </p:pic>
      <p:pic>
        <p:nvPicPr>
          <p:cNvPr id="7" name="Picture 6">
            <a:extLst>
              <a:ext uri="{FF2B5EF4-FFF2-40B4-BE49-F238E27FC236}">
                <a16:creationId xmlns:a16="http://schemas.microsoft.com/office/drawing/2014/main" id="{DF0F7830-8811-3EDA-4124-FFEF16346B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09783" y="2556429"/>
            <a:ext cx="4214448" cy="3924371"/>
          </a:xfrm>
          <a:prstGeom prst="rect">
            <a:avLst/>
          </a:prstGeom>
        </p:spPr>
      </p:pic>
      <p:pic>
        <p:nvPicPr>
          <p:cNvPr id="3" name="Picture 2">
            <a:extLst>
              <a:ext uri="{FF2B5EF4-FFF2-40B4-BE49-F238E27FC236}">
                <a16:creationId xmlns:a16="http://schemas.microsoft.com/office/drawing/2014/main" id="{F9736210-41E8-1141-EEFF-35497091891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733684" y="98242"/>
            <a:ext cx="4214447" cy="3924371"/>
          </a:xfrm>
          <a:prstGeom prst="rect">
            <a:avLst/>
          </a:prstGeom>
        </p:spPr>
      </p:pic>
    </p:spTree>
    <p:extLst>
      <p:ext uri="{BB962C8B-B14F-4D97-AF65-F5344CB8AC3E}">
        <p14:creationId xmlns:p14="http://schemas.microsoft.com/office/powerpoint/2010/main" val="343108923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0FC4AC4-BCC7-5294-2A48-810C65AE5689}"/>
              </a:ext>
            </a:extLst>
          </p:cNvPr>
          <p:cNvPicPr>
            <a:picLocks noChangeAspect="1"/>
          </p:cNvPicPr>
          <p:nvPr/>
        </p:nvPicPr>
        <p:blipFill>
          <a:blip r:embed="rId3"/>
          <a:stretch>
            <a:fillRect/>
          </a:stretch>
        </p:blipFill>
        <p:spPr>
          <a:xfrm>
            <a:off x="1798552" y="0"/>
            <a:ext cx="8594896" cy="6858000"/>
          </a:xfrm>
          <a:prstGeom prst="rect">
            <a:avLst/>
          </a:prstGeom>
        </p:spPr>
      </p:pic>
      <p:sp>
        <p:nvSpPr>
          <p:cNvPr id="8" name="TextBox 7">
            <a:extLst>
              <a:ext uri="{FF2B5EF4-FFF2-40B4-BE49-F238E27FC236}">
                <a16:creationId xmlns:a16="http://schemas.microsoft.com/office/drawing/2014/main" id="{E7DE29A6-ABF1-9B4B-DF84-DF9E7F1742EC}"/>
              </a:ext>
            </a:extLst>
          </p:cNvPr>
          <p:cNvSpPr txBox="1"/>
          <p:nvPr/>
        </p:nvSpPr>
        <p:spPr>
          <a:xfrm>
            <a:off x="9098658" y="506321"/>
            <a:ext cx="1945148" cy="369332"/>
          </a:xfrm>
          <a:prstGeom prst="rect">
            <a:avLst/>
          </a:prstGeom>
          <a:noFill/>
        </p:spPr>
        <p:txBody>
          <a:bodyPr wrap="none" rtlCol="0">
            <a:spAutoFit/>
          </a:bodyPr>
          <a:lstStyle/>
          <a:p>
            <a:r>
              <a:rPr lang="en-US" dirty="0"/>
              <a:t>PrepDataHaven.do</a:t>
            </a:r>
          </a:p>
        </p:txBody>
      </p:sp>
    </p:spTree>
    <p:extLst>
      <p:ext uri="{BB962C8B-B14F-4D97-AF65-F5344CB8AC3E}">
        <p14:creationId xmlns:p14="http://schemas.microsoft.com/office/powerpoint/2010/main" val="424866580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CC5063-913D-F5D2-5058-AD8CD063FA7E}"/>
              </a:ext>
            </a:extLst>
          </p:cNvPr>
          <p:cNvPicPr>
            <a:picLocks noChangeAspect="1"/>
          </p:cNvPicPr>
          <p:nvPr/>
        </p:nvPicPr>
        <p:blipFill>
          <a:blip r:embed="rId3"/>
          <a:stretch>
            <a:fillRect/>
          </a:stretch>
        </p:blipFill>
        <p:spPr>
          <a:xfrm>
            <a:off x="277326" y="0"/>
            <a:ext cx="11637347" cy="6858000"/>
          </a:xfrm>
          <a:prstGeom prst="rect">
            <a:avLst/>
          </a:prstGeom>
        </p:spPr>
      </p:pic>
      <p:sp>
        <p:nvSpPr>
          <p:cNvPr id="6" name="Rectangle 5">
            <a:extLst>
              <a:ext uri="{FF2B5EF4-FFF2-40B4-BE49-F238E27FC236}">
                <a16:creationId xmlns:a16="http://schemas.microsoft.com/office/drawing/2014/main" id="{6E017C8F-48C7-37AA-87C1-FED132C176A5}"/>
              </a:ext>
            </a:extLst>
          </p:cNvPr>
          <p:cNvSpPr/>
          <p:nvPr/>
        </p:nvSpPr>
        <p:spPr>
          <a:xfrm>
            <a:off x="3030367" y="2758314"/>
            <a:ext cx="3710499" cy="234267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838499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9E46C0-3D7F-2D96-7DA5-A46A057BD4B3}"/>
              </a:ext>
            </a:extLst>
          </p:cNvPr>
          <p:cNvPicPr>
            <a:picLocks noChangeAspect="1"/>
          </p:cNvPicPr>
          <p:nvPr/>
        </p:nvPicPr>
        <p:blipFill>
          <a:blip r:embed="rId3"/>
          <a:stretch>
            <a:fillRect/>
          </a:stretch>
        </p:blipFill>
        <p:spPr>
          <a:xfrm>
            <a:off x="2442410" y="0"/>
            <a:ext cx="7307179" cy="6858000"/>
          </a:xfrm>
          <a:prstGeom prst="rect">
            <a:avLst/>
          </a:prstGeom>
        </p:spPr>
      </p:pic>
      <p:sp>
        <p:nvSpPr>
          <p:cNvPr id="6" name="TextBox 5">
            <a:extLst>
              <a:ext uri="{FF2B5EF4-FFF2-40B4-BE49-F238E27FC236}">
                <a16:creationId xmlns:a16="http://schemas.microsoft.com/office/drawing/2014/main" id="{4C6F8C6B-2FCF-4C62-EA1E-1C247294DA11}"/>
              </a:ext>
            </a:extLst>
          </p:cNvPr>
          <p:cNvSpPr txBox="1"/>
          <p:nvPr/>
        </p:nvSpPr>
        <p:spPr>
          <a:xfrm>
            <a:off x="9098658" y="506321"/>
            <a:ext cx="2210542" cy="369332"/>
          </a:xfrm>
          <a:prstGeom prst="rect">
            <a:avLst/>
          </a:prstGeom>
          <a:noFill/>
        </p:spPr>
        <p:txBody>
          <a:bodyPr wrap="none" rtlCol="0">
            <a:spAutoFit/>
          </a:bodyPr>
          <a:lstStyle/>
          <a:p>
            <a:r>
              <a:rPr lang="en-US" dirty="0"/>
              <a:t>DataHavenProfiles.do</a:t>
            </a:r>
          </a:p>
        </p:txBody>
      </p:sp>
    </p:spTree>
    <p:extLst>
      <p:ext uri="{BB962C8B-B14F-4D97-AF65-F5344CB8AC3E}">
        <p14:creationId xmlns:p14="http://schemas.microsoft.com/office/powerpoint/2010/main" val="243426448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295503-067A-4E4B-9137-FCE9DF9DBDCE}"/>
              </a:ext>
            </a:extLst>
          </p:cNvPr>
          <p:cNvPicPr>
            <a:picLocks noChangeAspect="1"/>
          </p:cNvPicPr>
          <p:nvPr/>
        </p:nvPicPr>
        <p:blipFill>
          <a:blip r:embed="rId3"/>
          <a:stretch>
            <a:fillRect/>
          </a:stretch>
        </p:blipFill>
        <p:spPr>
          <a:xfrm>
            <a:off x="2283657" y="0"/>
            <a:ext cx="7624685" cy="6858000"/>
          </a:xfrm>
          <a:prstGeom prst="rect">
            <a:avLst/>
          </a:prstGeom>
        </p:spPr>
      </p:pic>
    </p:spTree>
    <p:extLst>
      <p:ext uri="{BB962C8B-B14F-4D97-AF65-F5344CB8AC3E}">
        <p14:creationId xmlns:p14="http://schemas.microsoft.com/office/powerpoint/2010/main" val="383238542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EBE58-5DF0-1480-DFD9-F10AE1728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18C37F-6CB5-747E-6482-CF5358354223}"/>
              </a:ext>
            </a:extLst>
          </p:cNvPr>
          <p:cNvSpPr>
            <a:spLocks noGrp="1"/>
          </p:cNvSpPr>
          <p:nvPr>
            <p:ph type="title"/>
          </p:nvPr>
        </p:nvSpPr>
        <p:spPr/>
        <p:txBody>
          <a:bodyPr/>
          <a:lstStyle/>
          <a:p>
            <a:r>
              <a:rPr lang="en-US" dirty="0"/>
              <a:t>GitHub!</a:t>
            </a:r>
          </a:p>
        </p:txBody>
      </p:sp>
      <p:sp>
        <p:nvSpPr>
          <p:cNvPr id="3" name="Content Placeholder 2">
            <a:extLst>
              <a:ext uri="{FF2B5EF4-FFF2-40B4-BE49-F238E27FC236}">
                <a16:creationId xmlns:a16="http://schemas.microsoft.com/office/drawing/2014/main" id="{4306FD93-4D07-E0E4-DDAA-6AAB7E902B02}"/>
              </a:ext>
            </a:extLst>
          </p:cNvPr>
          <p:cNvSpPr>
            <a:spLocks noGrp="1"/>
          </p:cNvSpPr>
          <p:nvPr>
            <p:ph idx="1"/>
          </p:nvPr>
        </p:nvSpPr>
        <p:spPr/>
        <p:txBody>
          <a:bodyPr/>
          <a:lstStyle/>
          <a:p>
            <a:r>
              <a:rPr lang="en-US" dirty="0">
                <a:hlinkClick r:id="rId3"/>
              </a:rPr>
              <a:t>https://github.com/arc-moshe/NNIP-LaTeX</a:t>
            </a:r>
            <a:endParaRPr lang="en-US" dirty="0"/>
          </a:p>
          <a:p>
            <a:pPr lvl="1"/>
            <a:endParaRPr lang="en-US" dirty="0"/>
          </a:p>
          <a:p>
            <a:pPr lvl="1"/>
            <a:r>
              <a:rPr lang="en-US" dirty="0"/>
              <a:t>This deck</a:t>
            </a:r>
          </a:p>
          <a:p>
            <a:pPr lvl="1"/>
            <a:r>
              <a:rPr lang="en-US" dirty="0"/>
              <a:t>Code samples in the deck</a:t>
            </a:r>
          </a:p>
          <a:p>
            <a:pPr lvl="1"/>
            <a:r>
              <a:rPr lang="en-US" dirty="0"/>
              <a:t>The </a:t>
            </a:r>
            <a:r>
              <a:rPr lang="en-US" dirty="0" err="1"/>
              <a:t>LaTable</a:t>
            </a:r>
            <a:r>
              <a:rPr lang="en-US" dirty="0"/>
              <a:t> ado file (and help file)</a:t>
            </a:r>
          </a:p>
          <a:p>
            <a:pPr lvl="1"/>
            <a:r>
              <a:rPr lang="en-US" dirty="0"/>
              <a:t>Sample project with code</a:t>
            </a:r>
          </a:p>
        </p:txBody>
      </p:sp>
    </p:spTree>
    <p:extLst>
      <p:ext uri="{BB962C8B-B14F-4D97-AF65-F5344CB8AC3E}">
        <p14:creationId xmlns:p14="http://schemas.microsoft.com/office/powerpoint/2010/main" val="46747425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BE3F3-75A0-C35E-DFB0-C3D7B8F8FF3D}"/>
              </a:ext>
            </a:extLst>
          </p:cNvPr>
          <p:cNvSpPr>
            <a:spLocks noGrp="1"/>
          </p:cNvSpPr>
          <p:nvPr>
            <p:ph type="title"/>
          </p:nvPr>
        </p:nvSpPr>
        <p:spPr/>
        <p:txBody>
          <a:bodyPr/>
          <a:lstStyle/>
          <a:p>
            <a:r>
              <a:rPr lang="en-US" dirty="0"/>
              <a:t>Want to Learn More?</a:t>
            </a:r>
          </a:p>
        </p:txBody>
      </p:sp>
      <p:sp>
        <p:nvSpPr>
          <p:cNvPr id="3" name="Content Placeholder 2">
            <a:extLst>
              <a:ext uri="{FF2B5EF4-FFF2-40B4-BE49-F238E27FC236}">
                <a16:creationId xmlns:a16="http://schemas.microsoft.com/office/drawing/2014/main" id="{8535B2EC-2455-FC62-AA4D-90DBAD9B64C2}"/>
              </a:ext>
            </a:extLst>
          </p:cNvPr>
          <p:cNvSpPr>
            <a:spLocks noGrp="1"/>
          </p:cNvSpPr>
          <p:nvPr>
            <p:ph idx="1"/>
          </p:nvPr>
        </p:nvSpPr>
        <p:spPr/>
        <p:txBody>
          <a:bodyPr/>
          <a:lstStyle/>
          <a:p>
            <a:r>
              <a:rPr lang="en-US" dirty="0" err="1"/>
              <a:t>Overleaf’s</a:t>
            </a:r>
            <a:r>
              <a:rPr lang="en-US" dirty="0"/>
              <a:t> tutorials: </a:t>
            </a:r>
            <a:r>
              <a:rPr lang="en-US" dirty="0">
                <a:hlinkClick r:id="rId3"/>
              </a:rPr>
              <a:t>https://www.overleaf.com/learn/latex/Tutorials</a:t>
            </a:r>
            <a:r>
              <a:rPr lang="en-US" dirty="0"/>
              <a:t> </a:t>
            </a:r>
          </a:p>
          <a:p>
            <a:endParaRPr lang="en-US" dirty="0"/>
          </a:p>
          <a:p>
            <a:r>
              <a:rPr lang="en-US" dirty="0"/>
              <a:t>A Simple Guide to LaTeX: </a:t>
            </a:r>
            <a:r>
              <a:rPr lang="en-US" dirty="0">
                <a:hlinkClick r:id="rId4"/>
              </a:rPr>
              <a:t>A simple guide to LaTeX - Step by Step - LaTeX-Tutorial.com</a:t>
            </a:r>
            <a:endParaRPr lang="en-US" dirty="0"/>
          </a:p>
          <a:p>
            <a:endParaRPr lang="en-US" dirty="0"/>
          </a:p>
          <a:p>
            <a:r>
              <a:rPr lang="en-US" dirty="0"/>
              <a:t>The Not so Short Introduction to LaTeX: </a:t>
            </a:r>
            <a:r>
              <a:rPr lang="en-US" dirty="0">
                <a:hlinkClick r:id="rId5"/>
              </a:rPr>
              <a:t>http://www.ctan.org/tex-archive/info/lshort/english/lshort.pdf</a:t>
            </a:r>
            <a:r>
              <a:rPr lang="en-US" dirty="0"/>
              <a:t> </a:t>
            </a:r>
          </a:p>
          <a:p>
            <a:endParaRPr lang="en-US" dirty="0"/>
          </a:p>
          <a:p>
            <a:r>
              <a:rPr lang="en-US" dirty="0"/>
              <a:t>LaTeX </a:t>
            </a:r>
            <a:r>
              <a:rPr lang="en-US" dirty="0" err="1"/>
              <a:t>wikibook</a:t>
            </a:r>
            <a:r>
              <a:rPr lang="en-US" dirty="0"/>
              <a:t>: </a:t>
            </a:r>
            <a:r>
              <a:rPr lang="en-US" dirty="0">
                <a:hlinkClick r:id="rId6"/>
              </a:rPr>
              <a:t>https://en.wikibooks.org/wiki/LaTeX</a:t>
            </a:r>
            <a:r>
              <a:rPr lang="en-US" dirty="0"/>
              <a:t> </a:t>
            </a:r>
          </a:p>
          <a:p>
            <a:endParaRPr lang="en-US" dirty="0"/>
          </a:p>
        </p:txBody>
      </p:sp>
    </p:spTree>
    <p:extLst>
      <p:ext uri="{BB962C8B-B14F-4D97-AF65-F5344CB8AC3E}">
        <p14:creationId xmlns:p14="http://schemas.microsoft.com/office/powerpoint/2010/main" val="39239560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4652</TotalTime>
  <Words>7820</Words>
  <Application>Microsoft Office PowerPoint</Application>
  <PresentationFormat>Widescreen</PresentationFormat>
  <Paragraphs>777</Paragraphs>
  <Slides>118</Slides>
  <Notes>115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118</vt:i4>
      </vt:variant>
    </vt:vector>
  </HeadingPairs>
  <TitlesOfParts>
    <vt:vector size="124" baseType="lpstr">
      <vt:lpstr>Arial</vt:lpstr>
      <vt:lpstr>Calibri</vt:lpstr>
      <vt:lpstr>Calibri Light</vt:lpstr>
      <vt:lpstr>Courier New</vt:lpstr>
      <vt:lpstr>Roboto</vt:lpstr>
      <vt:lpstr>Office Theme</vt:lpstr>
      <vt:lpstr>Introduction to </vt:lpstr>
      <vt:lpstr>Structure of the Talk</vt:lpstr>
      <vt:lpstr>What is           ?</vt:lpstr>
      <vt:lpstr>What is           ?</vt:lpstr>
      <vt:lpstr>What is           ?</vt:lpstr>
      <vt:lpstr>What is           ?</vt:lpstr>
      <vt:lpstr>What is           ?</vt:lpstr>
      <vt:lpstr>What is           ?</vt:lpstr>
      <vt:lpstr>Structure of the Talk</vt:lpstr>
      <vt:lpstr>Using</vt:lpstr>
      <vt:lpstr>Using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Structure of the Talk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Structure of the Talk</vt:lpstr>
      <vt:lpstr>Quick Review of </vt:lpstr>
      <vt:lpstr>Quick Review of </vt:lpstr>
      <vt:lpstr>           : Deeper Dive – The Preamble</vt:lpstr>
      <vt:lpstr>           : Deeper Dive – The Preamble</vt:lpstr>
      <vt:lpstr>           : Deeper Dive – The Preamble</vt:lpstr>
      <vt:lpstr>           : Deeper Dive – The Preamble</vt:lpstr>
      <vt:lpstr>           : Deeper Dive – The Preamble</vt:lpstr>
      <vt:lpstr>           : Deeper Dive – The Preamble</vt:lpstr>
      <vt:lpstr>           : Deeper Dive – The Preamble</vt:lpstr>
      <vt:lpstr>           : Deeper Dive – The Preamble</vt:lpstr>
      <vt:lpstr>           : Deeper Dive</vt:lpstr>
      <vt:lpstr>           : Deeper Dive – Structure</vt:lpstr>
      <vt:lpstr>           : Deeper Dive – Text size and style</vt:lpstr>
      <vt:lpstr>           : Deeper Dive– Text size and style</vt:lpstr>
      <vt:lpstr>           : Deeper Dive– Environments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 Deeper Dive– Lengths</vt:lpstr>
      <vt:lpstr>           : Deeper Dive– Lengths</vt:lpstr>
      <vt:lpstr>           : Deeper Dive– Spacing</vt:lpstr>
      <vt:lpstr>PowerPoint Presentation</vt:lpstr>
      <vt:lpstr>PowerPoint Presentation</vt:lpstr>
      <vt:lpstr>PowerPoint Presentation</vt:lpstr>
      <vt:lpstr>PowerPoint Presentation</vt:lpstr>
      <vt:lpstr>Structure of the Talk</vt:lpstr>
      <vt:lpstr>LaTable</vt:lpstr>
      <vt:lpstr>LaTable</vt:lpstr>
      <vt:lpstr>LaTable</vt:lpstr>
      <vt:lpstr>LaTable</vt:lpstr>
      <vt:lpstr>LaTable</vt:lpstr>
      <vt:lpstr>LaTable</vt:lpstr>
      <vt:lpstr>LaTable</vt:lpstr>
      <vt:lpstr>LaTable</vt:lpstr>
      <vt:lpstr>LaTable</vt:lpstr>
      <vt:lpstr>LaTable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GitHub!</vt:lpstr>
      <vt:lpstr>Want to Learn More?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Moshe Haspel</dc:creator>
  <cp:lastModifiedBy>Moshe Haspel</cp:lastModifiedBy>
  <cp:revision>60</cp:revision>
  <dcterms:created xsi:type="dcterms:W3CDTF">2024-06-11T00:12:18Z</dcterms:created>
  <dcterms:modified xsi:type="dcterms:W3CDTF">2026-05-21T23:41:00Z</dcterms:modified>
</cp:coreProperties>
</file>